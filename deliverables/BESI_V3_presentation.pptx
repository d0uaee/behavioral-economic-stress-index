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slideMasters/slideMaster1.xml" ContentType="application/vnd.openxmlformats-officedocument.presentationml.slideMaster+xml"/>
  <Override PartName="/ppt/theme/theme1.xml" ContentType="application/vnd.openxmlformats-officedocument.theme+xml"/>
  <Override PartName="/ppt/notesMasters/notesMaster1.xml" ContentType="application/vnd.openxmlformats-officedocument.presentationml.notesMaster+xml"/>
  <Override PartName="/ppt/notesMasters/theme/theme2.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Layouts/slideLayout2.xml" ContentType="application/vnd.openxmlformats-officedocument.presentationml.slideLayout+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f4882628c01142fc" /><Relationship Type="http://schemas.openxmlformats.org/officeDocument/2006/relationships/extended-properties" Target="/docProps/app.xml" Id="R01ef7e5264f94fe2" /><Relationship Type="http://schemas.openxmlformats.org/officeDocument/2006/relationships/officeDocument" Target="/ppt/presentation.xml" Id="R10522f74595b4d32" /></Relationships>
</file>

<file path=ppt/presentation.xml><?xml version="1.0" encoding="utf-8"?>
<p:presentation xmlns:p="http://schemas.openxmlformats.org/presentationml/2006/main">
  <p:sldMasterIdLst>
    <p:sldMasterId xmlns:r="http://schemas.openxmlformats.org/officeDocument/2006/relationships" id="2147483648" r:id="R1656d6c0d4e24b2d"/>
  </p:sldMasterIdLst>
  <p:notesMasterIdLst>
    <p:notesMasterId xmlns:r="http://schemas.openxmlformats.org/officeDocument/2006/relationships" r:id="R79156717000746ff"/>
  </p:notesMasterIdLst>
  <p:sldIdLst>
    <p:sldId xmlns:r="http://schemas.openxmlformats.org/officeDocument/2006/relationships" id="256" r:id="Rb7e148e22cdd4169"/>
    <p:sldId xmlns:r="http://schemas.openxmlformats.org/officeDocument/2006/relationships" id="257" r:id="R00109d36824e40d5"/>
    <p:sldId xmlns:r="http://schemas.openxmlformats.org/officeDocument/2006/relationships" id="258" r:id="R6381e8e2444047a0"/>
    <p:sldId xmlns:r="http://schemas.openxmlformats.org/officeDocument/2006/relationships" id="259" r:id="R08b9fd32280741d2"/>
    <p:sldId xmlns:r="http://schemas.openxmlformats.org/officeDocument/2006/relationships" id="260" r:id="R9cbfaec222b34868"/>
    <p:sldId xmlns:r="http://schemas.openxmlformats.org/officeDocument/2006/relationships" id="261" r:id="R7609468384ab4722"/>
    <p:sldId xmlns:r="http://schemas.openxmlformats.org/officeDocument/2006/relationships" id="262" r:id="R72516cc623e0498f"/>
    <p:sldId xmlns:r="http://schemas.openxmlformats.org/officeDocument/2006/relationships" id="263" r:id="Ra5f910f0df9e4106"/>
    <p:sldId xmlns:r="http://schemas.openxmlformats.org/officeDocument/2006/relationships" id="264" r:id="R8838616011db462d"/>
    <p:sldId xmlns:r="http://schemas.openxmlformats.org/officeDocument/2006/relationships" id="265" r:id="Rbf403baf960f473f"/>
    <p:sldId xmlns:r="http://schemas.openxmlformats.org/officeDocument/2006/relationships" id="266" r:id="Rfd725c89007b47d3"/>
    <p:sldId xmlns:r="http://schemas.openxmlformats.org/officeDocument/2006/relationships" id="267" r:id="Rf7db7f3ccb724ef3"/>
    <p:sldId xmlns:r="http://schemas.openxmlformats.org/officeDocument/2006/relationships" id="268" r:id="R1ca0bb8bbf664619"/>
    <p:sldId xmlns:r="http://schemas.openxmlformats.org/officeDocument/2006/relationships" id="269" r:id="R7ac839deb4ce427c"/>
    <p:sldId xmlns:r="http://schemas.openxmlformats.org/officeDocument/2006/relationships" id="270" r:id="R78acd2d396a447cf"/>
    <p:sldId xmlns:r="http://schemas.openxmlformats.org/officeDocument/2006/relationships" id="271" r:id="R04b5db4fd3664ef3"/>
    <p:sldId xmlns:r="http://schemas.openxmlformats.org/officeDocument/2006/relationships" id="272" r:id="R43f0aac096074f4b"/>
    <p:sldId xmlns:r="http://schemas.openxmlformats.org/officeDocument/2006/relationships" id="273" r:id="Re2f7256f399a4f4a"/>
  </p:sldIdLst>
  <p:sldSz cx="12192000" cy="6858000"/>
  <p:notesSz cx="6858000" cy="9144000"/>
  <p:defaultTextStyle>
    <a:defPPr xmlns:a="http://schemas.openxmlformats.org/drawingml/2006/main">
      <a:defRPr lang="en-US"/>
    </a:defPPr>
    <a:lvl1pPr xmlns:a="http://schemas.openxmlformats.org/drawingml/2006/main" marL="0" indent="0" algn="l" defTabSz="914400">
      <a:defRPr sz="1800" kern="1200">
        <a:solidFill>
          <a:schemeClr val="tx1"/>
        </a:solidFill>
        <a:latin typeface="+mn-lt"/>
        <a:ea typeface="+mn-ea"/>
        <a:cs typeface="+mn-cs"/>
      </a:defRPr>
    </a:lvl1pPr>
    <a:lvl2pPr xmlns:a="http://schemas.openxmlformats.org/drawingml/2006/main" marL="457200" indent="0" algn="l" defTabSz="914400">
      <a:defRPr sz="1800" kern="1200">
        <a:solidFill>
          <a:schemeClr val="tx1"/>
        </a:solidFill>
        <a:latin typeface="+mn-lt"/>
        <a:ea typeface="+mn-ea"/>
        <a:cs typeface="+mn-cs"/>
      </a:defRPr>
    </a:lvl2pPr>
    <a:lvl3pPr xmlns:a="http://schemas.openxmlformats.org/drawingml/2006/main" marL="914400" indent="0" algn="l" defTabSz="914400">
      <a:defRPr sz="1800" kern="1200">
        <a:solidFill>
          <a:schemeClr val="tx1"/>
        </a:solidFill>
        <a:latin typeface="+mn-lt"/>
        <a:ea typeface="+mn-ea"/>
        <a:cs typeface="+mn-cs"/>
      </a:defRPr>
    </a:lvl3pPr>
    <a:lvl4pPr xmlns:a="http://schemas.openxmlformats.org/drawingml/2006/main" marL="1371600" indent="0" algn="l" defTabSz="914400">
      <a:defRPr sz="1800" kern="1200">
        <a:solidFill>
          <a:schemeClr val="tx1"/>
        </a:solidFill>
        <a:latin typeface="+mn-lt"/>
        <a:ea typeface="+mn-ea"/>
        <a:cs typeface="+mn-cs"/>
      </a:defRPr>
    </a:lvl4pPr>
    <a:lvl5pPr xmlns:a="http://schemas.openxmlformats.org/drawingml/2006/main" marL="1828800" indent="0" algn="l" defTabSz="914400">
      <a:defRPr sz="1800" kern="1200">
        <a:solidFill>
          <a:schemeClr val="tx1"/>
        </a:solidFill>
        <a:latin typeface="+mn-lt"/>
        <a:ea typeface="+mn-ea"/>
        <a:cs typeface="+mn-cs"/>
      </a:defRPr>
    </a:lvl5pPr>
    <a:lvl6pPr xmlns:a="http://schemas.openxmlformats.org/drawingml/2006/main" marL="2286000" indent="0" algn="l" defTabSz="914400">
      <a:defRPr sz="1800" kern="1200">
        <a:solidFill>
          <a:schemeClr val="tx1"/>
        </a:solidFill>
        <a:latin typeface="+mn-lt"/>
        <a:ea typeface="+mn-ea"/>
        <a:cs typeface="+mn-cs"/>
      </a:defRPr>
    </a:lvl6pPr>
    <a:lvl7pPr xmlns:a="http://schemas.openxmlformats.org/drawingml/2006/main" marL="2743200" indent="0" algn="l" defTabSz="914400">
      <a:defRPr sz="1800" kern="1200">
        <a:solidFill>
          <a:schemeClr val="tx1"/>
        </a:solidFill>
        <a:latin typeface="+mn-lt"/>
        <a:ea typeface="+mn-ea"/>
        <a:cs typeface="+mn-cs"/>
      </a:defRPr>
    </a:lvl7pPr>
    <a:lvl8pPr xmlns:a="http://schemas.openxmlformats.org/drawingml/2006/main" marL="3200400" indent="0" algn="l" defTabSz="914400">
      <a:defRPr sz="1800" kern="1200">
        <a:solidFill>
          <a:schemeClr val="tx1"/>
        </a:solidFill>
        <a:latin typeface="+mn-lt"/>
        <a:ea typeface="+mn-ea"/>
        <a:cs typeface="+mn-cs"/>
      </a:defRPr>
    </a:lvl8pPr>
    <a:lvl9pPr xmlns:a="http://schemas.openxmlformats.org/drawingml/2006/main" marL="3657600" indent="0" algn="l" defTabSz="914400">
      <a:defRPr sz="1800" kern="1200">
        <a:solidFill>
          <a:schemeClr val="tx1"/>
        </a:solidFill>
        <a:latin typeface="+mn-lt"/>
        <a:ea typeface="+mn-ea"/>
        <a:cs typeface="+mn-cs"/>
      </a:defRPr>
    </a:lvl9pPr>
  </p:defaultTextStyle>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p:normalViewPr>
    <p:restoredLeft sz="15611"/>
    <p:restoredTop sz="94658"/>
  </p:normalViewPr>
  <p:slideViewPr>
    <p:cSldViewPr snapToGrid="0">
      <p:cViewPr varScale="1">
        <p:scale>
          <a:sx xmlns:a="http://schemas.openxmlformats.org/drawingml/2006/main" n="120" d="100"/>
          <a:sy xmlns:a="http://schemas.openxmlformats.org/drawingml/2006/main" n="120" d="100"/>
        </p:scale>
        <p:origin x="800" y="184"/>
      </p:cViewPr>
      <p:guideLst/>
    </p:cSldViewPr>
  </p:slideViewPr>
  <p:notesTextViewPr>
    <p:cViewPr>
      <p:scale>
        <a:sx xmlns:a="http://schemas.openxmlformats.org/drawingml/2006/main" n="1" d="1"/>
        <a:sy xmlns:a="http://schemas.openxmlformats.org/drawingml/2006/main" n="1" d="1"/>
      </p:scale>
      <p:origin x="0" y="0"/>
    </p:cViewPr>
  </p:notesTextViewPr>
  <p:gridSpacing cx="76200" cy="76200"/>
</p:viewPr>
</file>

<file path=ppt/_rels/presentation.xml.rels>&#65279;<?xml version="1.0" encoding="utf-8"?><Relationships xmlns="http://schemas.openxmlformats.org/package/2006/relationships"><Relationship Type="http://schemas.openxmlformats.org/officeDocument/2006/relationships/slideMaster" Target="/ppt/slideMasters/slideMaster1.xml" Id="R1656d6c0d4e24b2d" /><Relationship Type="http://schemas.openxmlformats.org/officeDocument/2006/relationships/theme" Target="/ppt/theme/theme1.xml" Id="Rdf568b2aef2f4bd6" /><Relationship Type="http://schemas.openxmlformats.org/officeDocument/2006/relationships/notesMaster" Target="/ppt/notesMasters/notesMaster1.xml" Id="R79156717000746ff" /><Relationship Type="http://schemas.openxmlformats.org/officeDocument/2006/relationships/presProps" Target="/ppt/presProps.xml" Id="R24bc7e9584ab4834" /><Relationship Type="http://schemas.openxmlformats.org/officeDocument/2006/relationships/viewProps" Target="/ppt/viewProps.xml" Id="Re5c9519c1c2346ee" /><Relationship Type="http://schemas.openxmlformats.org/officeDocument/2006/relationships/tableStyles" Target="/ppt/tableStyles.xml" Id="R0170e9d687c44716" /><Relationship Type="http://schemas.openxmlformats.org/officeDocument/2006/relationships/slide" Target="/ppt/slides/slide1.xml" Id="Rb7e148e22cdd4169" /><Relationship Type="http://schemas.openxmlformats.org/officeDocument/2006/relationships/slide" Target="/ppt/slides/slide2.xml" Id="R00109d36824e40d5" /><Relationship Type="http://schemas.openxmlformats.org/officeDocument/2006/relationships/slide" Target="/ppt/slides/slide3.xml" Id="R6381e8e2444047a0" /><Relationship Type="http://schemas.openxmlformats.org/officeDocument/2006/relationships/slide" Target="/ppt/slides/slide4.xml" Id="R08b9fd32280741d2" /><Relationship Type="http://schemas.openxmlformats.org/officeDocument/2006/relationships/slide" Target="/ppt/slides/slide5.xml" Id="R9cbfaec222b34868" /><Relationship Type="http://schemas.openxmlformats.org/officeDocument/2006/relationships/slide" Target="/ppt/slides/slide6.xml" Id="R7609468384ab4722" /><Relationship Type="http://schemas.openxmlformats.org/officeDocument/2006/relationships/slide" Target="/ppt/slides/slide7.xml" Id="R72516cc623e0498f" /><Relationship Type="http://schemas.openxmlformats.org/officeDocument/2006/relationships/slide" Target="/ppt/slides/slide8.xml" Id="Ra5f910f0df9e4106" /><Relationship Type="http://schemas.openxmlformats.org/officeDocument/2006/relationships/slide" Target="/ppt/slides/slide9.xml" Id="R8838616011db462d" /><Relationship Type="http://schemas.openxmlformats.org/officeDocument/2006/relationships/slide" Target="/ppt/slides/slide10.xml" Id="Rbf403baf960f473f" /><Relationship Type="http://schemas.openxmlformats.org/officeDocument/2006/relationships/slide" Target="/ppt/slides/slide11.xml" Id="Rfd725c89007b47d3" /><Relationship Type="http://schemas.openxmlformats.org/officeDocument/2006/relationships/slide" Target="/ppt/slides/slide12.xml" Id="Rf7db7f3ccb724ef3" /><Relationship Type="http://schemas.openxmlformats.org/officeDocument/2006/relationships/slide" Target="/ppt/slides/slide13.xml" Id="R1ca0bb8bbf664619" /><Relationship Type="http://schemas.openxmlformats.org/officeDocument/2006/relationships/slide" Target="/ppt/slides/slide14.xml" Id="R7ac839deb4ce427c" /><Relationship Type="http://schemas.openxmlformats.org/officeDocument/2006/relationships/slide" Target="/ppt/slides/slide15.xml" Id="R78acd2d396a447cf" /><Relationship Type="http://schemas.openxmlformats.org/officeDocument/2006/relationships/slide" Target="/ppt/slides/slide16.xml" Id="R04b5db4fd3664ef3" /><Relationship Type="http://schemas.openxmlformats.org/officeDocument/2006/relationships/slide" Target="/ppt/slides/slide17.xml" Id="R43f0aac096074f4b" /><Relationship Type="http://schemas.openxmlformats.org/officeDocument/2006/relationships/slide" Target="/ppt/slides/slide18.xml" Id="Re2f7256f399a4f4a"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2.xml" Id="Rc5f2cfe640a44916"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solidFill>
          <a:schemeClr val="dk1"/>
        </a:solidFill>
        <a:solidFill>
          <a:schemeClr val="accent1"/>
        </a:soli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b16c52c0b56b4c12" /><Relationship Type="http://schemas.openxmlformats.org/officeDocument/2006/relationships/notesMaster" Target="/ppt/notesMasters/notesMaster1.xml" Id="Rf8ea0429e175475c" /></Relationships>
</file>

<file path=ppt/notesSlides/_rels/notesSlide2.xml.rels>&#65279;<?xml version="1.0" encoding="utf-8"?><Relationships xmlns="http://schemas.openxmlformats.org/package/2006/relationships"><Relationship Type="http://schemas.openxmlformats.org/officeDocument/2006/relationships/slide" Target="/ppt/slides/slide2.xml" Id="R0a69c8ba897a4ff5" /><Relationship Type="http://schemas.openxmlformats.org/officeDocument/2006/relationships/notesMaster" Target="/ppt/notesMasters/notesMaster1.xml" Id="Re4b5132e32cb4dcd" /></Relationships>
</file>

<file path=ppt/notesSlides/_rels/notesSlide3.xml.rels>&#65279;<?xml version="1.0" encoding="utf-8"?><Relationships xmlns="http://schemas.openxmlformats.org/package/2006/relationships"><Relationship Type="http://schemas.openxmlformats.org/officeDocument/2006/relationships/slide" Target="/ppt/slides/slide3.xml" Id="R63eb8c9d72df4f82" /><Relationship Type="http://schemas.openxmlformats.org/officeDocument/2006/relationships/notesMaster" Target="/ppt/notesMasters/notesMaster1.xml" Id="R6650e29a69d5427b" /></Relationships>
</file>

<file path=ppt/notesSlides/_rels/notesSlide4.xml.rels>&#65279;<?xml version="1.0" encoding="utf-8"?><Relationships xmlns="http://schemas.openxmlformats.org/package/2006/relationships"><Relationship Type="http://schemas.openxmlformats.org/officeDocument/2006/relationships/slide" Target="/ppt/slides/slide4.xml" Id="Rebeb169b3903426f" /><Relationship Type="http://schemas.openxmlformats.org/officeDocument/2006/relationships/notesMaster" Target="/ppt/notesMasters/notesMaster1.xml" Id="R7d6e2b8825c84bee" /></Relationships>
</file>

<file path=ppt/notesSlides/_rels/notesSlide5.xml.rels>&#65279;<?xml version="1.0" encoding="utf-8"?><Relationships xmlns="http://schemas.openxmlformats.org/package/2006/relationships"><Relationship Type="http://schemas.openxmlformats.org/officeDocument/2006/relationships/slide" Target="/ppt/slides/slide5.xml" Id="R8cec7807a8b246e3" /><Relationship Type="http://schemas.openxmlformats.org/officeDocument/2006/relationships/notesMaster" Target="/ppt/notesMasters/notesMaster1.xml" Id="R18d61eacf0544348" /></Relationships>
</file>

<file path=ppt/notesSlides/_rels/notesSlide6.xml.rels>&#65279;<?xml version="1.0" encoding="utf-8"?><Relationships xmlns="http://schemas.openxmlformats.org/package/2006/relationships"><Relationship Type="http://schemas.openxmlformats.org/officeDocument/2006/relationships/slide" Target="/ppt/slides/slide6.xml" Id="Rd3b5bf71b7af4315" /><Relationship Type="http://schemas.openxmlformats.org/officeDocument/2006/relationships/notesMaster" Target="/ppt/notesMasters/notesMaster1.xml" Id="Ra6d2467936e6422f" /></Relationships>
</file>

<file path=ppt/notesSlides/_rels/notesSlide7.xml.rels>&#65279;<?xml version="1.0" encoding="utf-8"?><Relationships xmlns="http://schemas.openxmlformats.org/package/2006/relationships"><Relationship Type="http://schemas.openxmlformats.org/officeDocument/2006/relationships/slide" Target="/ppt/slides/slide7.xml" Id="R00f75969abd34229" /><Relationship Type="http://schemas.openxmlformats.org/officeDocument/2006/relationships/notesMaster" Target="/ppt/notesMasters/notesMaster1.xml" Id="Rae502fbd10034945" /></Relationships>
</file>

<file path=ppt/notesSlides/_rels/notesSlide8.xml.rels>&#65279;<?xml version="1.0" encoding="utf-8"?><Relationships xmlns="http://schemas.openxmlformats.org/package/2006/relationships"><Relationship Type="http://schemas.openxmlformats.org/officeDocument/2006/relationships/slide" Target="/ppt/slides/slide8.xml" Id="Rd47842b28717456e" /><Relationship Type="http://schemas.openxmlformats.org/officeDocument/2006/relationships/notesMaster" Target="/ppt/notesMasters/notesMaster1.xml" Id="R4fd1a1f4c2f04099" /></Relationships>
</file>

<file path=ppt/notesSlides/_rels/notesSlide9.xml.rels>&#65279;<?xml version="1.0" encoding="utf-8"?><Relationships xmlns="http://schemas.openxmlformats.org/package/2006/relationships"><Relationship Type="http://schemas.openxmlformats.org/officeDocument/2006/relationships/slide" Target="/ppt/slides/slide9.xml" Id="R05f61ce77dd74beb" /><Relationship Type="http://schemas.openxmlformats.org/officeDocument/2006/relationships/notesMaster" Target="/ppt/notesMasters/notesMaster1.xml" Id="R09504c7c6e2e4887"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8249fc7e915646c2" /><Relationship Type="http://schemas.openxmlformats.org/officeDocument/2006/relationships/notesMaster" Target="/ppt/notesMasters/notesMaster1.xml" Id="R2e09782fa3f34a73"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2a2c1c0bef5c41bb" /><Relationship Type="http://schemas.openxmlformats.org/officeDocument/2006/relationships/notesMaster" Target="/ppt/notesMasters/notesMaster1.xml" Id="R5478fca25b904938"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2b6a1149e78a4d46" /><Relationship Type="http://schemas.openxmlformats.org/officeDocument/2006/relationships/notesMaster" Target="/ppt/notesMasters/notesMaster1.xml" Id="Rfca2a7ae3fce4bed"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eda48d26eeb54bf8" /><Relationship Type="http://schemas.openxmlformats.org/officeDocument/2006/relationships/notesMaster" Target="/ppt/notesMasters/notesMaster1.xml" Id="R6be402ed7e2e4527"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bc94a8c357e5450a" /><Relationship Type="http://schemas.openxmlformats.org/officeDocument/2006/relationships/notesMaster" Target="/ppt/notesMasters/notesMaster1.xml" Id="R3dca8c5244944047"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65abf552121e4c0a" /><Relationship Type="http://schemas.openxmlformats.org/officeDocument/2006/relationships/notesMaster" Target="/ppt/notesMasters/notesMaster1.xml" Id="Rf50f2449d7364943"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4bd122d71db0444d" /><Relationship Type="http://schemas.openxmlformats.org/officeDocument/2006/relationships/notesMaster" Target="/ppt/notesMasters/notesMaster1.xml" Id="R8d160eb4ffa34be9"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73f185fc3c9d4bd2" /><Relationship Type="http://schemas.openxmlformats.org/officeDocument/2006/relationships/notesMaster" Target="/ppt/notesMasters/notesMaster1.xml" Id="R82bbd493f807413f"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b971a4f4ac9b4531" /><Relationship Type="http://schemas.openxmlformats.org/officeDocument/2006/relationships/notesMaster" Target="/ppt/notesMasters/notesMaster1.xml" Id="R3a3a5da561754797"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c395a0b30d0942f0" /></Relationships>
</file>

<file path=ppt/slideLayouts/slideLayout2.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theme/theme1.xml" Id="Re9d4b1257a044d39" /><Relationship Type="http://schemas.openxmlformats.org/officeDocument/2006/relationships/slideLayout" Target="/ppt/slideLayouts/slideLayout2.xml" Id="R73bf476e290a4eb4"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73bf476e290a4eb4"/>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s/_rels/slide1.xml.rels>&#65279;<?xml version="1.0" encoding="utf-8"?><Relationships xmlns="http://schemas.openxmlformats.org/package/2006/relationships"><Relationship Type="http://schemas.openxmlformats.org/officeDocument/2006/relationships/slideLayout" Target="/ppt/slideLayouts/slideLayout2.xml" Id="Rb92d90a915364464" /><Relationship Type="http://schemas.openxmlformats.org/officeDocument/2006/relationships/notesSlide" Target="/ppt/notesSlides/notesSlide1.xml" Id="R15c7091a98ae4f02" /></Relationships>
</file>

<file path=ppt/slides/_rels/slide2.xml.rels>&#65279;<?xml version="1.0" encoding="utf-8"?><Relationships xmlns="http://schemas.openxmlformats.org/package/2006/relationships"><Relationship Type="http://schemas.openxmlformats.org/officeDocument/2006/relationships/slideLayout" Target="/ppt/slideLayouts/slideLayout2.xml" Id="Radf816aec09d4fea" /><Relationship Type="http://schemas.openxmlformats.org/officeDocument/2006/relationships/notesSlide" Target="/ppt/notesSlides/notesSlide2.xml" Id="R12b78bef3dab403c" /></Relationships>
</file>

<file path=ppt/slides/_rels/slide3.xml.rels>&#65279;<?xml version="1.0" encoding="utf-8"?><Relationships xmlns="http://schemas.openxmlformats.org/package/2006/relationships"><Relationship Type="http://schemas.openxmlformats.org/officeDocument/2006/relationships/slideLayout" Target="/ppt/slideLayouts/slideLayout2.xml" Id="R9bc57dfe6dc243c4" /><Relationship Type="http://schemas.openxmlformats.org/officeDocument/2006/relationships/notesSlide" Target="/ppt/notesSlides/notesSlide3.xml" Id="Rc2954274cdb44c6a" /></Relationships>
</file>

<file path=ppt/slides/_rels/slide4.xml.rels>&#65279;<?xml version="1.0" encoding="utf-8"?><Relationships xmlns="http://schemas.openxmlformats.org/package/2006/relationships"><Relationship Type="http://schemas.openxmlformats.org/officeDocument/2006/relationships/slideLayout" Target="/ppt/slideLayouts/slideLayout2.xml" Id="R10e87eb1aba14e63" /><Relationship Type="http://schemas.openxmlformats.org/officeDocument/2006/relationships/notesSlide" Target="/ppt/notesSlides/notesSlide4.xml" Id="R13413f0fd81a4b5b" /></Relationships>
</file>

<file path=ppt/slides/_rels/slide5.xml.rels>&#65279;<?xml version="1.0" encoding="utf-8"?><Relationships xmlns="http://schemas.openxmlformats.org/package/2006/relationships"><Relationship Type="http://schemas.openxmlformats.org/officeDocument/2006/relationships/slideLayout" Target="/ppt/slideLayouts/slideLayout2.xml" Id="Rfb215d1d78e3464b" /><Relationship Type="http://schemas.openxmlformats.org/officeDocument/2006/relationships/notesSlide" Target="/ppt/notesSlides/notesSlide5.xml" Id="Rb9e13bbb1aab4fba" /></Relationships>
</file>

<file path=ppt/slides/_rels/slide6.xml.rels>&#65279;<?xml version="1.0" encoding="utf-8"?><Relationships xmlns="http://schemas.openxmlformats.org/package/2006/relationships"><Relationship Type="http://schemas.openxmlformats.org/officeDocument/2006/relationships/slideLayout" Target="/ppt/slideLayouts/slideLayout2.xml" Id="R56b99dc5857942c2" /><Relationship Type="http://schemas.openxmlformats.org/officeDocument/2006/relationships/notesSlide" Target="/ppt/notesSlides/notesSlide6.xml" Id="R390a6c59ff314ce5" /></Relationships>
</file>

<file path=ppt/slides/_rels/slide7.xml.rels>&#65279;<?xml version="1.0" encoding="utf-8"?><Relationships xmlns="http://schemas.openxmlformats.org/package/2006/relationships"><Relationship Type="http://schemas.openxmlformats.org/officeDocument/2006/relationships/slideLayout" Target="/ppt/slideLayouts/slideLayout2.xml" Id="R20f2a646ec774b9a" /><Relationship Type="http://schemas.openxmlformats.org/officeDocument/2006/relationships/notesSlide" Target="/ppt/notesSlides/notesSlide7.xml" Id="R84c289f17c664722" /></Relationships>
</file>

<file path=ppt/slides/_rels/slide8.xml.rels>&#65279;<?xml version="1.0" encoding="utf-8"?><Relationships xmlns="http://schemas.openxmlformats.org/package/2006/relationships"><Relationship Type="http://schemas.openxmlformats.org/officeDocument/2006/relationships/slideLayout" Target="/ppt/slideLayouts/slideLayout2.xml" Id="R4cebadb7c2114451" /><Relationship Type="http://schemas.openxmlformats.org/officeDocument/2006/relationships/notesSlide" Target="/ppt/notesSlides/notesSlide8.xml" Id="Rb5f2d31b16824382" /></Relationships>
</file>

<file path=ppt/slides/_rels/slide9.xml.rels>&#65279;<?xml version="1.0" encoding="utf-8"?><Relationships xmlns="http://schemas.openxmlformats.org/package/2006/relationships"><Relationship Type="http://schemas.openxmlformats.org/officeDocument/2006/relationships/slideLayout" Target="/ppt/slideLayouts/slideLayout2.xml" Id="R0f3280d260714cc8" /><Relationship Type="http://schemas.openxmlformats.org/officeDocument/2006/relationships/notesSlide" Target="/ppt/notesSlides/notesSlide9.xml" Id="R394e7811c17e4ed3" /></Relationships>
</file>

<file path=ppt/slides/_rels/slide10.xml.rels>&#65279;<?xml version="1.0" encoding="utf-8"?><Relationships xmlns="http://schemas.openxmlformats.org/package/2006/relationships"><Relationship Type="http://schemas.openxmlformats.org/officeDocument/2006/relationships/slideLayout" Target="/ppt/slideLayouts/slideLayout2.xml" Id="R962ed3635c564569" /><Relationship Type="http://schemas.openxmlformats.org/officeDocument/2006/relationships/notesSlide" Target="/ppt/notesSlides/notesSlide10.xml" Id="Rc5f652874ab3414e" /></Relationships>
</file>

<file path=ppt/slides/_rels/slide11.xml.rels>&#65279;<?xml version="1.0" encoding="utf-8"?><Relationships xmlns="http://schemas.openxmlformats.org/package/2006/relationships"><Relationship Type="http://schemas.openxmlformats.org/officeDocument/2006/relationships/slideLayout" Target="/ppt/slideLayouts/slideLayout2.xml" Id="R0905e0b6aa864e48" /><Relationship Type="http://schemas.openxmlformats.org/officeDocument/2006/relationships/notesSlide" Target="/ppt/notesSlides/notesSlide11.xml" Id="Rc0696ed6806b49ae" /></Relationships>
</file>

<file path=ppt/slides/_rels/slide12.xml.rels>&#65279;<?xml version="1.0" encoding="utf-8"?><Relationships xmlns="http://schemas.openxmlformats.org/package/2006/relationships"><Relationship Type="http://schemas.openxmlformats.org/officeDocument/2006/relationships/slideLayout" Target="/ppt/slideLayouts/slideLayout2.xml" Id="R990df850bbc1438e" /><Relationship Type="http://schemas.openxmlformats.org/officeDocument/2006/relationships/notesSlide" Target="/ppt/notesSlides/notesSlide12.xml" Id="R09d3289f0fe54dfd" /></Relationships>
</file>

<file path=ppt/slides/_rels/slide13.xml.rels>&#65279;<?xml version="1.0" encoding="utf-8"?><Relationships xmlns="http://schemas.openxmlformats.org/package/2006/relationships"><Relationship Type="http://schemas.openxmlformats.org/officeDocument/2006/relationships/slideLayout" Target="/ppt/slideLayouts/slideLayout2.xml" Id="Rb8ae271d946f4962" /><Relationship Type="http://schemas.openxmlformats.org/officeDocument/2006/relationships/notesSlide" Target="/ppt/notesSlides/notesSlide13.xml" Id="R003f5552b4b74d26" /></Relationships>
</file>

<file path=ppt/slides/_rels/slide14.xml.rels>&#65279;<?xml version="1.0" encoding="utf-8"?><Relationships xmlns="http://schemas.openxmlformats.org/package/2006/relationships"><Relationship Type="http://schemas.openxmlformats.org/officeDocument/2006/relationships/slideLayout" Target="/ppt/slideLayouts/slideLayout2.xml" Id="Redbbc4edf5dd4380" /><Relationship Type="http://schemas.openxmlformats.org/officeDocument/2006/relationships/notesSlide" Target="/ppt/notesSlides/notesSlide14.xml" Id="R7659f58c46f34b60" /></Relationships>
</file>

<file path=ppt/slides/_rels/slide15.xml.rels>&#65279;<?xml version="1.0" encoding="utf-8"?><Relationships xmlns="http://schemas.openxmlformats.org/package/2006/relationships"><Relationship Type="http://schemas.openxmlformats.org/officeDocument/2006/relationships/slideLayout" Target="/ppt/slideLayouts/slideLayout2.xml" Id="Rc63832179d3b4832" /><Relationship Type="http://schemas.openxmlformats.org/officeDocument/2006/relationships/notesSlide" Target="/ppt/notesSlides/notesSlide15.xml" Id="R5da508cd0af54bfc" /></Relationships>
</file>

<file path=ppt/slides/_rels/slide16.xml.rels>&#65279;<?xml version="1.0" encoding="utf-8"?><Relationships xmlns="http://schemas.openxmlformats.org/package/2006/relationships"><Relationship Type="http://schemas.openxmlformats.org/officeDocument/2006/relationships/slideLayout" Target="/ppt/slideLayouts/slideLayout2.xml" Id="R7636c94b02d4420f" /><Relationship Type="http://schemas.openxmlformats.org/officeDocument/2006/relationships/notesSlide" Target="/ppt/notesSlides/notesSlide16.xml" Id="R617df205daa84934" /></Relationships>
</file>

<file path=ppt/slides/_rels/slide17.xml.rels>&#65279;<?xml version="1.0" encoding="utf-8"?><Relationships xmlns="http://schemas.openxmlformats.org/package/2006/relationships"><Relationship Type="http://schemas.openxmlformats.org/officeDocument/2006/relationships/slideLayout" Target="/ppt/slideLayouts/slideLayout2.xml" Id="Rcde6dd242c414746" /><Relationship Type="http://schemas.openxmlformats.org/officeDocument/2006/relationships/notesSlide" Target="/ppt/notesSlides/notesSlide17.xml" Id="R99ad0e7ae78b4881" /></Relationships>
</file>

<file path=ppt/slides/_rels/slide18.xml.rels>&#65279;<?xml version="1.0" encoding="utf-8"?><Relationships xmlns="http://schemas.openxmlformats.org/package/2006/relationships"><Relationship Type="http://schemas.openxmlformats.org/officeDocument/2006/relationships/slideLayout" Target="/ppt/slideLayouts/slideLayout2.xml" Id="Rdba7236b450e4a88" /><Relationship Type="http://schemas.openxmlformats.org/officeDocument/2006/relationships/notesSlide" Target="/ppt/notesSlides/notesSlide18.xml" Id="Re07a50ddc8a649d9" /></Relationships>
</file>

<file path=ppt/slides/slide1.xml><?xml version="1.0" encoding="utf-8"?>
<p:sld xmlns:p="http://schemas.openxmlformats.org/presentationml/2006/main">
  <p:cSld>
    <p:bg>
      <p:bgPr>
        <a:solidFill xmlns:a="http://schemas.openxmlformats.org/drawingml/2006/main">
          <a:srgbClr val="F6F1E7"/>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A95BA6BD-6AD0-4C2A-9DE2-2E44DDE75A8A}"/>
              </a:ext>
            </a:extLst>
          </p:cNvPr>
          <p:cNvSpPr>
            <a:spLocks xmlns:a="http://schemas.openxmlformats.org/drawingml/2006/main" noGrp="1"/>
          </p:cNvSpPr>
          <p:nvPr/>
        </p:nvSpPr>
        <p:spPr>
          <a:xfrm xmlns:a="http://schemas.openxmlformats.org/drawingml/2006/main">
            <a:off x="552450" y="457200"/>
            <a:ext cx="11087100" cy="5943600"/>
          </a:xfrm>
          <a:prstGeom xmlns:a="http://schemas.openxmlformats.org/drawingml/2006/main" prst="rect">
            <a:avLst/>
          </a:prstGeom>
          <a:solidFill xmlns:a="http://schemas.openxmlformats.org/drawingml/2006/main">
            <a:srgbClr val="FFFDF8"/>
          </a:solidFill>
          <a:ln xmlns:a="http://schemas.openxmlformats.org/drawingml/2006/main" w="19050">
            <a:solidFill>
              <a:srgbClr val="D8BC8C"/>
            </a:solidFill>
            <a:prstDash val="solid"/>
          </a:ln>
        </p:spPr>
      </p:sp>
      <p:sp>
        <p:nvSpPr>
          <p:cNvPr id="2" name="">
            <a:extLst xmlns:a="http://schemas.openxmlformats.org/drawingml/2006/main">
              <a:ext uri="{FF2B5EF4-FFF2-40B4-BE49-F238E27FC236}">
                <a16:creationId xmlns:a16="http://schemas.microsoft.com/office/drawing/2014/main" id="{55E06032-C580-48FA-9D83-059585D15E16}"/>
              </a:ext>
            </a:extLst>
          </p:cNvPr>
          <p:cNvSpPr>
            <a:spLocks xmlns:a="http://schemas.openxmlformats.org/drawingml/2006/main" noGrp="1"/>
          </p:cNvSpPr>
          <p:nvPr/>
        </p:nvSpPr>
        <p:spPr>
          <a:xfrm xmlns:a="http://schemas.openxmlformats.org/drawingml/2006/main">
            <a:off x="552450" y="457200"/>
            <a:ext cx="11087100" cy="1047750"/>
          </a:xfrm>
          <a:prstGeom xmlns:a="http://schemas.openxmlformats.org/drawingml/2006/main" prst="rect">
            <a:avLst/>
          </a:prstGeom>
          <a:solidFill xmlns:a="http://schemas.openxmlformats.org/drawingml/2006/main">
            <a:srgbClr val="223A5E"/>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C52986FF-9419-426E-B3AB-70ECDE14EA90}"/>
              </a:ext>
            </a:extLst>
          </p:cNvPr>
          <p:cNvSpPr>
            <a:spLocks xmlns:a="http://schemas.openxmlformats.org/drawingml/2006/main" noGrp="1"/>
          </p:cNvSpPr>
          <p:nvPr/>
        </p:nvSpPr>
        <p:spPr>
          <a:xfrm xmlns:a="http://schemas.openxmlformats.org/drawingml/2006/main">
            <a:off x="819150" y="838200"/>
            <a:ext cx="9239250" cy="80010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2100" b="1">
                <a:solidFill>
                  <a:srgbClr val="FFFFFF"/>
                </a:solidFill>
              </a:defRPr>
            </a:pPr>
            <a:r>
              <a:t>Détection précoce des régimes d’inflation au Maroc via signaux comportementaux digitaux</a:t>
            </a:r>
          </a:p>
        </p:txBody>
      </p:sp>
      <p:sp>
        <p:nvSpPr>
          <p:cNvPr id="4" name="">
            <a:extLst xmlns:a="http://schemas.openxmlformats.org/drawingml/2006/main">
              <a:ext uri="{FF2B5EF4-FFF2-40B4-BE49-F238E27FC236}">
                <a16:creationId xmlns:a16="http://schemas.microsoft.com/office/drawing/2014/main" id="{B766D978-24A5-46D3-B0F1-4AB2A2D272B1}"/>
              </a:ext>
            </a:extLst>
          </p:cNvPr>
          <p:cNvSpPr>
            <a:spLocks xmlns:a="http://schemas.openxmlformats.org/drawingml/2006/main" noGrp="1"/>
          </p:cNvSpPr>
          <p:nvPr/>
        </p:nvSpPr>
        <p:spPr>
          <a:xfrm xmlns:a="http://schemas.openxmlformats.org/drawingml/2006/main">
            <a:off x="857250" y="1771650"/>
            <a:ext cx="6667500" cy="2857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350" b="1">
                <a:solidFill>
                  <a:srgbClr val="C86F4D"/>
                </a:solidFill>
              </a:defRPr>
            </a:pPr>
            <a:r>
              <a:t>BESI V3 — Soutenance détaillée (environ 1 heure)</a:t>
            </a:r>
          </a:p>
        </p:txBody>
      </p:sp>
      <p:sp>
        <p:nvSpPr>
          <p:cNvPr id="5" name="">
            <a:extLst xmlns:a="http://schemas.openxmlformats.org/drawingml/2006/main">
              <a:ext uri="{FF2B5EF4-FFF2-40B4-BE49-F238E27FC236}">
                <a16:creationId xmlns:a16="http://schemas.microsoft.com/office/drawing/2014/main" id="{DB519EF6-FC66-4517-BC34-8380BE3CA067}"/>
              </a:ext>
            </a:extLst>
          </p:cNvPr>
          <p:cNvSpPr>
            <a:spLocks xmlns:a="http://schemas.openxmlformats.org/drawingml/2006/main" noGrp="1"/>
          </p:cNvSpPr>
          <p:nvPr/>
        </p:nvSpPr>
        <p:spPr>
          <a:xfrm xmlns:a="http://schemas.openxmlformats.org/drawingml/2006/main">
            <a:off x="857250" y="2209800"/>
            <a:ext cx="6477000" cy="10477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575">
                <a:solidFill>
                  <a:srgbClr val="2F3136"/>
                </a:solidFill>
              </a:defRPr>
            </a:pPr>
            <a:r>
              <a:t>Projet de séries temporelles et data engineering centré sur la question suivante : les signaux digitaux marocains peuvent-ils aider à détecter les régimes d’inflation avant ou autour de la publication officielle de l’IPC ?</a:t>
            </a:r>
          </a:p>
        </p:txBody>
      </p:sp>
      <p:sp>
        <p:nvSpPr>
          <p:cNvPr id="6" name="">
            <a:extLst xmlns:a="http://schemas.openxmlformats.org/drawingml/2006/main">
              <a:ext uri="{FF2B5EF4-FFF2-40B4-BE49-F238E27FC236}">
                <a16:creationId xmlns:a16="http://schemas.microsoft.com/office/drawing/2014/main" id="{7D2D4943-3F60-4C8E-AD0A-DFD5A1B6548E}"/>
              </a:ext>
            </a:extLst>
          </p:cNvPr>
          <p:cNvSpPr>
            <a:spLocks xmlns:a="http://schemas.openxmlformats.org/drawingml/2006/main" noGrp="1"/>
          </p:cNvSpPr>
          <p:nvPr/>
        </p:nvSpPr>
        <p:spPr>
          <a:xfrm xmlns:a="http://schemas.openxmlformats.org/drawingml/2006/main">
            <a:off x="857250" y="3619500"/>
            <a:ext cx="2381250" cy="1200150"/>
          </a:xfrm>
          <a:prstGeom xmlns:a="http://schemas.openxmlformats.org/drawingml/2006/main" prst="rect">
            <a:avLst/>
          </a:prstGeom>
          <a:solidFill xmlns:a="http://schemas.openxmlformats.org/drawingml/2006/main">
            <a:srgbClr val="FFFFFF"/>
          </a:solidFill>
          <a:ln xmlns:a="http://schemas.openxmlformats.org/drawingml/2006/main" w="9525">
            <a:solidFill>
              <a:srgbClr val="EEE4D3"/>
            </a:solidFill>
            <a:prstDash val="solid"/>
          </a:ln>
        </p:spPr>
      </p:sp>
      <p:sp>
        <p:nvSpPr>
          <p:cNvPr id="7" name="">
            <a:extLst xmlns:a="http://schemas.openxmlformats.org/drawingml/2006/main">
              <a:ext uri="{FF2B5EF4-FFF2-40B4-BE49-F238E27FC236}">
                <a16:creationId xmlns:a16="http://schemas.microsoft.com/office/drawing/2014/main" id="{A18AF7FB-224C-47B7-8316-5BBC727B0502}"/>
              </a:ext>
            </a:extLst>
          </p:cNvPr>
          <p:cNvSpPr>
            <a:spLocks xmlns:a="http://schemas.openxmlformats.org/drawingml/2006/main" noGrp="1"/>
          </p:cNvSpPr>
          <p:nvPr/>
        </p:nvSpPr>
        <p:spPr>
          <a:xfrm xmlns:a="http://schemas.openxmlformats.org/drawingml/2006/main">
            <a:off x="857250" y="3619500"/>
            <a:ext cx="76200" cy="1200150"/>
          </a:xfrm>
          <a:prstGeom xmlns:a="http://schemas.openxmlformats.org/drawingml/2006/main" prst="rect">
            <a:avLst/>
          </a:prstGeom>
          <a:solidFill xmlns:a="http://schemas.openxmlformats.org/drawingml/2006/main">
            <a:srgbClr val="223A5E"/>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4924EFC7-CEF1-4745-9DAA-D7BB3A90E209}"/>
              </a:ext>
            </a:extLst>
          </p:cNvPr>
          <p:cNvSpPr>
            <a:spLocks xmlns:a="http://schemas.openxmlformats.org/drawingml/2006/main" noGrp="1"/>
          </p:cNvSpPr>
          <p:nvPr/>
        </p:nvSpPr>
        <p:spPr>
          <a:xfrm xmlns:a="http://schemas.openxmlformats.org/drawingml/2006/main">
            <a:off x="1085850" y="3790950"/>
            <a:ext cx="2000250" cy="19050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975" b="1">
                <a:solidFill>
                  <a:srgbClr val="6C6A66"/>
                </a:solidFill>
              </a:defRPr>
            </a:pPr>
            <a:r>
              <a:t>Période</a:t>
            </a:r>
          </a:p>
        </p:txBody>
      </p:sp>
      <p:sp>
        <p:nvSpPr>
          <p:cNvPr id="9" name="">
            <a:extLst xmlns:a="http://schemas.openxmlformats.org/drawingml/2006/main">
              <a:ext uri="{FF2B5EF4-FFF2-40B4-BE49-F238E27FC236}">
                <a16:creationId xmlns:a16="http://schemas.microsoft.com/office/drawing/2014/main" id="{C634163D-04D7-40DA-ACB2-3F7E731BEF54}"/>
              </a:ext>
            </a:extLst>
          </p:cNvPr>
          <p:cNvSpPr>
            <a:spLocks xmlns:a="http://schemas.openxmlformats.org/drawingml/2006/main" noGrp="1"/>
          </p:cNvSpPr>
          <p:nvPr/>
        </p:nvSpPr>
        <p:spPr>
          <a:xfrm xmlns:a="http://schemas.openxmlformats.org/drawingml/2006/main">
            <a:off x="1085850" y="4019550"/>
            <a:ext cx="2000250" cy="38100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2100" b="1">
                <a:solidFill>
                  <a:srgbClr val="223A5E"/>
                </a:solidFill>
              </a:defRPr>
            </a:pPr>
            <a:r>
              <a:t>2017–2024</a:t>
            </a:r>
          </a:p>
        </p:txBody>
      </p:sp>
      <p:sp>
        <p:nvSpPr>
          <p:cNvPr id="10" name="">
            <a:extLst xmlns:a="http://schemas.openxmlformats.org/drawingml/2006/main">
              <a:ext uri="{FF2B5EF4-FFF2-40B4-BE49-F238E27FC236}">
                <a16:creationId xmlns:a16="http://schemas.microsoft.com/office/drawing/2014/main" id="{48C1C951-7608-4957-AF9D-0C777482176C}"/>
              </a:ext>
            </a:extLst>
          </p:cNvPr>
          <p:cNvSpPr>
            <a:spLocks xmlns:a="http://schemas.openxmlformats.org/drawingml/2006/main" noGrp="1"/>
          </p:cNvSpPr>
          <p:nvPr/>
        </p:nvSpPr>
        <p:spPr>
          <a:xfrm xmlns:a="http://schemas.openxmlformats.org/drawingml/2006/main">
            <a:off x="1085850" y="4457700"/>
            <a:ext cx="2000250" cy="3238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900">
                <a:solidFill>
                  <a:srgbClr val="2F3136"/>
                </a:solidFill>
              </a:defRPr>
            </a:pPr>
            <a:r>
              <a:t>96 observations mensuelles, données réelles HCP</a:t>
            </a:r>
          </a:p>
        </p:txBody>
      </p:sp>
      <p:sp>
        <p:nvSpPr>
          <p:cNvPr id="11" name="">
            <a:extLst xmlns:a="http://schemas.openxmlformats.org/drawingml/2006/main">
              <a:ext uri="{FF2B5EF4-FFF2-40B4-BE49-F238E27FC236}">
                <a16:creationId xmlns:a16="http://schemas.microsoft.com/office/drawing/2014/main" id="{6B911846-87B4-424A-A6A0-187206766451}"/>
              </a:ext>
            </a:extLst>
          </p:cNvPr>
          <p:cNvSpPr>
            <a:spLocks xmlns:a="http://schemas.openxmlformats.org/drawingml/2006/main" noGrp="1"/>
          </p:cNvSpPr>
          <p:nvPr/>
        </p:nvSpPr>
        <p:spPr>
          <a:xfrm xmlns:a="http://schemas.openxmlformats.org/drawingml/2006/main">
            <a:off x="3448050" y="3619500"/>
            <a:ext cx="2381250" cy="1200150"/>
          </a:xfrm>
          <a:prstGeom xmlns:a="http://schemas.openxmlformats.org/drawingml/2006/main" prst="rect">
            <a:avLst/>
          </a:prstGeom>
          <a:solidFill xmlns:a="http://schemas.openxmlformats.org/drawingml/2006/main">
            <a:srgbClr val="FFFFFF"/>
          </a:solidFill>
          <a:ln xmlns:a="http://schemas.openxmlformats.org/drawingml/2006/main" w="9525">
            <a:solidFill>
              <a:srgbClr val="EEE4D3"/>
            </a:solidFill>
            <a:prstDash val="solid"/>
          </a:ln>
        </p:spPr>
      </p:sp>
      <p:sp>
        <p:nvSpPr>
          <p:cNvPr id="12" name="">
            <a:extLst xmlns:a="http://schemas.openxmlformats.org/drawingml/2006/main">
              <a:ext uri="{FF2B5EF4-FFF2-40B4-BE49-F238E27FC236}">
                <a16:creationId xmlns:a16="http://schemas.microsoft.com/office/drawing/2014/main" id="{A787F388-39B5-4E3A-AAD3-3D0DA4F55326}"/>
              </a:ext>
            </a:extLst>
          </p:cNvPr>
          <p:cNvSpPr>
            <a:spLocks xmlns:a="http://schemas.openxmlformats.org/drawingml/2006/main" noGrp="1"/>
          </p:cNvSpPr>
          <p:nvPr/>
        </p:nvSpPr>
        <p:spPr>
          <a:xfrm xmlns:a="http://schemas.openxmlformats.org/drawingml/2006/main">
            <a:off x="3448050" y="3619500"/>
            <a:ext cx="76200" cy="1200150"/>
          </a:xfrm>
          <a:prstGeom xmlns:a="http://schemas.openxmlformats.org/drawingml/2006/main" prst="rect">
            <a:avLst/>
          </a:prstGeom>
          <a:solidFill xmlns:a="http://schemas.openxmlformats.org/drawingml/2006/main">
            <a:srgbClr val="C86F4D"/>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ACA6CC01-DD1E-4166-8C80-F0C08349B837}"/>
              </a:ext>
            </a:extLst>
          </p:cNvPr>
          <p:cNvSpPr>
            <a:spLocks xmlns:a="http://schemas.openxmlformats.org/drawingml/2006/main" noGrp="1"/>
          </p:cNvSpPr>
          <p:nvPr/>
        </p:nvSpPr>
        <p:spPr>
          <a:xfrm xmlns:a="http://schemas.openxmlformats.org/drawingml/2006/main">
            <a:off x="3676650" y="3790950"/>
            <a:ext cx="2000250" cy="19050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975" b="1">
                <a:solidFill>
                  <a:srgbClr val="6C6A66"/>
                </a:solidFill>
              </a:defRPr>
            </a:pPr>
            <a:r>
              <a:t>Signal central</a:t>
            </a:r>
          </a:p>
        </p:txBody>
      </p:sp>
      <p:sp>
        <p:nvSpPr>
          <p:cNvPr id="14" name="">
            <a:extLst xmlns:a="http://schemas.openxmlformats.org/drawingml/2006/main">
              <a:ext uri="{FF2B5EF4-FFF2-40B4-BE49-F238E27FC236}">
                <a16:creationId xmlns:a16="http://schemas.microsoft.com/office/drawing/2014/main" id="{61C9C06E-F6C6-4E83-A4C1-45CE754635C6}"/>
              </a:ext>
            </a:extLst>
          </p:cNvPr>
          <p:cNvSpPr>
            <a:spLocks xmlns:a="http://schemas.openxmlformats.org/drawingml/2006/main" noGrp="1"/>
          </p:cNvSpPr>
          <p:nvPr/>
        </p:nvSpPr>
        <p:spPr>
          <a:xfrm xmlns:a="http://schemas.openxmlformats.org/drawingml/2006/main">
            <a:off x="3676650" y="4019550"/>
            <a:ext cx="2000250" cy="38100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2100" b="1">
                <a:solidFill>
                  <a:srgbClr val="C86F4D"/>
                </a:solidFill>
              </a:defRPr>
            </a:pPr>
            <a:r>
              <a:t>BESI Trends</a:t>
            </a:r>
          </a:p>
        </p:txBody>
      </p:sp>
      <p:sp>
        <p:nvSpPr>
          <p:cNvPr id="15" name="">
            <a:extLst xmlns:a="http://schemas.openxmlformats.org/drawingml/2006/main">
              <a:ext uri="{FF2B5EF4-FFF2-40B4-BE49-F238E27FC236}">
                <a16:creationId xmlns:a16="http://schemas.microsoft.com/office/drawing/2014/main" id="{67F56A14-7575-4E33-B575-D5CFD946373A}"/>
              </a:ext>
            </a:extLst>
          </p:cNvPr>
          <p:cNvSpPr>
            <a:spLocks xmlns:a="http://schemas.openxmlformats.org/drawingml/2006/main" noGrp="1"/>
          </p:cNvSpPr>
          <p:nvPr/>
        </p:nvSpPr>
        <p:spPr>
          <a:xfrm xmlns:a="http://schemas.openxmlformats.org/drawingml/2006/main">
            <a:off x="3676650" y="4457700"/>
            <a:ext cx="2000250" cy="3238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900">
                <a:solidFill>
                  <a:srgbClr val="2F3136"/>
                </a:solidFill>
              </a:defRPr>
            </a:pPr>
            <a:r>
              <a:t>Google Trends uniquement, sans fuite d’information IPC</a:t>
            </a:r>
          </a:p>
        </p:txBody>
      </p:sp>
      <p:sp>
        <p:nvSpPr>
          <p:cNvPr id="16" name="">
            <a:extLst xmlns:a="http://schemas.openxmlformats.org/drawingml/2006/main">
              <a:ext uri="{FF2B5EF4-FFF2-40B4-BE49-F238E27FC236}">
                <a16:creationId xmlns:a16="http://schemas.microsoft.com/office/drawing/2014/main" id="{0D9FE341-8C63-454F-8558-4088E834D388}"/>
              </a:ext>
            </a:extLst>
          </p:cNvPr>
          <p:cNvSpPr>
            <a:spLocks xmlns:a="http://schemas.openxmlformats.org/drawingml/2006/main" noGrp="1"/>
          </p:cNvSpPr>
          <p:nvPr/>
        </p:nvSpPr>
        <p:spPr>
          <a:xfrm xmlns:a="http://schemas.openxmlformats.org/drawingml/2006/main">
            <a:off x="6038850" y="3619500"/>
            <a:ext cx="2381250" cy="1200150"/>
          </a:xfrm>
          <a:prstGeom xmlns:a="http://schemas.openxmlformats.org/drawingml/2006/main" prst="rect">
            <a:avLst/>
          </a:prstGeom>
          <a:solidFill xmlns:a="http://schemas.openxmlformats.org/drawingml/2006/main">
            <a:srgbClr val="FFFFFF"/>
          </a:solidFill>
          <a:ln xmlns:a="http://schemas.openxmlformats.org/drawingml/2006/main" w="9525">
            <a:solidFill>
              <a:srgbClr val="EEE4D3"/>
            </a:solidFill>
            <a:prstDash val="solid"/>
          </a:ln>
        </p:spPr>
      </p:sp>
      <p:sp>
        <p:nvSpPr>
          <p:cNvPr id="17" name="">
            <a:extLst xmlns:a="http://schemas.openxmlformats.org/drawingml/2006/main">
              <a:ext uri="{FF2B5EF4-FFF2-40B4-BE49-F238E27FC236}">
                <a16:creationId xmlns:a16="http://schemas.microsoft.com/office/drawing/2014/main" id="{282535B1-55C2-4A92-A26C-654121B99DF0}"/>
              </a:ext>
            </a:extLst>
          </p:cNvPr>
          <p:cNvSpPr>
            <a:spLocks xmlns:a="http://schemas.openxmlformats.org/drawingml/2006/main" noGrp="1"/>
          </p:cNvSpPr>
          <p:nvPr/>
        </p:nvSpPr>
        <p:spPr>
          <a:xfrm xmlns:a="http://schemas.openxmlformats.org/drawingml/2006/main">
            <a:off x="6038850" y="3619500"/>
            <a:ext cx="76200" cy="1200150"/>
          </a:xfrm>
          <a:prstGeom xmlns:a="http://schemas.openxmlformats.org/drawingml/2006/main" prst="rect">
            <a:avLst/>
          </a:prstGeom>
          <a:solidFill xmlns:a="http://schemas.openxmlformats.org/drawingml/2006/main">
            <a:srgbClr val="5E7E6A"/>
          </a:solidFill>
          <a:ln xmlns:a="http://schemas.openxmlformats.org/drawingml/2006/main" w="0">
            <a:noFill/>
            <a:prstDash val="solid"/>
          </a:ln>
        </p:spPr>
      </p:sp>
      <p:sp>
        <p:nvSpPr>
          <p:cNvPr id="18" name="">
            <a:extLst xmlns:a="http://schemas.openxmlformats.org/drawingml/2006/main">
              <a:ext uri="{FF2B5EF4-FFF2-40B4-BE49-F238E27FC236}">
                <a16:creationId xmlns:a16="http://schemas.microsoft.com/office/drawing/2014/main" id="{EC8AADED-8EDB-4736-A88F-A48CCEEFEE5D}"/>
              </a:ext>
            </a:extLst>
          </p:cNvPr>
          <p:cNvSpPr>
            <a:spLocks xmlns:a="http://schemas.openxmlformats.org/drawingml/2006/main" noGrp="1"/>
          </p:cNvSpPr>
          <p:nvPr/>
        </p:nvSpPr>
        <p:spPr>
          <a:xfrm xmlns:a="http://schemas.openxmlformats.org/drawingml/2006/main">
            <a:off x="6267450" y="3790950"/>
            <a:ext cx="2000250" cy="19050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975" b="1">
                <a:solidFill>
                  <a:srgbClr val="6C6A66"/>
                </a:solidFill>
              </a:defRPr>
            </a:pPr>
            <a:r>
              <a:t>Résultat clé</a:t>
            </a:r>
          </a:p>
        </p:txBody>
      </p:sp>
      <p:sp>
        <p:nvSpPr>
          <p:cNvPr id="19" name="">
            <a:extLst xmlns:a="http://schemas.openxmlformats.org/drawingml/2006/main">
              <a:ext uri="{FF2B5EF4-FFF2-40B4-BE49-F238E27FC236}">
                <a16:creationId xmlns:a16="http://schemas.microsoft.com/office/drawing/2014/main" id="{75983CED-F5D4-447A-A364-A6D2B6243C57}"/>
              </a:ext>
            </a:extLst>
          </p:cNvPr>
          <p:cNvSpPr>
            <a:spLocks xmlns:a="http://schemas.openxmlformats.org/drawingml/2006/main" noGrp="1"/>
          </p:cNvSpPr>
          <p:nvPr/>
        </p:nvSpPr>
        <p:spPr>
          <a:xfrm xmlns:a="http://schemas.openxmlformats.org/drawingml/2006/main">
            <a:off x="6267450" y="4019550"/>
            <a:ext cx="2000250" cy="38100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2100" b="1">
                <a:solidFill>
                  <a:srgbClr val="5E7E6A"/>
                </a:solidFill>
              </a:defRPr>
            </a:pPr>
            <a:r>
              <a:t>Recall 1.00</a:t>
            </a:r>
          </a:p>
        </p:txBody>
      </p:sp>
      <p:sp>
        <p:nvSpPr>
          <p:cNvPr id="20" name="">
            <a:extLst xmlns:a="http://schemas.openxmlformats.org/drawingml/2006/main">
              <a:ext uri="{FF2B5EF4-FFF2-40B4-BE49-F238E27FC236}">
                <a16:creationId xmlns:a16="http://schemas.microsoft.com/office/drawing/2014/main" id="{016828F3-D056-4BD4-9071-7E4FAAE675B4}"/>
              </a:ext>
            </a:extLst>
          </p:cNvPr>
          <p:cNvSpPr>
            <a:spLocks xmlns:a="http://schemas.openxmlformats.org/drawingml/2006/main" noGrp="1"/>
          </p:cNvSpPr>
          <p:nvPr/>
        </p:nvSpPr>
        <p:spPr>
          <a:xfrm xmlns:a="http://schemas.openxmlformats.org/drawingml/2006/main">
            <a:off x="6267450" y="4457700"/>
            <a:ext cx="2000250" cy="3238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900">
                <a:solidFill>
                  <a:srgbClr val="2F3136"/>
                </a:solidFill>
              </a:defRPr>
            </a:pPr>
            <a:r>
              <a:t>Détection de tous les mois à inflation élevée sur 2022–2024</a:t>
            </a:r>
          </a:p>
        </p:txBody>
      </p:sp>
      <p:sp>
        <p:nvSpPr>
          <p:cNvPr id="21" name="">
            <a:extLst xmlns:a="http://schemas.openxmlformats.org/drawingml/2006/main">
              <a:ext uri="{FF2B5EF4-FFF2-40B4-BE49-F238E27FC236}">
                <a16:creationId xmlns:a16="http://schemas.microsoft.com/office/drawing/2014/main" id="{BED1D57B-5552-4D8E-9F82-A4669C87B42C}"/>
              </a:ext>
            </a:extLst>
          </p:cNvPr>
          <p:cNvSpPr>
            <a:spLocks xmlns:a="http://schemas.openxmlformats.org/drawingml/2006/main" noGrp="1"/>
          </p:cNvSpPr>
          <p:nvPr/>
        </p:nvSpPr>
        <p:spPr>
          <a:xfrm xmlns:a="http://schemas.openxmlformats.org/drawingml/2006/main">
            <a:off x="8629650" y="3619500"/>
            <a:ext cx="2381250" cy="1200150"/>
          </a:xfrm>
          <a:prstGeom xmlns:a="http://schemas.openxmlformats.org/drawingml/2006/main" prst="rect">
            <a:avLst/>
          </a:prstGeom>
          <a:solidFill xmlns:a="http://schemas.openxmlformats.org/drawingml/2006/main">
            <a:srgbClr val="FFFFFF"/>
          </a:solidFill>
          <a:ln xmlns:a="http://schemas.openxmlformats.org/drawingml/2006/main" w="9525">
            <a:solidFill>
              <a:srgbClr val="EEE4D3"/>
            </a:solidFill>
            <a:prstDash val="solid"/>
          </a:ln>
        </p:spPr>
      </p:sp>
      <p:sp>
        <p:nvSpPr>
          <p:cNvPr id="22" name="">
            <a:extLst xmlns:a="http://schemas.openxmlformats.org/drawingml/2006/main">
              <a:ext uri="{FF2B5EF4-FFF2-40B4-BE49-F238E27FC236}">
                <a16:creationId xmlns:a16="http://schemas.microsoft.com/office/drawing/2014/main" id="{4577C6DF-A1E3-4A45-8E82-4E233D6BD1C7}"/>
              </a:ext>
            </a:extLst>
          </p:cNvPr>
          <p:cNvSpPr>
            <a:spLocks xmlns:a="http://schemas.openxmlformats.org/drawingml/2006/main" noGrp="1"/>
          </p:cNvSpPr>
          <p:nvPr/>
        </p:nvSpPr>
        <p:spPr>
          <a:xfrm xmlns:a="http://schemas.openxmlformats.org/drawingml/2006/main">
            <a:off x="8629650" y="3619500"/>
            <a:ext cx="76200" cy="1200150"/>
          </a:xfrm>
          <a:prstGeom xmlns:a="http://schemas.openxmlformats.org/drawingml/2006/main" prst="rect">
            <a:avLst/>
          </a:prstGeom>
          <a:solidFill xmlns:a="http://schemas.openxmlformats.org/drawingml/2006/main">
            <a:srgbClr val="A14B4B"/>
          </a:solidFill>
          <a:ln xmlns:a="http://schemas.openxmlformats.org/drawingml/2006/main" w="0">
            <a:noFill/>
            <a:prstDash val="solid"/>
          </a:ln>
        </p:spPr>
      </p:sp>
      <p:sp>
        <p:nvSpPr>
          <p:cNvPr id="23" name="">
            <a:extLst xmlns:a="http://schemas.openxmlformats.org/drawingml/2006/main">
              <a:ext uri="{FF2B5EF4-FFF2-40B4-BE49-F238E27FC236}">
                <a16:creationId xmlns:a16="http://schemas.microsoft.com/office/drawing/2014/main" id="{367C3909-335F-4E04-8834-3834D916A23F}"/>
              </a:ext>
            </a:extLst>
          </p:cNvPr>
          <p:cNvSpPr>
            <a:spLocks xmlns:a="http://schemas.openxmlformats.org/drawingml/2006/main" noGrp="1"/>
          </p:cNvSpPr>
          <p:nvPr/>
        </p:nvSpPr>
        <p:spPr>
          <a:xfrm xmlns:a="http://schemas.openxmlformats.org/drawingml/2006/main">
            <a:off x="8858250" y="3790950"/>
            <a:ext cx="2000250" cy="19050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975" b="1">
                <a:solidFill>
                  <a:srgbClr val="6C6A66"/>
                </a:solidFill>
              </a:defRPr>
            </a:pPr>
            <a:r>
              <a:t>Limite honnête</a:t>
            </a:r>
          </a:p>
        </p:txBody>
      </p:sp>
      <p:sp>
        <p:nvSpPr>
          <p:cNvPr id="24" name="">
            <a:extLst xmlns:a="http://schemas.openxmlformats.org/drawingml/2006/main">
              <a:ext uri="{FF2B5EF4-FFF2-40B4-BE49-F238E27FC236}">
                <a16:creationId xmlns:a16="http://schemas.microsoft.com/office/drawing/2014/main" id="{C1250747-B1AE-4622-9B8E-5497686E7F2C}"/>
              </a:ext>
            </a:extLst>
          </p:cNvPr>
          <p:cNvSpPr>
            <a:spLocks xmlns:a="http://schemas.openxmlformats.org/drawingml/2006/main" noGrp="1"/>
          </p:cNvSpPr>
          <p:nvPr/>
        </p:nvSpPr>
        <p:spPr>
          <a:xfrm xmlns:a="http://schemas.openxmlformats.org/drawingml/2006/main">
            <a:off x="8858250" y="4019550"/>
            <a:ext cx="2000250" cy="38100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2100" b="1">
                <a:solidFill>
                  <a:srgbClr val="A14B4B"/>
                </a:solidFill>
              </a:defRPr>
            </a:pPr>
            <a:r>
              <a:t>Naïf &gt; RMSE</a:t>
            </a:r>
          </a:p>
        </p:txBody>
      </p:sp>
      <p:sp>
        <p:nvSpPr>
          <p:cNvPr id="25" name="">
            <a:extLst xmlns:a="http://schemas.openxmlformats.org/drawingml/2006/main">
              <a:ext uri="{FF2B5EF4-FFF2-40B4-BE49-F238E27FC236}">
                <a16:creationId xmlns:a16="http://schemas.microsoft.com/office/drawing/2014/main" id="{EAF69688-41C3-4103-9AF2-A96DB1DAE8BC}"/>
              </a:ext>
            </a:extLst>
          </p:cNvPr>
          <p:cNvSpPr>
            <a:spLocks xmlns:a="http://schemas.openxmlformats.org/drawingml/2006/main" noGrp="1"/>
          </p:cNvSpPr>
          <p:nvPr/>
        </p:nvSpPr>
        <p:spPr>
          <a:xfrm xmlns:a="http://schemas.openxmlformats.org/drawingml/2006/main">
            <a:off x="8858250" y="4457700"/>
            <a:ext cx="2000250" cy="3238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900">
                <a:solidFill>
                  <a:srgbClr val="2F3136"/>
                </a:solidFill>
              </a:defRPr>
            </a:pPr>
            <a:r>
              <a:t>Le modèle naïf reste meilleur en prévision point par point</a:t>
            </a:r>
          </a:p>
        </p:txBody>
      </p:sp>
      <p:sp>
        <p:nvSpPr>
          <p:cNvPr id="26" name="">
            <a:extLst xmlns:a="http://schemas.openxmlformats.org/drawingml/2006/main">
              <a:ext uri="{FF2B5EF4-FFF2-40B4-BE49-F238E27FC236}">
                <a16:creationId xmlns:a16="http://schemas.microsoft.com/office/drawing/2014/main" id="{AF1DE15B-04FD-4527-BE78-4242CB500C60}"/>
              </a:ext>
            </a:extLst>
          </p:cNvPr>
          <p:cNvSpPr>
            <a:spLocks xmlns:a="http://schemas.openxmlformats.org/drawingml/2006/main" noGrp="1"/>
          </p:cNvSpPr>
          <p:nvPr/>
        </p:nvSpPr>
        <p:spPr>
          <a:xfrm xmlns:a="http://schemas.openxmlformats.org/drawingml/2006/main">
            <a:off x="857250" y="5219700"/>
            <a:ext cx="7620000" cy="45720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200">
                <a:solidFill>
                  <a:srgbClr val="6C6A66"/>
                </a:solidFill>
              </a:defRPr>
            </a:pPr>
            <a:r>
              <a:t>Douae Ahadji • Adama Basse • ENSAM Meknès • Série Temporelles • Mai 2026</a:t>
            </a:r>
          </a:p>
        </p:txBody>
      </p:sp>
      <p:sp>
        <p:nvSpPr>
          <p:cNvPr id="27" name="">
            <a:extLst xmlns:a="http://schemas.openxmlformats.org/drawingml/2006/main">
              <a:ext uri="{FF2B5EF4-FFF2-40B4-BE49-F238E27FC236}">
                <a16:creationId xmlns:a16="http://schemas.microsoft.com/office/drawing/2014/main" id="{2A3F3CE0-F4DF-4083-AEAB-BB944C245EBB}"/>
              </a:ext>
            </a:extLst>
          </p:cNvPr>
          <p:cNvSpPr>
            <a:spLocks xmlns:a="http://schemas.openxmlformats.org/drawingml/2006/main" noGrp="1"/>
          </p:cNvSpPr>
          <p:nvPr/>
        </p:nvSpPr>
        <p:spPr>
          <a:xfrm xmlns:a="http://schemas.openxmlformats.org/drawingml/2006/main">
            <a:off x="685800" y="6477000"/>
            <a:ext cx="4762500" cy="1714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825">
                <a:solidFill>
                  <a:srgbClr val="6C6A66"/>
                </a:solidFill>
              </a:defRPr>
            </a:pPr>
            <a:r>
              <a:t>ENSAM Meknes • Ouverture</a:t>
            </a:r>
          </a:p>
        </p:txBody>
      </p:sp>
      <p:sp>
        <p:nvSpPr>
          <p:cNvPr id="28" name="">
            <a:extLst xmlns:a="http://schemas.openxmlformats.org/drawingml/2006/main">
              <a:ext uri="{FF2B5EF4-FFF2-40B4-BE49-F238E27FC236}">
                <a16:creationId xmlns:a16="http://schemas.microsoft.com/office/drawing/2014/main" id="{A3B117BC-EEEC-4889-A480-E05E23EBFE87}"/>
              </a:ext>
            </a:extLst>
          </p:cNvPr>
          <p:cNvSpPr>
            <a:spLocks xmlns:a="http://schemas.openxmlformats.org/drawingml/2006/main" noGrp="1"/>
          </p:cNvSpPr>
          <p:nvPr/>
        </p:nvSpPr>
        <p:spPr>
          <a:xfrm xmlns:a="http://schemas.openxmlformats.org/drawingml/2006/main">
            <a:off x="11049000" y="6477000"/>
            <a:ext cx="476250" cy="1714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lgn="r">
              <a:defRPr sz="825">
                <a:solidFill>
                  <a:srgbClr val="6C6A66"/>
                </a:solidFill>
              </a:defRPr>
            </a:pPr>
            <a:r>
              <a:t>1</a:t>
            </a:r>
          </a:p>
        </p:txBody>
      </p:sp>
    </p:spTree>
    <p:extLst>
      <p:ext uri="{BB962C8B-B14F-4D97-AF65-F5344CB8AC3E}">
        <p14:creationId xmlns:p14="http://schemas.microsoft.com/office/powerpoint/2010/main" val="1917793944"/>
      </p:ext>
    </p:extLst>
  </p:cSld>
</p:sld>
</file>

<file path=ppt/slides/slide2.xml><?xml version="1.0" encoding="utf-8"?>
<p:sld xmlns:p="http://schemas.openxmlformats.org/presentationml/2006/main">
  <p:cSld>
    <p:bg>
      <p:bgPr>
        <a:solidFill xmlns:a="http://schemas.openxmlformats.org/drawingml/2006/main">
          <a:srgbClr val="F6F1E7"/>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29BF832D-88B1-4FB6-8B36-08749E4A2EAD}"/>
              </a:ext>
            </a:extLst>
          </p:cNvPr>
          <p:cNvSpPr>
            <a:spLocks xmlns:a="http://schemas.openxmlformats.org/drawingml/2006/main" noGrp="1"/>
          </p:cNvSpPr>
          <p:nvPr/>
        </p:nvSpPr>
        <p:spPr>
          <a:xfrm xmlns:a="http://schemas.openxmlformats.org/drawingml/2006/main">
            <a:off x="876300" y="704850"/>
            <a:ext cx="9334500" cy="5905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2400" b="1">
                <a:solidFill>
                  <a:srgbClr val="223A5E"/>
                </a:solidFill>
              </a:defRPr>
            </a:pPr>
            <a:r>
              <a:t>Plan de la présentation</a:t>
            </a:r>
          </a:p>
        </p:txBody>
      </p:sp>
      <p:sp>
        <p:nvSpPr>
          <p:cNvPr id="2" name="">
            <a:extLst xmlns:a="http://schemas.openxmlformats.org/drawingml/2006/main">
              <a:ext uri="{FF2B5EF4-FFF2-40B4-BE49-F238E27FC236}">
                <a16:creationId xmlns:a16="http://schemas.microsoft.com/office/drawing/2014/main" id="{5CEDFC58-159B-48F5-A803-6C9BEE29A361}"/>
              </a:ext>
            </a:extLst>
          </p:cNvPr>
          <p:cNvSpPr>
            <a:spLocks xmlns:a="http://schemas.openxmlformats.org/drawingml/2006/main" noGrp="1"/>
          </p:cNvSpPr>
          <p:nvPr/>
        </p:nvSpPr>
        <p:spPr>
          <a:xfrm xmlns:a="http://schemas.openxmlformats.org/drawingml/2006/main">
            <a:off x="876300" y="1295400"/>
            <a:ext cx="9334500" cy="2857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200" b="1">
                <a:solidFill>
                  <a:srgbClr val="C86F4D"/>
                </a:solidFill>
              </a:defRPr>
            </a:pPr>
            <a:r>
              <a:t>De la problématique économique au verdict empirique</a:t>
            </a:r>
          </a:p>
        </p:txBody>
      </p:sp>
      <p:sp>
        <p:nvSpPr>
          <p:cNvPr id="3" name="">
            <a:extLst xmlns:a="http://schemas.openxmlformats.org/drawingml/2006/main">
              <a:ext uri="{FF2B5EF4-FFF2-40B4-BE49-F238E27FC236}">
                <a16:creationId xmlns:a16="http://schemas.microsoft.com/office/drawing/2014/main" id="{6F4EB8F2-9148-431B-B7A9-2136124C95F8}"/>
              </a:ext>
            </a:extLst>
          </p:cNvPr>
          <p:cNvSpPr>
            <a:spLocks xmlns:a="http://schemas.openxmlformats.org/drawingml/2006/main" noGrp="1"/>
          </p:cNvSpPr>
          <p:nvPr/>
        </p:nvSpPr>
        <p:spPr>
          <a:xfrm xmlns:a="http://schemas.openxmlformats.org/drawingml/2006/main">
            <a:off x="685800" y="6477000"/>
            <a:ext cx="4762500" cy="1714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825">
                <a:solidFill>
                  <a:srgbClr val="6C6A66"/>
                </a:solidFill>
              </a:defRPr>
            </a:pPr>
            <a:r>
              <a:t>ENSAM Meknes • BESI V3</a:t>
            </a:r>
          </a:p>
        </p:txBody>
      </p:sp>
      <p:sp>
        <p:nvSpPr>
          <p:cNvPr id="4" name="">
            <a:extLst xmlns:a="http://schemas.openxmlformats.org/drawingml/2006/main">
              <a:ext uri="{FF2B5EF4-FFF2-40B4-BE49-F238E27FC236}">
                <a16:creationId xmlns:a16="http://schemas.microsoft.com/office/drawing/2014/main" id="{E0F081E7-1B0A-47E7-A28A-A0EBE9EA1D7B}"/>
              </a:ext>
            </a:extLst>
          </p:cNvPr>
          <p:cNvSpPr>
            <a:spLocks xmlns:a="http://schemas.openxmlformats.org/drawingml/2006/main" noGrp="1"/>
          </p:cNvSpPr>
          <p:nvPr/>
        </p:nvSpPr>
        <p:spPr>
          <a:xfrm xmlns:a="http://schemas.openxmlformats.org/drawingml/2006/main">
            <a:off x="11049000" y="6477000"/>
            <a:ext cx="476250" cy="1714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lgn="r">
              <a:defRPr sz="825">
                <a:solidFill>
                  <a:srgbClr val="6C6A66"/>
                </a:solidFill>
              </a:defRPr>
            </a:pPr>
            <a:r>
              <a:t>2</a:t>
            </a:r>
          </a:p>
        </p:txBody>
      </p:sp>
      <p:sp>
        <p:nvSpPr>
          <p:cNvPr id="5" name="">
            <a:extLst xmlns:a="http://schemas.openxmlformats.org/drawingml/2006/main">
              <a:ext uri="{FF2B5EF4-FFF2-40B4-BE49-F238E27FC236}">
                <a16:creationId xmlns:a16="http://schemas.microsoft.com/office/drawing/2014/main" id="{63555FAD-0414-4AC3-A41D-7F5AB1D932B5}"/>
              </a:ext>
            </a:extLst>
          </p:cNvPr>
          <p:cNvSpPr>
            <a:spLocks xmlns:a="http://schemas.openxmlformats.org/drawingml/2006/main" noGrp="1"/>
          </p:cNvSpPr>
          <p:nvPr/>
        </p:nvSpPr>
        <p:spPr>
          <a:xfrm xmlns:a="http://schemas.openxmlformats.org/drawingml/2006/main">
            <a:off x="876300" y="1752600"/>
            <a:ext cx="10477500" cy="2590800"/>
          </a:xfrm>
          <a:prstGeom xmlns:a="http://schemas.openxmlformats.org/drawingml/2006/main" prst="rect">
            <a:avLst/>
          </a:prstGeom>
          <a:solidFill xmlns:a="http://schemas.openxmlformats.org/drawingml/2006/main">
            <a:srgbClr val="FFFFFF"/>
          </a:solidFill>
          <a:ln xmlns:a="http://schemas.openxmlformats.org/drawingml/2006/main" w="9525">
            <a:solidFill>
              <a:srgbClr val="EEE4D3"/>
            </a:solidFill>
            <a:prstDash val="solid"/>
          </a:ln>
        </p:spPr>
      </p:sp>
      <p:sp>
        <p:nvSpPr>
          <p:cNvPr id="6" name="">
            <a:extLst xmlns:a="http://schemas.openxmlformats.org/drawingml/2006/main">
              <a:ext uri="{FF2B5EF4-FFF2-40B4-BE49-F238E27FC236}">
                <a16:creationId xmlns:a16="http://schemas.microsoft.com/office/drawing/2014/main" id="{5F6E7225-D372-41EC-9F26-001A04B89332}"/>
              </a:ext>
            </a:extLst>
          </p:cNvPr>
          <p:cNvSpPr>
            <a:spLocks xmlns:a="http://schemas.openxmlformats.org/drawingml/2006/main" noGrp="1"/>
          </p:cNvSpPr>
          <p:nvPr/>
        </p:nvSpPr>
        <p:spPr>
          <a:xfrm xmlns:a="http://schemas.openxmlformats.org/drawingml/2006/main">
            <a:off x="876300" y="1752600"/>
            <a:ext cx="857250" cy="323850"/>
          </a:xfrm>
          <a:prstGeom xmlns:a="http://schemas.openxmlformats.org/drawingml/2006/main" prst="rect">
            <a:avLst/>
          </a:prstGeom>
          <a:solidFill xmlns:a="http://schemas.openxmlformats.org/drawingml/2006/main">
            <a:srgbClr val="223A5E"/>
          </a:solidFill>
          <a:ln xmlns:a="http://schemas.openxmlformats.org/drawingml/2006/main" w="9525">
            <a:solidFill>
              <a:srgbClr val="223A5E"/>
            </a:solidFill>
            <a:prstDash val="solid"/>
          </a:ln>
        </p:spPr>
      </p:sp>
      <p:sp>
        <p:nvSpPr>
          <p:cNvPr id="7" name="">
            <a:extLst xmlns:a="http://schemas.openxmlformats.org/drawingml/2006/main">
              <a:ext uri="{FF2B5EF4-FFF2-40B4-BE49-F238E27FC236}">
                <a16:creationId xmlns:a16="http://schemas.microsoft.com/office/drawing/2014/main" id="{40DDD289-DE48-46F5-8D0A-B26CDF6238E3}"/>
              </a:ext>
            </a:extLst>
          </p:cNvPr>
          <p:cNvSpPr>
            <a:spLocks xmlns:a="http://schemas.openxmlformats.org/drawingml/2006/main" noGrp="1"/>
          </p:cNvSpPr>
          <p:nvPr/>
        </p:nvSpPr>
        <p:spPr>
          <a:xfrm xmlns:a="http://schemas.openxmlformats.org/drawingml/2006/main">
            <a:off x="952500" y="1819275"/>
            <a:ext cx="704850" cy="19050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lgn="ctr">
              <a:defRPr sz="975" b="1">
                <a:solidFill>
                  <a:srgbClr val="FFFFFF"/>
                </a:solidFill>
              </a:defRPr>
            </a:pPr>
            <a:r>
              <a:t>Partie</a:t>
            </a:r>
          </a:p>
        </p:txBody>
      </p:sp>
      <p:sp>
        <p:nvSpPr>
          <p:cNvPr id="8" name="">
            <a:extLst xmlns:a="http://schemas.openxmlformats.org/drawingml/2006/main">
              <a:ext uri="{FF2B5EF4-FFF2-40B4-BE49-F238E27FC236}">
                <a16:creationId xmlns:a16="http://schemas.microsoft.com/office/drawing/2014/main" id="{4A36B4EB-DDD7-449A-8923-21E563F041EA}"/>
              </a:ext>
            </a:extLst>
          </p:cNvPr>
          <p:cNvSpPr>
            <a:spLocks xmlns:a="http://schemas.openxmlformats.org/drawingml/2006/main" noGrp="1"/>
          </p:cNvSpPr>
          <p:nvPr/>
        </p:nvSpPr>
        <p:spPr>
          <a:xfrm xmlns:a="http://schemas.openxmlformats.org/drawingml/2006/main">
            <a:off x="1733550" y="1752600"/>
            <a:ext cx="4953000" cy="323850"/>
          </a:xfrm>
          <a:prstGeom xmlns:a="http://schemas.openxmlformats.org/drawingml/2006/main" prst="rect">
            <a:avLst/>
          </a:prstGeom>
          <a:solidFill xmlns:a="http://schemas.openxmlformats.org/drawingml/2006/main">
            <a:srgbClr val="223A5E"/>
          </a:solidFill>
          <a:ln xmlns:a="http://schemas.openxmlformats.org/drawingml/2006/main" w="9525">
            <a:solidFill>
              <a:srgbClr val="223A5E"/>
            </a:solidFill>
            <a:prstDash val="solid"/>
          </a:ln>
        </p:spPr>
      </p:sp>
      <p:sp>
        <p:nvSpPr>
          <p:cNvPr id="9" name="">
            <a:extLst xmlns:a="http://schemas.openxmlformats.org/drawingml/2006/main">
              <a:ext uri="{FF2B5EF4-FFF2-40B4-BE49-F238E27FC236}">
                <a16:creationId xmlns:a16="http://schemas.microsoft.com/office/drawing/2014/main" id="{0151EE47-0B17-442A-9B5C-8B78ADC4AD7C}"/>
              </a:ext>
            </a:extLst>
          </p:cNvPr>
          <p:cNvSpPr>
            <a:spLocks xmlns:a="http://schemas.openxmlformats.org/drawingml/2006/main" noGrp="1"/>
          </p:cNvSpPr>
          <p:nvPr/>
        </p:nvSpPr>
        <p:spPr>
          <a:xfrm xmlns:a="http://schemas.openxmlformats.org/drawingml/2006/main">
            <a:off x="1809750" y="1819275"/>
            <a:ext cx="4800600" cy="19050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lgn="ctr">
              <a:defRPr sz="975" b="1">
                <a:solidFill>
                  <a:srgbClr val="FFFFFF"/>
                </a:solidFill>
              </a:defRPr>
            </a:pPr>
            <a:r>
              <a:t>Contenu</a:t>
            </a:r>
          </a:p>
        </p:txBody>
      </p:sp>
      <p:sp>
        <p:nvSpPr>
          <p:cNvPr id="10" name="">
            <a:extLst xmlns:a="http://schemas.openxmlformats.org/drawingml/2006/main">
              <a:ext uri="{FF2B5EF4-FFF2-40B4-BE49-F238E27FC236}">
                <a16:creationId xmlns:a16="http://schemas.microsoft.com/office/drawing/2014/main" id="{533E03BB-2FB9-412B-8B05-0B3F697D5EC2}"/>
              </a:ext>
            </a:extLst>
          </p:cNvPr>
          <p:cNvSpPr>
            <a:spLocks xmlns:a="http://schemas.openxmlformats.org/drawingml/2006/main" noGrp="1"/>
          </p:cNvSpPr>
          <p:nvPr/>
        </p:nvSpPr>
        <p:spPr>
          <a:xfrm xmlns:a="http://schemas.openxmlformats.org/drawingml/2006/main">
            <a:off x="6686550" y="1752600"/>
            <a:ext cx="4667250" cy="323850"/>
          </a:xfrm>
          <a:prstGeom xmlns:a="http://schemas.openxmlformats.org/drawingml/2006/main" prst="rect">
            <a:avLst/>
          </a:prstGeom>
          <a:solidFill xmlns:a="http://schemas.openxmlformats.org/drawingml/2006/main">
            <a:srgbClr val="223A5E"/>
          </a:solidFill>
          <a:ln xmlns:a="http://schemas.openxmlformats.org/drawingml/2006/main" w="9525">
            <a:solidFill>
              <a:srgbClr val="223A5E"/>
            </a:solidFill>
            <a:prstDash val="solid"/>
          </a:ln>
        </p:spPr>
      </p:sp>
      <p:sp>
        <p:nvSpPr>
          <p:cNvPr id="11" name="">
            <a:extLst xmlns:a="http://schemas.openxmlformats.org/drawingml/2006/main">
              <a:ext uri="{FF2B5EF4-FFF2-40B4-BE49-F238E27FC236}">
                <a16:creationId xmlns:a16="http://schemas.microsoft.com/office/drawing/2014/main" id="{D6580F47-6C6A-450F-A84C-554D6AB518F5}"/>
              </a:ext>
            </a:extLst>
          </p:cNvPr>
          <p:cNvSpPr>
            <a:spLocks xmlns:a="http://schemas.openxmlformats.org/drawingml/2006/main" noGrp="1"/>
          </p:cNvSpPr>
          <p:nvPr/>
        </p:nvSpPr>
        <p:spPr>
          <a:xfrm xmlns:a="http://schemas.openxmlformats.org/drawingml/2006/main">
            <a:off x="6762750" y="1819275"/>
            <a:ext cx="4514850" cy="19050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lgn="ctr">
              <a:defRPr sz="975" b="1">
                <a:solidFill>
                  <a:srgbClr val="FFFFFF"/>
                </a:solidFill>
              </a:defRPr>
            </a:pPr>
            <a:r>
              <a:t>Question à laquelle on répond</a:t>
            </a:r>
          </a:p>
        </p:txBody>
      </p:sp>
      <p:sp>
        <p:nvSpPr>
          <p:cNvPr id="12" name="">
            <a:extLst xmlns:a="http://schemas.openxmlformats.org/drawingml/2006/main">
              <a:ext uri="{FF2B5EF4-FFF2-40B4-BE49-F238E27FC236}">
                <a16:creationId xmlns:a16="http://schemas.microsoft.com/office/drawing/2014/main" id="{957FE9DE-83E6-480A-8A34-5F1F7BF85E22}"/>
              </a:ext>
            </a:extLst>
          </p:cNvPr>
          <p:cNvSpPr>
            <a:spLocks xmlns:a="http://schemas.openxmlformats.org/drawingml/2006/main" noGrp="1"/>
          </p:cNvSpPr>
          <p:nvPr/>
        </p:nvSpPr>
        <p:spPr>
          <a:xfrm xmlns:a="http://schemas.openxmlformats.org/drawingml/2006/main">
            <a:off x="876300" y="2076450"/>
            <a:ext cx="857250" cy="323850"/>
          </a:xfrm>
          <a:prstGeom xmlns:a="http://schemas.openxmlformats.org/drawingml/2006/main" prst="rect">
            <a:avLst/>
          </a:prstGeom>
          <a:solidFill xmlns:a="http://schemas.openxmlformats.org/drawingml/2006/main">
            <a:srgbClr val="FBF8F2"/>
          </a:solidFill>
          <a:ln xmlns:a="http://schemas.openxmlformats.org/drawingml/2006/main" w="9525">
            <a:solidFill>
              <a:srgbClr val="EEE4D3"/>
            </a:solidFill>
            <a:prstDash val="solid"/>
          </a:ln>
        </p:spPr>
      </p:sp>
      <p:sp>
        <p:nvSpPr>
          <p:cNvPr id="13" name="">
            <a:extLst xmlns:a="http://schemas.openxmlformats.org/drawingml/2006/main">
              <a:ext uri="{FF2B5EF4-FFF2-40B4-BE49-F238E27FC236}">
                <a16:creationId xmlns:a16="http://schemas.microsoft.com/office/drawing/2014/main" id="{2B2B609D-57DB-4D1C-830A-4A53133ACB4A}"/>
              </a:ext>
            </a:extLst>
          </p:cNvPr>
          <p:cNvSpPr>
            <a:spLocks xmlns:a="http://schemas.openxmlformats.org/drawingml/2006/main" noGrp="1"/>
          </p:cNvSpPr>
          <p:nvPr/>
        </p:nvSpPr>
        <p:spPr>
          <a:xfrm xmlns:a="http://schemas.openxmlformats.org/drawingml/2006/main">
            <a:off x="952500" y="2143125"/>
            <a:ext cx="704850" cy="19050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lgn="l">
              <a:defRPr sz="900">
                <a:solidFill>
                  <a:srgbClr val="2F3136"/>
                </a:solidFill>
              </a:defRPr>
            </a:pPr>
            <a:r>
              <a:t>1</a:t>
            </a:r>
          </a:p>
        </p:txBody>
      </p:sp>
      <p:sp>
        <p:nvSpPr>
          <p:cNvPr id="14" name="">
            <a:extLst xmlns:a="http://schemas.openxmlformats.org/drawingml/2006/main">
              <a:ext uri="{FF2B5EF4-FFF2-40B4-BE49-F238E27FC236}">
                <a16:creationId xmlns:a16="http://schemas.microsoft.com/office/drawing/2014/main" id="{FF9A7860-CE75-4089-93D9-2F112C81AB23}"/>
              </a:ext>
            </a:extLst>
          </p:cNvPr>
          <p:cNvSpPr>
            <a:spLocks xmlns:a="http://schemas.openxmlformats.org/drawingml/2006/main" noGrp="1"/>
          </p:cNvSpPr>
          <p:nvPr/>
        </p:nvSpPr>
        <p:spPr>
          <a:xfrm xmlns:a="http://schemas.openxmlformats.org/drawingml/2006/main">
            <a:off x="1733550" y="2076450"/>
            <a:ext cx="4953000" cy="323850"/>
          </a:xfrm>
          <a:prstGeom xmlns:a="http://schemas.openxmlformats.org/drawingml/2006/main" prst="rect">
            <a:avLst/>
          </a:prstGeom>
          <a:solidFill xmlns:a="http://schemas.openxmlformats.org/drawingml/2006/main">
            <a:srgbClr val="FBF8F2"/>
          </a:solidFill>
          <a:ln xmlns:a="http://schemas.openxmlformats.org/drawingml/2006/main" w="9525">
            <a:solidFill>
              <a:srgbClr val="EEE4D3"/>
            </a:solidFill>
            <a:prstDash val="solid"/>
          </a:ln>
        </p:spPr>
      </p:sp>
      <p:sp>
        <p:nvSpPr>
          <p:cNvPr id="15" name="">
            <a:extLst xmlns:a="http://schemas.openxmlformats.org/drawingml/2006/main">
              <a:ext uri="{FF2B5EF4-FFF2-40B4-BE49-F238E27FC236}">
                <a16:creationId xmlns:a16="http://schemas.microsoft.com/office/drawing/2014/main" id="{FF53A814-79FA-4026-B291-F31DAA921EFD}"/>
              </a:ext>
            </a:extLst>
          </p:cNvPr>
          <p:cNvSpPr>
            <a:spLocks xmlns:a="http://schemas.openxmlformats.org/drawingml/2006/main" noGrp="1"/>
          </p:cNvSpPr>
          <p:nvPr/>
        </p:nvSpPr>
        <p:spPr>
          <a:xfrm xmlns:a="http://schemas.openxmlformats.org/drawingml/2006/main">
            <a:off x="1809750" y="2143125"/>
            <a:ext cx="4800600" cy="19050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lgn="ctr">
              <a:defRPr sz="900">
                <a:solidFill>
                  <a:srgbClr val="2F3136"/>
                </a:solidFill>
              </a:defRPr>
            </a:pPr>
            <a:r>
              <a:t>Contexte, IPC, motivation</a:t>
            </a:r>
          </a:p>
        </p:txBody>
      </p:sp>
      <p:sp>
        <p:nvSpPr>
          <p:cNvPr id="16" name="">
            <a:extLst xmlns:a="http://schemas.openxmlformats.org/drawingml/2006/main">
              <a:ext uri="{FF2B5EF4-FFF2-40B4-BE49-F238E27FC236}">
                <a16:creationId xmlns:a16="http://schemas.microsoft.com/office/drawing/2014/main" id="{F50264A0-B512-4B0E-896B-9287674714A3}"/>
              </a:ext>
            </a:extLst>
          </p:cNvPr>
          <p:cNvSpPr>
            <a:spLocks xmlns:a="http://schemas.openxmlformats.org/drawingml/2006/main" noGrp="1"/>
          </p:cNvSpPr>
          <p:nvPr/>
        </p:nvSpPr>
        <p:spPr>
          <a:xfrm xmlns:a="http://schemas.openxmlformats.org/drawingml/2006/main">
            <a:off x="6686550" y="2076450"/>
            <a:ext cx="4667250" cy="323850"/>
          </a:xfrm>
          <a:prstGeom xmlns:a="http://schemas.openxmlformats.org/drawingml/2006/main" prst="rect">
            <a:avLst/>
          </a:prstGeom>
          <a:solidFill xmlns:a="http://schemas.openxmlformats.org/drawingml/2006/main">
            <a:srgbClr val="FBF8F2"/>
          </a:solidFill>
          <a:ln xmlns:a="http://schemas.openxmlformats.org/drawingml/2006/main" w="9525">
            <a:solidFill>
              <a:srgbClr val="EEE4D3"/>
            </a:solidFill>
            <a:prstDash val="solid"/>
          </a:ln>
        </p:spPr>
      </p:sp>
      <p:sp>
        <p:nvSpPr>
          <p:cNvPr id="17" name="">
            <a:extLst xmlns:a="http://schemas.openxmlformats.org/drawingml/2006/main">
              <a:ext uri="{FF2B5EF4-FFF2-40B4-BE49-F238E27FC236}">
                <a16:creationId xmlns:a16="http://schemas.microsoft.com/office/drawing/2014/main" id="{5AB1036C-3A86-4DE6-BDA0-0468AA605CB4}"/>
              </a:ext>
            </a:extLst>
          </p:cNvPr>
          <p:cNvSpPr>
            <a:spLocks xmlns:a="http://schemas.openxmlformats.org/drawingml/2006/main" noGrp="1"/>
          </p:cNvSpPr>
          <p:nvPr/>
        </p:nvSpPr>
        <p:spPr>
          <a:xfrm xmlns:a="http://schemas.openxmlformats.org/drawingml/2006/main">
            <a:off x="6762750" y="2143125"/>
            <a:ext cx="4514850" cy="19050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lgn="ctr">
              <a:defRPr sz="900">
                <a:solidFill>
                  <a:srgbClr val="2F3136"/>
                </a:solidFill>
              </a:defRPr>
            </a:pPr>
            <a:r>
              <a:t>Pourquoi ce sujet est important et comment le cadrer proprement ?</a:t>
            </a:r>
          </a:p>
        </p:txBody>
      </p:sp>
      <p:sp>
        <p:nvSpPr>
          <p:cNvPr id="18" name="">
            <a:extLst xmlns:a="http://schemas.openxmlformats.org/drawingml/2006/main">
              <a:ext uri="{FF2B5EF4-FFF2-40B4-BE49-F238E27FC236}">
                <a16:creationId xmlns:a16="http://schemas.microsoft.com/office/drawing/2014/main" id="{A0D12AB4-CADD-4F28-BE07-EBFBB476D704}"/>
              </a:ext>
            </a:extLst>
          </p:cNvPr>
          <p:cNvSpPr>
            <a:spLocks xmlns:a="http://schemas.openxmlformats.org/drawingml/2006/main" noGrp="1"/>
          </p:cNvSpPr>
          <p:nvPr/>
        </p:nvSpPr>
        <p:spPr>
          <a:xfrm xmlns:a="http://schemas.openxmlformats.org/drawingml/2006/main">
            <a:off x="876300" y="2400300"/>
            <a:ext cx="857250" cy="323850"/>
          </a:xfrm>
          <a:prstGeom xmlns:a="http://schemas.openxmlformats.org/drawingml/2006/main" prst="rect">
            <a:avLst/>
          </a:prstGeom>
          <a:solidFill xmlns:a="http://schemas.openxmlformats.org/drawingml/2006/main">
            <a:srgbClr val="FFFFFF"/>
          </a:solidFill>
          <a:ln xmlns:a="http://schemas.openxmlformats.org/drawingml/2006/main" w="9525">
            <a:solidFill>
              <a:srgbClr val="EEE4D3"/>
            </a:solidFill>
            <a:prstDash val="solid"/>
          </a:ln>
        </p:spPr>
      </p:sp>
      <p:sp>
        <p:nvSpPr>
          <p:cNvPr id="19" name="">
            <a:extLst xmlns:a="http://schemas.openxmlformats.org/drawingml/2006/main">
              <a:ext uri="{FF2B5EF4-FFF2-40B4-BE49-F238E27FC236}">
                <a16:creationId xmlns:a16="http://schemas.microsoft.com/office/drawing/2014/main" id="{ACFEA5B8-8BBB-4D59-868C-B4CCB2A802E5}"/>
              </a:ext>
            </a:extLst>
          </p:cNvPr>
          <p:cNvSpPr>
            <a:spLocks xmlns:a="http://schemas.openxmlformats.org/drawingml/2006/main" noGrp="1"/>
          </p:cNvSpPr>
          <p:nvPr/>
        </p:nvSpPr>
        <p:spPr>
          <a:xfrm xmlns:a="http://schemas.openxmlformats.org/drawingml/2006/main">
            <a:off x="952500" y="2466975"/>
            <a:ext cx="704850" cy="19050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lgn="l">
              <a:defRPr sz="900">
                <a:solidFill>
                  <a:srgbClr val="2F3136"/>
                </a:solidFill>
              </a:defRPr>
            </a:pPr>
            <a:r>
              <a:t>2</a:t>
            </a:r>
          </a:p>
        </p:txBody>
      </p:sp>
      <p:sp>
        <p:nvSpPr>
          <p:cNvPr id="20" name="">
            <a:extLst xmlns:a="http://schemas.openxmlformats.org/drawingml/2006/main">
              <a:ext uri="{FF2B5EF4-FFF2-40B4-BE49-F238E27FC236}">
                <a16:creationId xmlns:a16="http://schemas.microsoft.com/office/drawing/2014/main" id="{8E37886B-14D5-401D-836A-C9E711AA898A}"/>
              </a:ext>
            </a:extLst>
          </p:cNvPr>
          <p:cNvSpPr>
            <a:spLocks xmlns:a="http://schemas.openxmlformats.org/drawingml/2006/main" noGrp="1"/>
          </p:cNvSpPr>
          <p:nvPr/>
        </p:nvSpPr>
        <p:spPr>
          <a:xfrm xmlns:a="http://schemas.openxmlformats.org/drawingml/2006/main">
            <a:off x="1733550" y="2400300"/>
            <a:ext cx="4953000" cy="323850"/>
          </a:xfrm>
          <a:prstGeom xmlns:a="http://schemas.openxmlformats.org/drawingml/2006/main" prst="rect">
            <a:avLst/>
          </a:prstGeom>
          <a:solidFill xmlns:a="http://schemas.openxmlformats.org/drawingml/2006/main">
            <a:srgbClr val="FFFFFF"/>
          </a:solidFill>
          <a:ln xmlns:a="http://schemas.openxmlformats.org/drawingml/2006/main" w="9525">
            <a:solidFill>
              <a:srgbClr val="EEE4D3"/>
            </a:solidFill>
            <a:prstDash val="solid"/>
          </a:ln>
        </p:spPr>
      </p:sp>
      <p:sp>
        <p:nvSpPr>
          <p:cNvPr id="21" name="">
            <a:extLst xmlns:a="http://schemas.openxmlformats.org/drawingml/2006/main">
              <a:ext uri="{FF2B5EF4-FFF2-40B4-BE49-F238E27FC236}">
                <a16:creationId xmlns:a16="http://schemas.microsoft.com/office/drawing/2014/main" id="{5DC008E9-C509-4A5F-9B8F-83A5BBAE8623}"/>
              </a:ext>
            </a:extLst>
          </p:cNvPr>
          <p:cNvSpPr>
            <a:spLocks xmlns:a="http://schemas.openxmlformats.org/drawingml/2006/main" noGrp="1"/>
          </p:cNvSpPr>
          <p:nvPr/>
        </p:nvSpPr>
        <p:spPr>
          <a:xfrm xmlns:a="http://schemas.openxmlformats.org/drawingml/2006/main">
            <a:off x="1809750" y="2466975"/>
            <a:ext cx="4800600" cy="19050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lgn="ctr">
              <a:defRPr sz="900">
                <a:solidFill>
                  <a:srgbClr val="2F3136"/>
                </a:solidFill>
              </a:defRPr>
            </a:pPr>
            <a:r>
              <a:t>Données et architecture</a:t>
            </a:r>
          </a:p>
        </p:txBody>
      </p:sp>
      <p:sp>
        <p:nvSpPr>
          <p:cNvPr id="22" name="">
            <a:extLst xmlns:a="http://schemas.openxmlformats.org/drawingml/2006/main">
              <a:ext uri="{FF2B5EF4-FFF2-40B4-BE49-F238E27FC236}">
                <a16:creationId xmlns:a16="http://schemas.microsoft.com/office/drawing/2014/main" id="{7ECA77DA-671E-463D-9CDC-34C2BD89CE13}"/>
              </a:ext>
            </a:extLst>
          </p:cNvPr>
          <p:cNvSpPr>
            <a:spLocks xmlns:a="http://schemas.openxmlformats.org/drawingml/2006/main" noGrp="1"/>
          </p:cNvSpPr>
          <p:nvPr/>
        </p:nvSpPr>
        <p:spPr>
          <a:xfrm xmlns:a="http://schemas.openxmlformats.org/drawingml/2006/main">
            <a:off x="6686550" y="2400300"/>
            <a:ext cx="4667250" cy="323850"/>
          </a:xfrm>
          <a:prstGeom xmlns:a="http://schemas.openxmlformats.org/drawingml/2006/main" prst="rect">
            <a:avLst/>
          </a:prstGeom>
          <a:solidFill xmlns:a="http://schemas.openxmlformats.org/drawingml/2006/main">
            <a:srgbClr val="FFFFFF"/>
          </a:solidFill>
          <a:ln xmlns:a="http://schemas.openxmlformats.org/drawingml/2006/main" w="9525">
            <a:solidFill>
              <a:srgbClr val="EEE4D3"/>
            </a:solidFill>
            <a:prstDash val="solid"/>
          </a:ln>
        </p:spPr>
      </p:sp>
      <p:sp>
        <p:nvSpPr>
          <p:cNvPr id="23" name="">
            <a:extLst xmlns:a="http://schemas.openxmlformats.org/drawingml/2006/main">
              <a:ext uri="{FF2B5EF4-FFF2-40B4-BE49-F238E27FC236}">
                <a16:creationId xmlns:a16="http://schemas.microsoft.com/office/drawing/2014/main" id="{F534AB5A-400A-4360-B6F3-A065B4E4E82F}"/>
              </a:ext>
            </a:extLst>
          </p:cNvPr>
          <p:cNvSpPr>
            <a:spLocks xmlns:a="http://schemas.openxmlformats.org/drawingml/2006/main" noGrp="1"/>
          </p:cNvSpPr>
          <p:nvPr/>
        </p:nvSpPr>
        <p:spPr>
          <a:xfrm xmlns:a="http://schemas.openxmlformats.org/drawingml/2006/main">
            <a:off x="6762750" y="2466975"/>
            <a:ext cx="4514850" cy="19050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lgn="ctr">
              <a:defRPr sz="900">
                <a:solidFill>
                  <a:srgbClr val="2F3136"/>
                </a:solidFill>
              </a:defRPr>
            </a:pPr>
            <a:r>
              <a:t>Sur quelles sources et quelle pipeline repose le projet ?</a:t>
            </a:r>
          </a:p>
        </p:txBody>
      </p:sp>
      <p:sp>
        <p:nvSpPr>
          <p:cNvPr id="24" name="">
            <a:extLst xmlns:a="http://schemas.openxmlformats.org/drawingml/2006/main">
              <a:ext uri="{FF2B5EF4-FFF2-40B4-BE49-F238E27FC236}">
                <a16:creationId xmlns:a16="http://schemas.microsoft.com/office/drawing/2014/main" id="{781768FC-ADD5-4EDD-BEA1-7BAF6094B8AF}"/>
              </a:ext>
            </a:extLst>
          </p:cNvPr>
          <p:cNvSpPr>
            <a:spLocks xmlns:a="http://schemas.openxmlformats.org/drawingml/2006/main" noGrp="1"/>
          </p:cNvSpPr>
          <p:nvPr/>
        </p:nvSpPr>
        <p:spPr>
          <a:xfrm xmlns:a="http://schemas.openxmlformats.org/drawingml/2006/main">
            <a:off x="876300" y="2724150"/>
            <a:ext cx="857250" cy="323850"/>
          </a:xfrm>
          <a:prstGeom xmlns:a="http://schemas.openxmlformats.org/drawingml/2006/main" prst="rect">
            <a:avLst/>
          </a:prstGeom>
          <a:solidFill xmlns:a="http://schemas.openxmlformats.org/drawingml/2006/main">
            <a:srgbClr val="FBF8F2"/>
          </a:solidFill>
          <a:ln xmlns:a="http://schemas.openxmlformats.org/drawingml/2006/main" w="9525">
            <a:solidFill>
              <a:srgbClr val="EEE4D3"/>
            </a:solidFill>
            <a:prstDash val="solid"/>
          </a:ln>
        </p:spPr>
      </p:sp>
      <p:sp>
        <p:nvSpPr>
          <p:cNvPr id="25" name="">
            <a:extLst xmlns:a="http://schemas.openxmlformats.org/drawingml/2006/main">
              <a:ext uri="{FF2B5EF4-FFF2-40B4-BE49-F238E27FC236}">
                <a16:creationId xmlns:a16="http://schemas.microsoft.com/office/drawing/2014/main" id="{120DF20A-990F-4E70-BA2B-FD0F07D526CE}"/>
              </a:ext>
            </a:extLst>
          </p:cNvPr>
          <p:cNvSpPr>
            <a:spLocks xmlns:a="http://schemas.openxmlformats.org/drawingml/2006/main" noGrp="1"/>
          </p:cNvSpPr>
          <p:nvPr/>
        </p:nvSpPr>
        <p:spPr>
          <a:xfrm xmlns:a="http://schemas.openxmlformats.org/drawingml/2006/main">
            <a:off x="952500" y="2790825"/>
            <a:ext cx="704850" cy="19050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lgn="l">
              <a:defRPr sz="900">
                <a:solidFill>
                  <a:srgbClr val="2F3136"/>
                </a:solidFill>
              </a:defRPr>
            </a:pPr>
            <a:r>
              <a:t>3</a:t>
            </a:r>
          </a:p>
        </p:txBody>
      </p:sp>
      <p:sp>
        <p:nvSpPr>
          <p:cNvPr id="26" name="">
            <a:extLst xmlns:a="http://schemas.openxmlformats.org/drawingml/2006/main">
              <a:ext uri="{FF2B5EF4-FFF2-40B4-BE49-F238E27FC236}">
                <a16:creationId xmlns:a16="http://schemas.microsoft.com/office/drawing/2014/main" id="{F8782F7A-EFCE-45EC-8CDF-83B49BE9F509}"/>
              </a:ext>
            </a:extLst>
          </p:cNvPr>
          <p:cNvSpPr>
            <a:spLocks xmlns:a="http://schemas.openxmlformats.org/drawingml/2006/main" noGrp="1"/>
          </p:cNvSpPr>
          <p:nvPr/>
        </p:nvSpPr>
        <p:spPr>
          <a:xfrm xmlns:a="http://schemas.openxmlformats.org/drawingml/2006/main">
            <a:off x="1733550" y="2724150"/>
            <a:ext cx="4953000" cy="323850"/>
          </a:xfrm>
          <a:prstGeom xmlns:a="http://schemas.openxmlformats.org/drawingml/2006/main" prst="rect">
            <a:avLst/>
          </a:prstGeom>
          <a:solidFill xmlns:a="http://schemas.openxmlformats.org/drawingml/2006/main">
            <a:srgbClr val="FBF8F2"/>
          </a:solidFill>
          <a:ln xmlns:a="http://schemas.openxmlformats.org/drawingml/2006/main" w="9525">
            <a:solidFill>
              <a:srgbClr val="EEE4D3"/>
            </a:solidFill>
            <a:prstDash val="solid"/>
          </a:ln>
        </p:spPr>
      </p:sp>
      <p:sp>
        <p:nvSpPr>
          <p:cNvPr id="27" name="">
            <a:extLst xmlns:a="http://schemas.openxmlformats.org/drawingml/2006/main">
              <a:ext uri="{FF2B5EF4-FFF2-40B4-BE49-F238E27FC236}">
                <a16:creationId xmlns:a16="http://schemas.microsoft.com/office/drawing/2014/main" id="{F3C1B225-427C-4009-A2FA-283B8A27CA30}"/>
              </a:ext>
            </a:extLst>
          </p:cNvPr>
          <p:cNvSpPr>
            <a:spLocks xmlns:a="http://schemas.openxmlformats.org/drawingml/2006/main" noGrp="1"/>
          </p:cNvSpPr>
          <p:nvPr/>
        </p:nvSpPr>
        <p:spPr>
          <a:xfrm xmlns:a="http://schemas.openxmlformats.org/drawingml/2006/main">
            <a:off x="1809750" y="2790825"/>
            <a:ext cx="4800600" cy="19050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lgn="ctr">
              <a:defRPr sz="900">
                <a:solidFill>
                  <a:srgbClr val="2F3136"/>
                </a:solidFill>
              </a:defRPr>
            </a:pPr>
            <a:r>
              <a:t>Construction du BESI</a:t>
            </a:r>
          </a:p>
        </p:txBody>
      </p:sp>
      <p:sp>
        <p:nvSpPr>
          <p:cNvPr id="28" name="">
            <a:extLst xmlns:a="http://schemas.openxmlformats.org/drawingml/2006/main">
              <a:ext uri="{FF2B5EF4-FFF2-40B4-BE49-F238E27FC236}">
                <a16:creationId xmlns:a16="http://schemas.microsoft.com/office/drawing/2014/main" id="{D91E79CD-6A88-47A3-9662-D91A42C1FB5A}"/>
              </a:ext>
            </a:extLst>
          </p:cNvPr>
          <p:cNvSpPr>
            <a:spLocks xmlns:a="http://schemas.openxmlformats.org/drawingml/2006/main" noGrp="1"/>
          </p:cNvSpPr>
          <p:nvPr/>
        </p:nvSpPr>
        <p:spPr>
          <a:xfrm xmlns:a="http://schemas.openxmlformats.org/drawingml/2006/main">
            <a:off x="6686550" y="2724150"/>
            <a:ext cx="4667250" cy="323850"/>
          </a:xfrm>
          <a:prstGeom xmlns:a="http://schemas.openxmlformats.org/drawingml/2006/main" prst="rect">
            <a:avLst/>
          </a:prstGeom>
          <a:solidFill xmlns:a="http://schemas.openxmlformats.org/drawingml/2006/main">
            <a:srgbClr val="FBF8F2"/>
          </a:solidFill>
          <a:ln xmlns:a="http://schemas.openxmlformats.org/drawingml/2006/main" w="9525">
            <a:solidFill>
              <a:srgbClr val="EEE4D3"/>
            </a:solidFill>
            <a:prstDash val="solid"/>
          </a:ln>
        </p:spPr>
      </p:sp>
      <p:sp>
        <p:nvSpPr>
          <p:cNvPr id="29" name="">
            <a:extLst xmlns:a="http://schemas.openxmlformats.org/drawingml/2006/main">
              <a:ext uri="{FF2B5EF4-FFF2-40B4-BE49-F238E27FC236}">
                <a16:creationId xmlns:a16="http://schemas.microsoft.com/office/drawing/2014/main" id="{1A9AA8AB-4CC2-487A-B722-8091AAE7B122}"/>
              </a:ext>
            </a:extLst>
          </p:cNvPr>
          <p:cNvSpPr>
            <a:spLocks xmlns:a="http://schemas.openxmlformats.org/drawingml/2006/main" noGrp="1"/>
          </p:cNvSpPr>
          <p:nvPr/>
        </p:nvSpPr>
        <p:spPr>
          <a:xfrm xmlns:a="http://schemas.openxmlformats.org/drawingml/2006/main">
            <a:off x="6762750" y="2790825"/>
            <a:ext cx="4514850" cy="19050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lgn="ctr">
              <a:defRPr sz="900">
                <a:solidFill>
                  <a:srgbClr val="2F3136"/>
                </a:solidFill>
              </a:defRPr>
            </a:pPr>
            <a:r>
              <a:t>Que mesure exactement l’indice et comment éviter le leakage ?</a:t>
            </a:r>
          </a:p>
        </p:txBody>
      </p:sp>
      <p:sp>
        <p:nvSpPr>
          <p:cNvPr id="30" name="">
            <a:extLst xmlns:a="http://schemas.openxmlformats.org/drawingml/2006/main">
              <a:ext uri="{FF2B5EF4-FFF2-40B4-BE49-F238E27FC236}">
                <a16:creationId xmlns:a16="http://schemas.microsoft.com/office/drawing/2014/main" id="{ECE689E8-D0D9-4F64-8EC5-D7462EF2E97B}"/>
              </a:ext>
            </a:extLst>
          </p:cNvPr>
          <p:cNvSpPr>
            <a:spLocks xmlns:a="http://schemas.openxmlformats.org/drawingml/2006/main" noGrp="1"/>
          </p:cNvSpPr>
          <p:nvPr/>
        </p:nvSpPr>
        <p:spPr>
          <a:xfrm xmlns:a="http://schemas.openxmlformats.org/drawingml/2006/main">
            <a:off x="876300" y="3048000"/>
            <a:ext cx="857250" cy="323850"/>
          </a:xfrm>
          <a:prstGeom xmlns:a="http://schemas.openxmlformats.org/drawingml/2006/main" prst="rect">
            <a:avLst/>
          </a:prstGeom>
          <a:solidFill xmlns:a="http://schemas.openxmlformats.org/drawingml/2006/main">
            <a:srgbClr val="FFFFFF"/>
          </a:solidFill>
          <a:ln xmlns:a="http://schemas.openxmlformats.org/drawingml/2006/main" w="9525">
            <a:solidFill>
              <a:srgbClr val="EEE4D3"/>
            </a:solidFill>
            <a:prstDash val="solid"/>
          </a:ln>
        </p:spPr>
      </p:sp>
      <p:sp>
        <p:nvSpPr>
          <p:cNvPr id="31" name="">
            <a:extLst xmlns:a="http://schemas.openxmlformats.org/drawingml/2006/main">
              <a:ext uri="{FF2B5EF4-FFF2-40B4-BE49-F238E27FC236}">
                <a16:creationId xmlns:a16="http://schemas.microsoft.com/office/drawing/2014/main" id="{795C573F-8DC8-442D-A03B-8431216A01CF}"/>
              </a:ext>
            </a:extLst>
          </p:cNvPr>
          <p:cNvSpPr>
            <a:spLocks xmlns:a="http://schemas.openxmlformats.org/drawingml/2006/main" noGrp="1"/>
          </p:cNvSpPr>
          <p:nvPr/>
        </p:nvSpPr>
        <p:spPr>
          <a:xfrm xmlns:a="http://schemas.openxmlformats.org/drawingml/2006/main">
            <a:off x="952500" y="3114675"/>
            <a:ext cx="704850" cy="19050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lgn="l">
              <a:defRPr sz="900">
                <a:solidFill>
                  <a:srgbClr val="2F3136"/>
                </a:solidFill>
              </a:defRPr>
            </a:pPr>
            <a:r>
              <a:t>4</a:t>
            </a:r>
          </a:p>
        </p:txBody>
      </p:sp>
      <p:sp>
        <p:nvSpPr>
          <p:cNvPr id="32" name="">
            <a:extLst xmlns:a="http://schemas.openxmlformats.org/drawingml/2006/main">
              <a:ext uri="{FF2B5EF4-FFF2-40B4-BE49-F238E27FC236}">
                <a16:creationId xmlns:a16="http://schemas.microsoft.com/office/drawing/2014/main" id="{E543DA69-544D-4731-B7AE-09BF54CB8963}"/>
              </a:ext>
            </a:extLst>
          </p:cNvPr>
          <p:cNvSpPr>
            <a:spLocks xmlns:a="http://schemas.openxmlformats.org/drawingml/2006/main" noGrp="1"/>
          </p:cNvSpPr>
          <p:nvPr/>
        </p:nvSpPr>
        <p:spPr>
          <a:xfrm xmlns:a="http://schemas.openxmlformats.org/drawingml/2006/main">
            <a:off x="1733550" y="3048000"/>
            <a:ext cx="4953000" cy="323850"/>
          </a:xfrm>
          <a:prstGeom xmlns:a="http://schemas.openxmlformats.org/drawingml/2006/main" prst="rect">
            <a:avLst/>
          </a:prstGeom>
          <a:solidFill xmlns:a="http://schemas.openxmlformats.org/drawingml/2006/main">
            <a:srgbClr val="FFFFFF"/>
          </a:solidFill>
          <a:ln xmlns:a="http://schemas.openxmlformats.org/drawingml/2006/main" w="9525">
            <a:solidFill>
              <a:srgbClr val="EEE4D3"/>
            </a:solidFill>
            <a:prstDash val="solid"/>
          </a:ln>
        </p:spPr>
      </p:sp>
      <p:sp>
        <p:nvSpPr>
          <p:cNvPr id="33" name="">
            <a:extLst xmlns:a="http://schemas.openxmlformats.org/drawingml/2006/main">
              <a:ext uri="{FF2B5EF4-FFF2-40B4-BE49-F238E27FC236}">
                <a16:creationId xmlns:a16="http://schemas.microsoft.com/office/drawing/2014/main" id="{1AD3B9F7-6E37-4907-88B9-10858271767F}"/>
              </a:ext>
            </a:extLst>
          </p:cNvPr>
          <p:cNvSpPr>
            <a:spLocks xmlns:a="http://schemas.openxmlformats.org/drawingml/2006/main" noGrp="1"/>
          </p:cNvSpPr>
          <p:nvPr/>
        </p:nvSpPr>
        <p:spPr>
          <a:xfrm xmlns:a="http://schemas.openxmlformats.org/drawingml/2006/main">
            <a:off x="1809750" y="3114675"/>
            <a:ext cx="4800600" cy="19050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lgn="ctr">
              <a:defRPr sz="900">
                <a:solidFill>
                  <a:srgbClr val="2F3136"/>
                </a:solidFill>
              </a:defRPr>
            </a:pPr>
            <a:r>
              <a:t>Modèles et protocole</a:t>
            </a:r>
          </a:p>
        </p:txBody>
      </p:sp>
      <p:sp>
        <p:nvSpPr>
          <p:cNvPr id="34" name="">
            <a:extLst xmlns:a="http://schemas.openxmlformats.org/drawingml/2006/main">
              <a:ext uri="{FF2B5EF4-FFF2-40B4-BE49-F238E27FC236}">
                <a16:creationId xmlns:a16="http://schemas.microsoft.com/office/drawing/2014/main" id="{8C7526E9-25E2-4436-B811-76E38F00D3E0}"/>
              </a:ext>
            </a:extLst>
          </p:cNvPr>
          <p:cNvSpPr>
            <a:spLocks xmlns:a="http://schemas.openxmlformats.org/drawingml/2006/main" noGrp="1"/>
          </p:cNvSpPr>
          <p:nvPr/>
        </p:nvSpPr>
        <p:spPr>
          <a:xfrm xmlns:a="http://schemas.openxmlformats.org/drawingml/2006/main">
            <a:off x="6686550" y="3048000"/>
            <a:ext cx="4667250" cy="323850"/>
          </a:xfrm>
          <a:prstGeom xmlns:a="http://schemas.openxmlformats.org/drawingml/2006/main" prst="rect">
            <a:avLst/>
          </a:prstGeom>
          <a:solidFill xmlns:a="http://schemas.openxmlformats.org/drawingml/2006/main">
            <a:srgbClr val="FFFFFF"/>
          </a:solidFill>
          <a:ln xmlns:a="http://schemas.openxmlformats.org/drawingml/2006/main" w="9525">
            <a:solidFill>
              <a:srgbClr val="EEE4D3"/>
            </a:solidFill>
            <a:prstDash val="solid"/>
          </a:ln>
        </p:spPr>
      </p:sp>
      <p:sp>
        <p:nvSpPr>
          <p:cNvPr id="35" name="">
            <a:extLst xmlns:a="http://schemas.openxmlformats.org/drawingml/2006/main">
              <a:ext uri="{FF2B5EF4-FFF2-40B4-BE49-F238E27FC236}">
                <a16:creationId xmlns:a16="http://schemas.microsoft.com/office/drawing/2014/main" id="{6C6FC0CC-8B73-460E-BD2D-FC91BAA1F6A8}"/>
              </a:ext>
            </a:extLst>
          </p:cNvPr>
          <p:cNvSpPr>
            <a:spLocks xmlns:a="http://schemas.openxmlformats.org/drawingml/2006/main" noGrp="1"/>
          </p:cNvSpPr>
          <p:nvPr/>
        </p:nvSpPr>
        <p:spPr>
          <a:xfrm xmlns:a="http://schemas.openxmlformats.org/drawingml/2006/main">
            <a:off x="6762750" y="3114675"/>
            <a:ext cx="4514850" cy="19050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lgn="ctr">
              <a:defRPr sz="900">
                <a:solidFill>
                  <a:srgbClr val="2F3136"/>
                </a:solidFill>
              </a:defRPr>
            </a:pPr>
            <a:r>
              <a:t>Comment évaluer sérieusement forecasting et détection de régime ?</a:t>
            </a:r>
          </a:p>
        </p:txBody>
      </p:sp>
      <p:sp>
        <p:nvSpPr>
          <p:cNvPr id="36" name="">
            <a:extLst xmlns:a="http://schemas.openxmlformats.org/drawingml/2006/main">
              <a:ext uri="{FF2B5EF4-FFF2-40B4-BE49-F238E27FC236}">
                <a16:creationId xmlns:a16="http://schemas.microsoft.com/office/drawing/2014/main" id="{C0C600F4-9508-4255-8087-9E83AE6934A2}"/>
              </a:ext>
            </a:extLst>
          </p:cNvPr>
          <p:cNvSpPr>
            <a:spLocks xmlns:a="http://schemas.openxmlformats.org/drawingml/2006/main" noGrp="1"/>
          </p:cNvSpPr>
          <p:nvPr/>
        </p:nvSpPr>
        <p:spPr>
          <a:xfrm xmlns:a="http://schemas.openxmlformats.org/drawingml/2006/main">
            <a:off x="876300" y="3371850"/>
            <a:ext cx="857250" cy="323850"/>
          </a:xfrm>
          <a:prstGeom xmlns:a="http://schemas.openxmlformats.org/drawingml/2006/main" prst="rect">
            <a:avLst/>
          </a:prstGeom>
          <a:solidFill xmlns:a="http://schemas.openxmlformats.org/drawingml/2006/main">
            <a:srgbClr val="FBF8F2"/>
          </a:solidFill>
          <a:ln xmlns:a="http://schemas.openxmlformats.org/drawingml/2006/main" w="9525">
            <a:solidFill>
              <a:srgbClr val="EEE4D3"/>
            </a:solidFill>
            <a:prstDash val="solid"/>
          </a:ln>
        </p:spPr>
      </p:sp>
      <p:sp>
        <p:nvSpPr>
          <p:cNvPr id="37" name="">
            <a:extLst xmlns:a="http://schemas.openxmlformats.org/drawingml/2006/main">
              <a:ext uri="{FF2B5EF4-FFF2-40B4-BE49-F238E27FC236}">
                <a16:creationId xmlns:a16="http://schemas.microsoft.com/office/drawing/2014/main" id="{22EEC20B-784D-4D78-9EAD-94D8DCEF2473}"/>
              </a:ext>
            </a:extLst>
          </p:cNvPr>
          <p:cNvSpPr>
            <a:spLocks xmlns:a="http://schemas.openxmlformats.org/drawingml/2006/main" noGrp="1"/>
          </p:cNvSpPr>
          <p:nvPr/>
        </p:nvSpPr>
        <p:spPr>
          <a:xfrm xmlns:a="http://schemas.openxmlformats.org/drawingml/2006/main">
            <a:off x="952500" y="3438525"/>
            <a:ext cx="704850" cy="19050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lgn="l">
              <a:defRPr sz="900">
                <a:solidFill>
                  <a:srgbClr val="2F3136"/>
                </a:solidFill>
              </a:defRPr>
            </a:pPr>
            <a:r>
              <a:t>5</a:t>
            </a:r>
          </a:p>
        </p:txBody>
      </p:sp>
      <p:sp>
        <p:nvSpPr>
          <p:cNvPr id="38" name="">
            <a:extLst xmlns:a="http://schemas.openxmlformats.org/drawingml/2006/main">
              <a:ext uri="{FF2B5EF4-FFF2-40B4-BE49-F238E27FC236}">
                <a16:creationId xmlns:a16="http://schemas.microsoft.com/office/drawing/2014/main" id="{A099FAB2-9F68-43CD-9C24-334DCE395C48}"/>
              </a:ext>
            </a:extLst>
          </p:cNvPr>
          <p:cNvSpPr>
            <a:spLocks xmlns:a="http://schemas.openxmlformats.org/drawingml/2006/main" noGrp="1"/>
          </p:cNvSpPr>
          <p:nvPr/>
        </p:nvSpPr>
        <p:spPr>
          <a:xfrm xmlns:a="http://schemas.openxmlformats.org/drawingml/2006/main">
            <a:off x="1733550" y="3371850"/>
            <a:ext cx="4953000" cy="323850"/>
          </a:xfrm>
          <a:prstGeom xmlns:a="http://schemas.openxmlformats.org/drawingml/2006/main" prst="rect">
            <a:avLst/>
          </a:prstGeom>
          <a:solidFill xmlns:a="http://schemas.openxmlformats.org/drawingml/2006/main">
            <a:srgbClr val="FBF8F2"/>
          </a:solidFill>
          <a:ln xmlns:a="http://schemas.openxmlformats.org/drawingml/2006/main" w="9525">
            <a:solidFill>
              <a:srgbClr val="EEE4D3"/>
            </a:solidFill>
            <a:prstDash val="solid"/>
          </a:ln>
        </p:spPr>
      </p:sp>
      <p:sp>
        <p:nvSpPr>
          <p:cNvPr id="39" name="">
            <a:extLst xmlns:a="http://schemas.openxmlformats.org/drawingml/2006/main">
              <a:ext uri="{FF2B5EF4-FFF2-40B4-BE49-F238E27FC236}">
                <a16:creationId xmlns:a16="http://schemas.microsoft.com/office/drawing/2014/main" id="{A17CD2F3-D4D4-4C01-B40F-557FB96FCBAC}"/>
              </a:ext>
            </a:extLst>
          </p:cNvPr>
          <p:cNvSpPr>
            <a:spLocks xmlns:a="http://schemas.openxmlformats.org/drawingml/2006/main" noGrp="1"/>
          </p:cNvSpPr>
          <p:nvPr/>
        </p:nvSpPr>
        <p:spPr>
          <a:xfrm xmlns:a="http://schemas.openxmlformats.org/drawingml/2006/main">
            <a:off x="1809750" y="3438525"/>
            <a:ext cx="4800600" cy="19050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lgn="ctr">
              <a:defRPr sz="900">
                <a:solidFill>
                  <a:srgbClr val="2F3136"/>
                </a:solidFill>
              </a:defRPr>
            </a:pPr>
            <a:r>
              <a:t>Résultats principaux</a:t>
            </a:r>
          </a:p>
        </p:txBody>
      </p:sp>
      <p:sp>
        <p:nvSpPr>
          <p:cNvPr id="40" name="">
            <a:extLst xmlns:a="http://schemas.openxmlformats.org/drawingml/2006/main">
              <a:ext uri="{FF2B5EF4-FFF2-40B4-BE49-F238E27FC236}">
                <a16:creationId xmlns:a16="http://schemas.microsoft.com/office/drawing/2014/main" id="{CEE0A4D5-9B5D-49F3-A326-56DA6B3DBACA}"/>
              </a:ext>
            </a:extLst>
          </p:cNvPr>
          <p:cNvSpPr>
            <a:spLocks xmlns:a="http://schemas.openxmlformats.org/drawingml/2006/main" noGrp="1"/>
          </p:cNvSpPr>
          <p:nvPr/>
        </p:nvSpPr>
        <p:spPr>
          <a:xfrm xmlns:a="http://schemas.openxmlformats.org/drawingml/2006/main">
            <a:off x="6686550" y="3371850"/>
            <a:ext cx="4667250" cy="323850"/>
          </a:xfrm>
          <a:prstGeom xmlns:a="http://schemas.openxmlformats.org/drawingml/2006/main" prst="rect">
            <a:avLst/>
          </a:prstGeom>
          <a:solidFill xmlns:a="http://schemas.openxmlformats.org/drawingml/2006/main">
            <a:srgbClr val="FBF8F2"/>
          </a:solidFill>
          <a:ln xmlns:a="http://schemas.openxmlformats.org/drawingml/2006/main" w="9525">
            <a:solidFill>
              <a:srgbClr val="EEE4D3"/>
            </a:solidFill>
            <a:prstDash val="solid"/>
          </a:ln>
        </p:spPr>
      </p:sp>
      <p:sp>
        <p:nvSpPr>
          <p:cNvPr id="41" name="">
            <a:extLst xmlns:a="http://schemas.openxmlformats.org/drawingml/2006/main">
              <a:ext uri="{FF2B5EF4-FFF2-40B4-BE49-F238E27FC236}">
                <a16:creationId xmlns:a16="http://schemas.microsoft.com/office/drawing/2014/main" id="{882BD596-9F5A-4117-BF26-997D1EB8BA4E}"/>
              </a:ext>
            </a:extLst>
          </p:cNvPr>
          <p:cNvSpPr>
            <a:spLocks xmlns:a="http://schemas.openxmlformats.org/drawingml/2006/main" noGrp="1"/>
          </p:cNvSpPr>
          <p:nvPr/>
        </p:nvSpPr>
        <p:spPr>
          <a:xfrm xmlns:a="http://schemas.openxmlformats.org/drawingml/2006/main">
            <a:off x="6762750" y="3438525"/>
            <a:ext cx="4514850" cy="19050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lgn="ctr">
              <a:defRPr sz="900">
                <a:solidFill>
                  <a:srgbClr val="2F3136"/>
                </a:solidFill>
              </a:defRPr>
            </a:pPr>
            <a:r>
              <a:t>Qu’est-ce qui est vraiment démontré par les chiffres ?</a:t>
            </a:r>
          </a:p>
        </p:txBody>
      </p:sp>
      <p:sp>
        <p:nvSpPr>
          <p:cNvPr id="42" name="">
            <a:extLst xmlns:a="http://schemas.openxmlformats.org/drawingml/2006/main">
              <a:ext uri="{FF2B5EF4-FFF2-40B4-BE49-F238E27FC236}">
                <a16:creationId xmlns:a16="http://schemas.microsoft.com/office/drawing/2014/main" id="{92501689-138C-4DF4-835F-A92BE9E4F1AC}"/>
              </a:ext>
            </a:extLst>
          </p:cNvPr>
          <p:cNvSpPr>
            <a:spLocks xmlns:a="http://schemas.openxmlformats.org/drawingml/2006/main" noGrp="1"/>
          </p:cNvSpPr>
          <p:nvPr/>
        </p:nvSpPr>
        <p:spPr>
          <a:xfrm xmlns:a="http://schemas.openxmlformats.org/drawingml/2006/main">
            <a:off x="876300" y="3695700"/>
            <a:ext cx="857250" cy="323850"/>
          </a:xfrm>
          <a:prstGeom xmlns:a="http://schemas.openxmlformats.org/drawingml/2006/main" prst="rect">
            <a:avLst/>
          </a:prstGeom>
          <a:solidFill xmlns:a="http://schemas.openxmlformats.org/drawingml/2006/main">
            <a:srgbClr val="FFFFFF"/>
          </a:solidFill>
          <a:ln xmlns:a="http://schemas.openxmlformats.org/drawingml/2006/main" w="9525">
            <a:solidFill>
              <a:srgbClr val="EEE4D3"/>
            </a:solidFill>
            <a:prstDash val="solid"/>
          </a:ln>
        </p:spPr>
      </p:sp>
      <p:sp>
        <p:nvSpPr>
          <p:cNvPr id="43" name="">
            <a:extLst xmlns:a="http://schemas.openxmlformats.org/drawingml/2006/main">
              <a:ext uri="{FF2B5EF4-FFF2-40B4-BE49-F238E27FC236}">
                <a16:creationId xmlns:a16="http://schemas.microsoft.com/office/drawing/2014/main" id="{9279CE6D-FB95-4944-AA48-4C69076EF383}"/>
              </a:ext>
            </a:extLst>
          </p:cNvPr>
          <p:cNvSpPr>
            <a:spLocks xmlns:a="http://schemas.openxmlformats.org/drawingml/2006/main" noGrp="1"/>
          </p:cNvSpPr>
          <p:nvPr/>
        </p:nvSpPr>
        <p:spPr>
          <a:xfrm xmlns:a="http://schemas.openxmlformats.org/drawingml/2006/main">
            <a:off x="952500" y="3762375"/>
            <a:ext cx="704850" cy="19050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lgn="l">
              <a:defRPr sz="900">
                <a:solidFill>
                  <a:srgbClr val="2F3136"/>
                </a:solidFill>
              </a:defRPr>
            </a:pPr>
            <a:r>
              <a:t>6</a:t>
            </a:r>
          </a:p>
        </p:txBody>
      </p:sp>
      <p:sp>
        <p:nvSpPr>
          <p:cNvPr id="44" name="">
            <a:extLst xmlns:a="http://schemas.openxmlformats.org/drawingml/2006/main">
              <a:ext uri="{FF2B5EF4-FFF2-40B4-BE49-F238E27FC236}">
                <a16:creationId xmlns:a16="http://schemas.microsoft.com/office/drawing/2014/main" id="{DF11B362-B4EF-409D-970B-502895589973}"/>
              </a:ext>
            </a:extLst>
          </p:cNvPr>
          <p:cNvSpPr>
            <a:spLocks xmlns:a="http://schemas.openxmlformats.org/drawingml/2006/main" noGrp="1"/>
          </p:cNvSpPr>
          <p:nvPr/>
        </p:nvSpPr>
        <p:spPr>
          <a:xfrm xmlns:a="http://schemas.openxmlformats.org/drawingml/2006/main">
            <a:off x="1733550" y="3695700"/>
            <a:ext cx="4953000" cy="323850"/>
          </a:xfrm>
          <a:prstGeom xmlns:a="http://schemas.openxmlformats.org/drawingml/2006/main" prst="rect">
            <a:avLst/>
          </a:prstGeom>
          <a:solidFill xmlns:a="http://schemas.openxmlformats.org/drawingml/2006/main">
            <a:srgbClr val="FFFFFF"/>
          </a:solidFill>
          <a:ln xmlns:a="http://schemas.openxmlformats.org/drawingml/2006/main" w="9525">
            <a:solidFill>
              <a:srgbClr val="EEE4D3"/>
            </a:solidFill>
            <a:prstDash val="solid"/>
          </a:ln>
        </p:spPr>
      </p:sp>
      <p:sp>
        <p:nvSpPr>
          <p:cNvPr id="45" name="">
            <a:extLst xmlns:a="http://schemas.openxmlformats.org/drawingml/2006/main">
              <a:ext uri="{FF2B5EF4-FFF2-40B4-BE49-F238E27FC236}">
                <a16:creationId xmlns:a16="http://schemas.microsoft.com/office/drawing/2014/main" id="{052C93F2-30B9-46E4-A15E-391A1FA63CBF}"/>
              </a:ext>
            </a:extLst>
          </p:cNvPr>
          <p:cNvSpPr>
            <a:spLocks xmlns:a="http://schemas.openxmlformats.org/drawingml/2006/main" noGrp="1"/>
          </p:cNvSpPr>
          <p:nvPr/>
        </p:nvSpPr>
        <p:spPr>
          <a:xfrm xmlns:a="http://schemas.openxmlformats.org/drawingml/2006/main">
            <a:off x="1809750" y="3762375"/>
            <a:ext cx="4800600" cy="19050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lgn="ctr">
              <a:defRPr sz="900">
                <a:solidFill>
                  <a:srgbClr val="2F3136"/>
                </a:solidFill>
              </a:defRPr>
            </a:pPr>
            <a:r>
              <a:t>Extension NLP</a:t>
            </a:r>
          </a:p>
        </p:txBody>
      </p:sp>
      <p:sp>
        <p:nvSpPr>
          <p:cNvPr id="46" name="">
            <a:extLst xmlns:a="http://schemas.openxmlformats.org/drawingml/2006/main">
              <a:ext uri="{FF2B5EF4-FFF2-40B4-BE49-F238E27FC236}">
                <a16:creationId xmlns:a16="http://schemas.microsoft.com/office/drawing/2014/main" id="{85D3F53A-BBBF-4FDE-8F50-BE81D9A16F2C}"/>
              </a:ext>
            </a:extLst>
          </p:cNvPr>
          <p:cNvSpPr>
            <a:spLocks xmlns:a="http://schemas.openxmlformats.org/drawingml/2006/main" noGrp="1"/>
          </p:cNvSpPr>
          <p:nvPr/>
        </p:nvSpPr>
        <p:spPr>
          <a:xfrm xmlns:a="http://schemas.openxmlformats.org/drawingml/2006/main">
            <a:off x="6686550" y="3695700"/>
            <a:ext cx="4667250" cy="323850"/>
          </a:xfrm>
          <a:prstGeom xmlns:a="http://schemas.openxmlformats.org/drawingml/2006/main" prst="rect">
            <a:avLst/>
          </a:prstGeom>
          <a:solidFill xmlns:a="http://schemas.openxmlformats.org/drawingml/2006/main">
            <a:srgbClr val="FFFFFF"/>
          </a:solidFill>
          <a:ln xmlns:a="http://schemas.openxmlformats.org/drawingml/2006/main" w="9525">
            <a:solidFill>
              <a:srgbClr val="EEE4D3"/>
            </a:solidFill>
            <a:prstDash val="solid"/>
          </a:ln>
        </p:spPr>
      </p:sp>
      <p:sp>
        <p:nvSpPr>
          <p:cNvPr id="47" name="">
            <a:extLst xmlns:a="http://schemas.openxmlformats.org/drawingml/2006/main">
              <a:ext uri="{FF2B5EF4-FFF2-40B4-BE49-F238E27FC236}">
                <a16:creationId xmlns:a16="http://schemas.microsoft.com/office/drawing/2014/main" id="{9F4B5423-7C85-40D2-8CD9-00AA4989E217}"/>
              </a:ext>
            </a:extLst>
          </p:cNvPr>
          <p:cNvSpPr>
            <a:spLocks xmlns:a="http://schemas.openxmlformats.org/drawingml/2006/main" noGrp="1"/>
          </p:cNvSpPr>
          <p:nvPr/>
        </p:nvSpPr>
        <p:spPr>
          <a:xfrm xmlns:a="http://schemas.openxmlformats.org/drawingml/2006/main">
            <a:off x="6762750" y="3762375"/>
            <a:ext cx="4514850" cy="19050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lgn="ctr">
              <a:defRPr sz="900">
                <a:solidFill>
                  <a:srgbClr val="2F3136"/>
                </a:solidFill>
              </a:defRPr>
            </a:pPr>
            <a:r>
              <a:t>Le signal presse marocain ajoute-t-il quelque chose ?</a:t>
            </a:r>
          </a:p>
        </p:txBody>
      </p:sp>
      <p:sp>
        <p:nvSpPr>
          <p:cNvPr id="48" name="">
            <a:extLst xmlns:a="http://schemas.openxmlformats.org/drawingml/2006/main">
              <a:ext uri="{FF2B5EF4-FFF2-40B4-BE49-F238E27FC236}">
                <a16:creationId xmlns:a16="http://schemas.microsoft.com/office/drawing/2014/main" id="{AB65A168-BAED-41C4-87A3-ABBE15C5DAC8}"/>
              </a:ext>
            </a:extLst>
          </p:cNvPr>
          <p:cNvSpPr>
            <a:spLocks xmlns:a="http://schemas.openxmlformats.org/drawingml/2006/main" noGrp="1"/>
          </p:cNvSpPr>
          <p:nvPr/>
        </p:nvSpPr>
        <p:spPr>
          <a:xfrm xmlns:a="http://schemas.openxmlformats.org/drawingml/2006/main">
            <a:off x="876300" y="4019550"/>
            <a:ext cx="857250" cy="323850"/>
          </a:xfrm>
          <a:prstGeom xmlns:a="http://schemas.openxmlformats.org/drawingml/2006/main" prst="rect">
            <a:avLst/>
          </a:prstGeom>
          <a:solidFill xmlns:a="http://schemas.openxmlformats.org/drawingml/2006/main">
            <a:srgbClr val="FBF8F2"/>
          </a:solidFill>
          <a:ln xmlns:a="http://schemas.openxmlformats.org/drawingml/2006/main" w="9525">
            <a:solidFill>
              <a:srgbClr val="EEE4D3"/>
            </a:solidFill>
            <a:prstDash val="solid"/>
          </a:ln>
        </p:spPr>
      </p:sp>
      <p:sp>
        <p:nvSpPr>
          <p:cNvPr id="49" name="">
            <a:extLst xmlns:a="http://schemas.openxmlformats.org/drawingml/2006/main">
              <a:ext uri="{FF2B5EF4-FFF2-40B4-BE49-F238E27FC236}">
                <a16:creationId xmlns:a16="http://schemas.microsoft.com/office/drawing/2014/main" id="{FDE4E8E3-E0B3-49A5-830C-7AAA381C671B}"/>
              </a:ext>
            </a:extLst>
          </p:cNvPr>
          <p:cNvSpPr>
            <a:spLocks xmlns:a="http://schemas.openxmlformats.org/drawingml/2006/main" noGrp="1"/>
          </p:cNvSpPr>
          <p:nvPr/>
        </p:nvSpPr>
        <p:spPr>
          <a:xfrm xmlns:a="http://schemas.openxmlformats.org/drawingml/2006/main">
            <a:off x="952500" y="4086225"/>
            <a:ext cx="704850" cy="19050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lgn="l">
              <a:defRPr sz="900">
                <a:solidFill>
                  <a:srgbClr val="2F3136"/>
                </a:solidFill>
              </a:defRPr>
            </a:pPr>
            <a:r>
              <a:t>7</a:t>
            </a:r>
          </a:p>
        </p:txBody>
      </p:sp>
      <p:sp>
        <p:nvSpPr>
          <p:cNvPr id="50" name="">
            <a:extLst xmlns:a="http://schemas.openxmlformats.org/drawingml/2006/main">
              <a:ext uri="{FF2B5EF4-FFF2-40B4-BE49-F238E27FC236}">
                <a16:creationId xmlns:a16="http://schemas.microsoft.com/office/drawing/2014/main" id="{A10921CF-187A-464F-9EE7-F20F358FA498}"/>
              </a:ext>
            </a:extLst>
          </p:cNvPr>
          <p:cNvSpPr>
            <a:spLocks xmlns:a="http://schemas.openxmlformats.org/drawingml/2006/main" noGrp="1"/>
          </p:cNvSpPr>
          <p:nvPr/>
        </p:nvSpPr>
        <p:spPr>
          <a:xfrm xmlns:a="http://schemas.openxmlformats.org/drawingml/2006/main">
            <a:off x="1733550" y="4019550"/>
            <a:ext cx="4953000" cy="323850"/>
          </a:xfrm>
          <a:prstGeom xmlns:a="http://schemas.openxmlformats.org/drawingml/2006/main" prst="rect">
            <a:avLst/>
          </a:prstGeom>
          <a:solidFill xmlns:a="http://schemas.openxmlformats.org/drawingml/2006/main">
            <a:srgbClr val="FBF8F2"/>
          </a:solidFill>
          <a:ln xmlns:a="http://schemas.openxmlformats.org/drawingml/2006/main" w="9525">
            <a:solidFill>
              <a:srgbClr val="EEE4D3"/>
            </a:solidFill>
            <a:prstDash val="solid"/>
          </a:ln>
        </p:spPr>
      </p:sp>
      <p:sp>
        <p:nvSpPr>
          <p:cNvPr id="51" name="">
            <a:extLst xmlns:a="http://schemas.openxmlformats.org/drawingml/2006/main">
              <a:ext uri="{FF2B5EF4-FFF2-40B4-BE49-F238E27FC236}">
                <a16:creationId xmlns:a16="http://schemas.microsoft.com/office/drawing/2014/main" id="{E59C970D-5D3F-48DF-A9DA-8BCE074A3DEE}"/>
              </a:ext>
            </a:extLst>
          </p:cNvPr>
          <p:cNvSpPr>
            <a:spLocks xmlns:a="http://schemas.openxmlformats.org/drawingml/2006/main" noGrp="1"/>
          </p:cNvSpPr>
          <p:nvPr/>
        </p:nvSpPr>
        <p:spPr>
          <a:xfrm xmlns:a="http://schemas.openxmlformats.org/drawingml/2006/main">
            <a:off x="1809750" y="4086225"/>
            <a:ext cx="4800600" cy="19050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lgn="ctr">
              <a:defRPr sz="900">
                <a:solidFill>
                  <a:srgbClr val="2F3136"/>
                </a:solidFill>
              </a:defRPr>
            </a:pPr>
            <a:r>
              <a:t>Limites et perspectives</a:t>
            </a:r>
          </a:p>
        </p:txBody>
      </p:sp>
      <p:sp>
        <p:nvSpPr>
          <p:cNvPr id="52" name="">
            <a:extLst xmlns:a="http://schemas.openxmlformats.org/drawingml/2006/main">
              <a:ext uri="{FF2B5EF4-FFF2-40B4-BE49-F238E27FC236}">
                <a16:creationId xmlns:a16="http://schemas.microsoft.com/office/drawing/2014/main" id="{E3372786-1738-4687-A028-03539CBF8CDD}"/>
              </a:ext>
            </a:extLst>
          </p:cNvPr>
          <p:cNvSpPr>
            <a:spLocks xmlns:a="http://schemas.openxmlformats.org/drawingml/2006/main" noGrp="1"/>
          </p:cNvSpPr>
          <p:nvPr/>
        </p:nvSpPr>
        <p:spPr>
          <a:xfrm xmlns:a="http://schemas.openxmlformats.org/drawingml/2006/main">
            <a:off x="6686550" y="4019550"/>
            <a:ext cx="4667250" cy="323850"/>
          </a:xfrm>
          <a:prstGeom xmlns:a="http://schemas.openxmlformats.org/drawingml/2006/main" prst="rect">
            <a:avLst/>
          </a:prstGeom>
          <a:solidFill xmlns:a="http://schemas.openxmlformats.org/drawingml/2006/main">
            <a:srgbClr val="FBF8F2"/>
          </a:solidFill>
          <a:ln xmlns:a="http://schemas.openxmlformats.org/drawingml/2006/main" w="9525">
            <a:solidFill>
              <a:srgbClr val="EEE4D3"/>
            </a:solidFill>
            <a:prstDash val="solid"/>
          </a:ln>
        </p:spPr>
      </p:sp>
      <p:sp>
        <p:nvSpPr>
          <p:cNvPr id="53" name="">
            <a:extLst xmlns:a="http://schemas.openxmlformats.org/drawingml/2006/main">
              <a:ext uri="{FF2B5EF4-FFF2-40B4-BE49-F238E27FC236}">
                <a16:creationId xmlns:a16="http://schemas.microsoft.com/office/drawing/2014/main" id="{F772E9AD-7251-4BCC-A860-D5440E86C3DA}"/>
              </a:ext>
            </a:extLst>
          </p:cNvPr>
          <p:cNvSpPr>
            <a:spLocks xmlns:a="http://schemas.openxmlformats.org/drawingml/2006/main" noGrp="1"/>
          </p:cNvSpPr>
          <p:nvPr/>
        </p:nvSpPr>
        <p:spPr>
          <a:xfrm xmlns:a="http://schemas.openxmlformats.org/drawingml/2006/main">
            <a:off x="6762750" y="4086225"/>
            <a:ext cx="4514850" cy="19050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lgn="ctr">
              <a:defRPr sz="900">
                <a:solidFill>
                  <a:srgbClr val="2F3136"/>
                </a:solidFill>
              </a:defRPr>
            </a:pPr>
            <a:r>
              <a:t>Que vaut le projet aujourd’hui, et comment l’améliorer ?</a:t>
            </a:r>
          </a:p>
        </p:txBody>
      </p:sp>
      <p:sp>
        <p:nvSpPr>
          <p:cNvPr id="54" name="">
            <a:extLst xmlns:a="http://schemas.openxmlformats.org/drawingml/2006/main">
              <a:ext uri="{FF2B5EF4-FFF2-40B4-BE49-F238E27FC236}">
                <a16:creationId xmlns:a16="http://schemas.microsoft.com/office/drawing/2014/main" id="{82DBF01A-2D06-43DD-9A45-8FCE20CDFEE1}"/>
              </a:ext>
            </a:extLst>
          </p:cNvPr>
          <p:cNvSpPr>
            <a:spLocks xmlns:a="http://schemas.openxmlformats.org/drawingml/2006/main" noGrp="1"/>
          </p:cNvSpPr>
          <p:nvPr/>
        </p:nvSpPr>
        <p:spPr>
          <a:xfrm xmlns:a="http://schemas.openxmlformats.org/drawingml/2006/main">
            <a:off x="876300" y="5429250"/>
            <a:ext cx="10287000" cy="57150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350">
                <a:solidFill>
                  <a:srgbClr val="2F3136"/>
                </a:solidFill>
              </a:defRPr>
            </a:pPr>
            <a:r>
              <a:t>Fil conducteur : montrer un projet plus rigoureux que spectaculaire. Nous assumons les résultats positifs, mais aussi les résultats négatifs, parce qu’ils renforcent la crédibilité scientifique de la démarche.</a:t>
            </a:r>
          </a:p>
        </p:txBody>
      </p:sp>
      <p:sp>
        <p:nvSpPr>
          <p:cNvPr id="55" name="">
            <a:extLst xmlns:a="http://schemas.openxmlformats.org/drawingml/2006/main">
              <a:ext uri="{FF2B5EF4-FFF2-40B4-BE49-F238E27FC236}">
                <a16:creationId xmlns:a16="http://schemas.microsoft.com/office/drawing/2014/main" id="{97FD03D3-0B58-47BB-80C2-54E2A1E13B80}"/>
              </a:ext>
            </a:extLst>
          </p:cNvPr>
          <p:cNvSpPr>
            <a:spLocks xmlns:a="http://schemas.openxmlformats.org/drawingml/2006/main" noGrp="1"/>
          </p:cNvSpPr>
          <p:nvPr/>
        </p:nvSpPr>
        <p:spPr>
          <a:xfrm xmlns:a="http://schemas.openxmlformats.org/drawingml/2006/main">
            <a:off x="685800" y="6477000"/>
            <a:ext cx="4762500" cy="1714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825">
                <a:solidFill>
                  <a:srgbClr val="6C6A66"/>
                </a:solidFill>
              </a:defRPr>
            </a:pPr>
            <a:r>
              <a:t>ENSAM Meknes • Plan</a:t>
            </a:r>
          </a:p>
        </p:txBody>
      </p:sp>
      <p:sp>
        <p:nvSpPr>
          <p:cNvPr id="56" name="">
            <a:extLst xmlns:a="http://schemas.openxmlformats.org/drawingml/2006/main">
              <a:ext uri="{FF2B5EF4-FFF2-40B4-BE49-F238E27FC236}">
                <a16:creationId xmlns:a16="http://schemas.microsoft.com/office/drawing/2014/main" id="{BA63708D-6238-4739-AD25-D74FBBB76226}"/>
              </a:ext>
            </a:extLst>
          </p:cNvPr>
          <p:cNvSpPr>
            <a:spLocks xmlns:a="http://schemas.openxmlformats.org/drawingml/2006/main" noGrp="1"/>
          </p:cNvSpPr>
          <p:nvPr/>
        </p:nvSpPr>
        <p:spPr>
          <a:xfrm xmlns:a="http://schemas.openxmlformats.org/drawingml/2006/main">
            <a:off x="11049000" y="6477000"/>
            <a:ext cx="476250" cy="1714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lgn="r">
              <a:defRPr sz="825">
                <a:solidFill>
                  <a:srgbClr val="6C6A66"/>
                </a:solidFill>
              </a:defRPr>
            </a:pPr>
            <a:r>
              <a:t>2</a:t>
            </a:r>
          </a:p>
        </p:txBody>
      </p:sp>
    </p:spTree>
    <p:extLst>
      <p:ext uri="{BB962C8B-B14F-4D97-AF65-F5344CB8AC3E}">
        <p14:creationId xmlns:p14="http://schemas.microsoft.com/office/powerpoint/2010/main" val="418631160"/>
      </p:ext>
    </p:extLst>
  </p:cSld>
</p:sld>
</file>

<file path=ppt/slides/slide3.xml><?xml version="1.0" encoding="utf-8"?>
<p:sld xmlns:p="http://schemas.openxmlformats.org/presentationml/2006/main">
  <p:cSld>
    <p:bg>
      <p:bgPr>
        <a:solidFill xmlns:a="http://schemas.openxmlformats.org/drawingml/2006/main">
          <a:srgbClr val="F6F1E7"/>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FF0C8F0B-41FF-43B3-856D-86F895AD4797}"/>
              </a:ext>
            </a:extLst>
          </p:cNvPr>
          <p:cNvSpPr>
            <a:spLocks xmlns:a="http://schemas.openxmlformats.org/drawingml/2006/main" noGrp="1"/>
          </p:cNvSpPr>
          <p:nvPr/>
        </p:nvSpPr>
        <p:spPr>
          <a:xfrm xmlns:a="http://schemas.openxmlformats.org/drawingml/2006/main">
            <a:off x="876300" y="704850"/>
            <a:ext cx="9334500" cy="5905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2400" b="1">
                <a:solidFill>
                  <a:srgbClr val="223A5E"/>
                </a:solidFill>
              </a:defRPr>
            </a:pPr>
            <a:r>
              <a:t>Pourquoi ce projet ?</a:t>
            </a:r>
          </a:p>
        </p:txBody>
      </p:sp>
      <p:sp>
        <p:nvSpPr>
          <p:cNvPr id="2" name="">
            <a:extLst xmlns:a="http://schemas.openxmlformats.org/drawingml/2006/main">
              <a:ext uri="{FF2B5EF4-FFF2-40B4-BE49-F238E27FC236}">
                <a16:creationId xmlns:a16="http://schemas.microsoft.com/office/drawing/2014/main" id="{14EAC0D8-81C1-4CFE-BF66-A99BDC9C88EC}"/>
              </a:ext>
            </a:extLst>
          </p:cNvPr>
          <p:cNvSpPr>
            <a:spLocks xmlns:a="http://schemas.openxmlformats.org/drawingml/2006/main" noGrp="1"/>
          </p:cNvSpPr>
          <p:nvPr/>
        </p:nvSpPr>
        <p:spPr>
          <a:xfrm xmlns:a="http://schemas.openxmlformats.org/drawingml/2006/main">
            <a:off x="876300" y="1295400"/>
            <a:ext cx="9334500" cy="2857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200" b="1">
                <a:solidFill>
                  <a:srgbClr val="C86F4D"/>
                </a:solidFill>
              </a:defRPr>
            </a:pPr>
            <a:r>
              <a:t>Inflation, pouvoir d’achat et besoin de signaux avancés</a:t>
            </a:r>
          </a:p>
        </p:txBody>
      </p:sp>
      <p:sp>
        <p:nvSpPr>
          <p:cNvPr id="3" name="">
            <a:extLst xmlns:a="http://schemas.openxmlformats.org/drawingml/2006/main">
              <a:ext uri="{FF2B5EF4-FFF2-40B4-BE49-F238E27FC236}">
                <a16:creationId xmlns:a16="http://schemas.microsoft.com/office/drawing/2014/main" id="{73AEEAC2-9FEE-4BD5-8737-716506CCFC59}"/>
              </a:ext>
            </a:extLst>
          </p:cNvPr>
          <p:cNvSpPr>
            <a:spLocks xmlns:a="http://schemas.openxmlformats.org/drawingml/2006/main" noGrp="1"/>
          </p:cNvSpPr>
          <p:nvPr/>
        </p:nvSpPr>
        <p:spPr>
          <a:xfrm xmlns:a="http://schemas.openxmlformats.org/drawingml/2006/main">
            <a:off x="685800" y="6477000"/>
            <a:ext cx="4762500" cy="1714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825">
                <a:solidFill>
                  <a:srgbClr val="6C6A66"/>
                </a:solidFill>
              </a:defRPr>
            </a:pPr>
            <a:r>
              <a:t>ENSAM Meknes • BESI V3</a:t>
            </a:r>
          </a:p>
        </p:txBody>
      </p:sp>
      <p:sp>
        <p:nvSpPr>
          <p:cNvPr id="4" name="">
            <a:extLst xmlns:a="http://schemas.openxmlformats.org/drawingml/2006/main">
              <a:ext uri="{FF2B5EF4-FFF2-40B4-BE49-F238E27FC236}">
                <a16:creationId xmlns:a16="http://schemas.microsoft.com/office/drawing/2014/main" id="{87B8E522-968A-4ACF-B87B-51A49A0DE970}"/>
              </a:ext>
            </a:extLst>
          </p:cNvPr>
          <p:cNvSpPr>
            <a:spLocks xmlns:a="http://schemas.openxmlformats.org/drawingml/2006/main" noGrp="1"/>
          </p:cNvSpPr>
          <p:nvPr/>
        </p:nvSpPr>
        <p:spPr>
          <a:xfrm xmlns:a="http://schemas.openxmlformats.org/drawingml/2006/main">
            <a:off x="11049000" y="6477000"/>
            <a:ext cx="476250" cy="1714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lgn="r">
              <a:defRPr sz="825">
                <a:solidFill>
                  <a:srgbClr val="6C6A66"/>
                </a:solidFill>
              </a:defRPr>
            </a:pPr>
            <a:r>
              <a:t>3</a:t>
            </a:r>
          </a:p>
        </p:txBody>
      </p:sp>
      <p:sp>
        <p:nvSpPr>
          <p:cNvPr id="5" name="">
            <a:extLst xmlns:a="http://schemas.openxmlformats.org/drawingml/2006/main">
              <a:ext uri="{FF2B5EF4-FFF2-40B4-BE49-F238E27FC236}">
                <a16:creationId xmlns:a16="http://schemas.microsoft.com/office/drawing/2014/main" id="{CBFFD9F8-567F-4AFB-9E61-5CDAFFBC2280}"/>
              </a:ext>
            </a:extLst>
          </p:cNvPr>
          <p:cNvSpPr>
            <a:spLocks xmlns:a="http://schemas.openxmlformats.org/drawingml/2006/main" noGrp="1"/>
          </p:cNvSpPr>
          <p:nvPr/>
        </p:nvSpPr>
        <p:spPr>
          <a:xfrm xmlns:a="http://schemas.openxmlformats.org/drawingml/2006/main">
            <a:off x="876300" y="1752600"/>
            <a:ext cx="2381250" cy="1181100"/>
          </a:xfrm>
          <a:prstGeom xmlns:a="http://schemas.openxmlformats.org/drawingml/2006/main" prst="rect">
            <a:avLst/>
          </a:prstGeom>
          <a:solidFill xmlns:a="http://schemas.openxmlformats.org/drawingml/2006/main">
            <a:srgbClr val="FFFFFF"/>
          </a:solidFill>
          <a:ln xmlns:a="http://schemas.openxmlformats.org/drawingml/2006/main" w="9525">
            <a:solidFill>
              <a:srgbClr val="EEE4D3"/>
            </a:solidFill>
            <a:prstDash val="solid"/>
          </a:ln>
        </p:spPr>
      </p:sp>
      <p:sp>
        <p:nvSpPr>
          <p:cNvPr id="6" name="">
            <a:extLst xmlns:a="http://schemas.openxmlformats.org/drawingml/2006/main">
              <a:ext uri="{FF2B5EF4-FFF2-40B4-BE49-F238E27FC236}">
                <a16:creationId xmlns:a16="http://schemas.microsoft.com/office/drawing/2014/main" id="{316C0127-7F2C-48AE-903C-4B1CA01AA4EB}"/>
              </a:ext>
            </a:extLst>
          </p:cNvPr>
          <p:cNvSpPr>
            <a:spLocks xmlns:a="http://schemas.openxmlformats.org/drawingml/2006/main" noGrp="1"/>
          </p:cNvSpPr>
          <p:nvPr/>
        </p:nvSpPr>
        <p:spPr>
          <a:xfrm xmlns:a="http://schemas.openxmlformats.org/drawingml/2006/main">
            <a:off x="876300" y="1752600"/>
            <a:ext cx="76200" cy="1181100"/>
          </a:xfrm>
          <a:prstGeom xmlns:a="http://schemas.openxmlformats.org/drawingml/2006/main" prst="rect">
            <a:avLst/>
          </a:prstGeom>
          <a:solidFill xmlns:a="http://schemas.openxmlformats.org/drawingml/2006/main">
            <a:srgbClr val="223A5E"/>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3CBA3D12-1FEA-41A4-8FE2-359F7AB6229C}"/>
              </a:ext>
            </a:extLst>
          </p:cNvPr>
          <p:cNvSpPr>
            <a:spLocks xmlns:a="http://schemas.openxmlformats.org/drawingml/2006/main" noGrp="1"/>
          </p:cNvSpPr>
          <p:nvPr/>
        </p:nvSpPr>
        <p:spPr>
          <a:xfrm xmlns:a="http://schemas.openxmlformats.org/drawingml/2006/main">
            <a:off x="1104900" y="1924050"/>
            <a:ext cx="2000250" cy="19050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975" b="1">
                <a:solidFill>
                  <a:srgbClr val="6C6A66"/>
                </a:solidFill>
              </a:defRPr>
            </a:pPr>
            <a:r>
              <a:t>Problème public</a:t>
            </a:r>
          </a:p>
        </p:txBody>
      </p:sp>
      <p:sp>
        <p:nvSpPr>
          <p:cNvPr id="8" name="">
            <a:extLst xmlns:a="http://schemas.openxmlformats.org/drawingml/2006/main">
              <a:ext uri="{FF2B5EF4-FFF2-40B4-BE49-F238E27FC236}">
                <a16:creationId xmlns:a16="http://schemas.microsoft.com/office/drawing/2014/main" id="{8B15E5CC-7025-4854-893B-722EECEFFC1A}"/>
              </a:ext>
            </a:extLst>
          </p:cNvPr>
          <p:cNvSpPr>
            <a:spLocks xmlns:a="http://schemas.openxmlformats.org/drawingml/2006/main" noGrp="1"/>
          </p:cNvSpPr>
          <p:nvPr/>
        </p:nvSpPr>
        <p:spPr>
          <a:xfrm xmlns:a="http://schemas.openxmlformats.org/drawingml/2006/main">
            <a:off x="1104900" y="2152650"/>
            <a:ext cx="2000250" cy="38100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2100" b="1">
                <a:solidFill>
                  <a:srgbClr val="223A5E"/>
                </a:solidFill>
              </a:defRPr>
            </a:pPr>
            <a:r>
              <a:t>Inflation</a:t>
            </a:r>
          </a:p>
        </p:txBody>
      </p:sp>
      <p:sp>
        <p:nvSpPr>
          <p:cNvPr id="9" name="">
            <a:extLst xmlns:a="http://schemas.openxmlformats.org/drawingml/2006/main">
              <a:ext uri="{FF2B5EF4-FFF2-40B4-BE49-F238E27FC236}">
                <a16:creationId xmlns:a16="http://schemas.microsoft.com/office/drawing/2014/main" id="{D1DE2873-CD6D-463B-ACB1-9955C8524F62}"/>
              </a:ext>
            </a:extLst>
          </p:cNvPr>
          <p:cNvSpPr>
            <a:spLocks xmlns:a="http://schemas.openxmlformats.org/drawingml/2006/main" noGrp="1"/>
          </p:cNvSpPr>
          <p:nvPr/>
        </p:nvSpPr>
        <p:spPr>
          <a:xfrm xmlns:a="http://schemas.openxmlformats.org/drawingml/2006/main">
            <a:off x="1104900" y="2590800"/>
            <a:ext cx="2000250" cy="3238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900">
                <a:solidFill>
                  <a:srgbClr val="2F3136"/>
                </a:solidFill>
              </a:defRPr>
            </a:pPr>
            <a:r>
              <a:t>Touche directement le budget des ménages</a:t>
            </a:r>
          </a:p>
        </p:txBody>
      </p:sp>
      <p:sp>
        <p:nvSpPr>
          <p:cNvPr id="10" name="">
            <a:extLst xmlns:a="http://schemas.openxmlformats.org/drawingml/2006/main">
              <a:ext uri="{FF2B5EF4-FFF2-40B4-BE49-F238E27FC236}">
                <a16:creationId xmlns:a16="http://schemas.microsoft.com/office/drawing/2014/main" id="{CF725838-40FD-4A7F-AE24-4D65E814E22E}"/>
              </a:ext>
            </a:extLst>
          </p:cNvPr>
          <p:cNvSpPr>
            <a:spLocks xmlns:a="http://schemas.openxmlformats.org/drawingml/2006/main" noGrp="1"/>
          </p:cNvSpPr>
          <p:nvPr/>
        </p:nvSpPr>
        <p:spPr>
          <a:xfrm xmlns:a="http://schemas.openxmlformats.org/drawingml/2006/main">
            <a:off x="3467100" y="1752600"/>
            <a:ext cx="2381250" cy="1181100"/>
          </a:xfrm>
          <a:prstGeom xmlns:a="http://schemas.openxmlformats.org/drawingml/2006/main" prst="rect">
            <a:avLst/>
          </a:prstGeom>
          <a:solidFill xmlns:a="http://schemas.openxmlformats.org/drawingml/2006/main">
            <a:srgbClr val="FFFFFF"/>
          </a:solidFill>
          <a:ln xmlns:a="http://schemas.openxmlformats.org/drawingml/2006/main" w="9525">
            <a:solidFill>
              <a:srgbClr val="EEE4D3"/>
            </a:solidFill>
            <a:prstDash val="solid"/>
          </a:ln>
        </p:spPr>
      </p:sp>
      <p:sp>
        <p:nvSpPr>
          <p:cNvPr id="11" name="">
            <a:extLst xmlns:a="http://schemas.openxmlformats.org/drawingml/2006/main">
              <a:ext uri="{FF2B5EF4-FFF2-40B4-BE49-F238E27FC236}">
                <a16:creationId xmlns:a16="http://schemas.microsoft.com/office/drawing/2014/main" id="{5F1A9F17-0E3B-4E77-9787-AC9233EC7E64}"/>
              </a:ext>
            </a:extLst>
          </p:cNvPr>
          <p:cNvSpPr>
            <a:spLocks xmlns:a="http://schemas.openxmlformats.org/drawingml/2006/main" noGrp="1"/>
          </p:cNvSpPr>
          <p:nvPr/>
        </p:nvSpPr>
        <p:spPr>
          <a:xfrm xmlns:a="http://schemas.openxmlformats.org/drawingml/2006/main">
            <a:off x="3467100" y="1752600"/>
            <a:ext cx="76200" cy="1181100"/>
          </a:xfrm>
          <a:prstGeom xmlns:a="http://schemas.openxmlformats.org/drawingml/2006/main" prst="rect">
            <a:avLst/>
          </a:prstGeom>
          <a:solidFill xmlns:a="http://schemas.openxmlformats.org/drawingml/2006/main">
            <a:srgbClr val="C86F4D"/>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6E8A7A45-A317-4DB6-9999-D243EBCB019A}"/>
              </a:ext>
            </a:extLst>
          </p:cNvPr>
          <p:cNvSpPr>
            <a:spLocks xmlns:a="http://schemas.openxmlformats.org/drawingml/2006/main" noGrp="1"/>
          </p:cNvSpPr>
          <p:nvPr/>
        </p:nvSpPr>
        <p:spPr>
          <a:xfrm xmlns:a="http://schemas.openxmlformats.org/drawingml/2006/main">
            <a:off x="3695700" y="1924050"/>
            <a:ext cx="2000250" cy="19050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975" b="1">
                <a:solidFill>
                  <a:srgbClr val="6C6A66"/>
                </a:solidFill>
              </a:defRPr>
            </a:pPr>
            <a:r>
              <a:t>Problème statistique</a:t>
            </a:r>
          </a:p>
        </p:txBody>
      </p:sp>
      <p:sp>
        <p:nvSpPr>
          <p:cNvPr id="13" name="">
            <a:extLst xmlns:a="http://schemas.openxmlformats.org/drawingml/2006/main">
              <a:ext uri="{FF2B5EF4-FFF2-40B4-BE49-F238E27FC236}">
                <a16:creationId xmlns:a16="http://schemas.microsoft.com/office/drawing/2014/main" id="{B731EC70-B316-4E7A-9B3D-1C1305A1A5D7}"/>
              </a:ext>
            </a:extLst>
          </p:cNvPr>
          <p:cNvSpPr>
            <a:spLocks xmlns:a="http://schemas.openxmlformats.org/drawingml/2006/main" noGrp="1"/>
          </p:cNvSpPr>
          <p:nvPr/>
        </p:nvSpPr>
        <p:spPr>
          <a:xfrm xmlns:a="http://schemas.openxmlformats.org/drawingml/2006/main">
            <a:off x="3695700" y="2152650"/>
            <a:ext cx="2000250" cy="38100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2100" b="1">
                <a:solidFill>
                  <a:srgbClr val="C86F4D"/>
                </a:solidFill>
              </a:defRPr>
            </a:pPr>
            <a:r>
              <a:t>Retard IPC</a:t>
            </a:r>
          </a:p>
        </p:txBody>
      </p:sp>
      <p:sp>
        <p:nvSpPr>
          <p:cNvPr id="14" name="">
            <a:extLst xmlns:a="http://schemas.openxmlformats.org/drawingml/2006/main">
              <a:ext uri="{FF2B5EF4-FFF2-40B4-BE49-F238E27FC236}">
                <a16:creationId xmlns:a16="http://schemas.microsoft.com/office/drawing/2014/main" id="{DA1C3C59-60B2-43D3-B8E3-44D43D903DB8}"/>
              </a:ext>
            </a:extLst>
          </p:cNvPr>
          <p:cNvSpPr>
            <a:spLocks xmlns:a="http://schemas.openxmlformats.org/drawingml/2006/main" noGrp="1"/>
          </p:cNvSpPr>
          <p:nvPr/>
        </p:nvSpPr>
        <p:spPr>
          <a:xfrm xmlns:a="http://schemas.openxmlformats.org/drawingml/2006/main">
            <a:off x="3695700" y="2590800"/>
            <a:ext cx="2000250" cy="3238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900">
                <a:solidFill>
                  <a:srgbClr val="2F3136"/>
                </a:solidFill>
              </a:defRPr>
            </a:pPr>
            <a:r>
              <a:t>L’IPC officiel arrive après que les comportements ont déjà réagi</a:t>
            </a:r>
          </a:p>
        </p:txBody>
      </p:sp>
      <p:sp>
        <p:nvSpPr>
          <p:cNvPr id="15" name="">
            <a:extLst xmlns:a="http://schemas.openxmlformats.org/drawingml/2006/main">
              <a:ext uri="{FF2B5EF4-FFF2-40B4-BE49-F238E27FC236}">
                <a16:creationId xmlns:a16="http://schemas.microsoft.com/office/drawing/2014/main" id="{5E1EAA8E-C6BF-4F19-8AB2-E5280BDE4706}"/>
              </a:ext>
            </a:extLst>
          </p:cNvPr>
          <p:cNvSpPr>
            <a:spLocks xmlns:a="http://schemas.openxmlformats.org/drawingml/2006/main" noGrp="1"/>
          </p:cNvSpPr>
          <p:nvPr/>
        </p:nvSpPr>
        <p:spPr>
          <a:xfrm xmlns:a="http://schemas.openxmlformats.org/drawingml/2006/main">
            <a:off x="6057900" y="1752600"/>
            <a:ext cx="2381250" cy="1181100"/>
          </a:xfrm>
          <a:prstGeom xmlns:a="http://schemas.openxmlformats.org/drawingml/2006/main" prst="rect">
            <a:avLst/>
          </a:prstGeom>
          <a:solidFill xmlns:a="http://schemas.openxmlformats.org/drawingml/2006/main">
            <a:srgbClr val="FFFFFF"/>
          </a:solidFill>
          <a:ln xmlns:a="http://schemas.openxmlformats.org/drawingml/2006/main" w="9525">
            <a:solidFill>
              <a:srgbClr val="EEE4D3"/>
            </a:solidFill>
            <a:prstDash val="solid"/>
          </a:ln>
        </p:spPr>
      </p:sp>
      <p:sp>
        <p:nvSpPr>
          <p:cNvPr id="16" name="">
            <a:extLst xmlns:a="http://schemas.openxmlformats.org/drawingml/2006/main">
              <a:ext uri="{FF2B5EF4-FFF2-40B4-BE49-F238E27FC236}">
                <a16:creationId xmlns:a16="http://schemas.microsoft.com/office/drawing/2014/main" id="{70DAB5BA-5ED1-4D76-BE88-ADD3E599D9E7}"/>
              </a:ext>
            </a:extLst>
          </p:cNvPr>
          <p:cNvSpPr>
            <a:spLocks xmlns:a="http://schemas.openxmlformats.org/drawingml/2006/main" noGrp="1"/>
          </p:cNvSpPr>
          <p:nvPr/>
        </p:nvSpPr>
        <p:spPr>
          <a:xfrm xmlns:a="http://schemas.openxmlformats.org/drawingml/2006/main">
            <a:off x="6057900" y="1752600"/>
            <a:ext cx="76200" cy="1181100"/>
          </a:xfrm>
          <a:prstGeom xmlns:a="http://schemas.openxmlformats.org/drawingml/2006/main" prst="rect">
            <a:avLst/>
          </a:prstGeom>
          <a:solidFill xmlns:a="http://schemas.openxmlformats.org/drawingml/2006/main">
            <a:srgbClr val="5E7E6A"/>
          </a:solidFill>
          <a:ln xmlns:a="http://schemas.openxmlformats.org/drawingml/2006/main" w="0">
            <a:noFill/>
            <a:prstDash val="solid"/>
          </a:ln>
        </p:spPr>
      </p:sp>
      <p:sp>
        <p:nvSpPr>
          <p:cNvPr id="17" name="">
            <a:extLst xmlns:a="http://schemas.openxmlformats.org/drawingml/2006/main">
              <a:ext uri="{FF2B5EF4-FFF2-40B4-BE49-F238E27FC236}">
                <a16:creationId xmlns:a16="http://schemas.microsoft.com/office/drawing/2014/main" id="{1EFE6184-6EDB-45A8-80C0-09AE9A315AFE}"/>
              </a:ext>
            </a:extLst>
          </p:cNvPr>
          <p:cNvSpPr>
            <a:spLocks xmlns:a="http://schemas.openxmlformats.org/drawingml/2006/main" noGrp="1"/>
          </p:cNvSpPr>
          <p:nvPr/>
        </p:nvSpPr>
        <p:spPr>
          <a:xfrm xmlns:a="http://schemas.openxmlformats.org/drawingml/2006/main">
            <a:off x="6286500" y="1924050"/>
            <a:ext cx="2000250" cy="19050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975" b="1">
                <a:solidFill>
                  <a:srgbClr val="6C6A66"/>
                </a:solidFill>
              </a:defRPr>
            </a:pPr>
            <a:r>
              <a:t>Intuition projet</a:t>
            </a:r>
          </a:p>
        </p:txBody>
      </p:sp>
      <p:sp>
        <p:nvSpPr>
          <p:cNvPr id="18" name="">
            <a:extLst xmlns:a="http://schemas.openxmlformats.org/drawingml/2006/main">
              <a:ext uri="{FF2B5EF4-FFF2-40B4-BE49-F238E27FC236}">
                <a16:creationId xmlns:a16="http://schemas.microsoft.com/office/drawing/2014/main" id="{E2E26E1B-AA1D-4E37-BDF1-E2A4CEC3C7B0}"/>
              </a:ext>
            </a:extLst>
          </p:cNvPr>
          <p:cNvSpPr>
            <a:spLocks xmlns:a="http://schemas.openxmlformats.org/drawingml/2006/main" noGrp="1"/>
          </p:cNvSpPr>
          <p:nvPr/>
        </p:nvSpPr>
        <p:spPr>
          <a:xfrm xmlns:a="http://schemas.openxmlformats.org/drawingml/2006/main">
            <a:off x="6286500" y="2152650"/>
            <a:ext cx="2000250" cy="38100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2100" b="1">
                <a:solidFill>
                  <a:srgbClr val="5E7E6A"/>
                </a:solidFill>
              </a:defRPr>
            </a:pPr>
            <a:r>
              <a:t>Signaux digitaux</a:t>
            </a:r>
          </a:p>
        </p:txBody>
      </p:sp>
      <p:sp>
        <p:nvSpPr>
          <p:cNvPr id="19" name="">
            <a:extLst xmlns:a="http://schemas.openxmlformats.org/drawingml/2006/main">
              <a:ext uri="{FF2B5EF4-FFF2-40B4-BE49-F238E27FC236}">
                <a16:creationId xmlns:a16="http://schemas.microsoft.com/office/drawing/2014/main" id="{2B82B232-1A54-471E-B756-12E21539F657}"/>
              </a:ext>
            </a:extLst>
          </p:cNvPr>
          <p:cNvSpPr>
            <a:spLocks xmlns:a="http://schemas.openxmlformats.org/drawingml/2006/main" noGrp="1"/>
          </p:cNvSpPr>
          <p:nvPr/>
        </p:nvSpPr>
        <p:spPr>
          <a:xfrm xmlns:a="http://schemas.openxmlformats.org/drawingml/2006/main">
            <a:off x="6286500" y="2590800"/>
            <a:ext cx="2000250" cy="3238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900">
                <a:solidFill>
                  <a:srgbClr val="2F3136"/>
                </a:solidFill>
              </a:defRPr>
            </a:pPr>
            <a:r>
              <a:t>Les recherches peuvent refléter une tension inflationniste locale</a:t>
            </a:r>
          </a:p>
        </p:txBody>
      </p:sp>
      <p:sp>
        <p:nvSpPr>
          <p:cNvPr id="20" name="">
            <a:extLst xmlns:a="http://schemas.openxmlformats.org/drawingml/2006/main">
              <a:ext uri="{FF2B5EF4-FFF2-40B4-BE49-F238E27FC236}">
                <a16:creationId xmlns:a16="http://schemas.microsoft.com/office/drawing/2014/main" id="{D2DB11F0-B650-492A-9809-69CDBAF75B4C}"/>
              </a:ext>
            </a:extLst>
          </p:cNvPr>
          <p:cNvSpPr>
            <a:spLocks xmlns:a="http://schemas.openxmlformats.org/drawingml/2006/main" noGrp="1"/>
          </p:cNvSpPr>
          <p:nvPr/>
        </p:nvSpPr>
        <p:spPr>
          <a:xfrm xmlns:a="http://schemas.openxmlformats.org/drawingml/2006/main">
            <a:off x="8648700" y="1752600"/>
            <a:ext cx="2381250" cy="1181100"/>
          </a:xfrm>
          <a:prstGeom xmlns:a="http://schemas.openxmlformats.org/drawingml/2006/main" prst="rect">
            <a:avLst/>
          </a:prstGeom>
          <a:solidFill xmlns:a="http://schemas.openxmlformats.org/drawingml/2006/main">
            <a:srgbClr val="FFFFFF"/>
          </a:solidFill>
          <a:ln xmlns:a="http://schemas.openxmlformats.org/drawingml/2006/main" w="9525">
            <a:solidFill>
              <a:srgbClr val="EEE4D3"/>
            </a:solidFill>
            <a:prstDash val="solid"/>
          </a:ln>
        </p:spPr>
      </p:sp>
      <p:sp>
        <p:nvSpPr>
          <p:cNvPr id="21" name="">
            <a:extLst xmlns:a="http://schemas.openxmlformats.org/drawingml/2006/main">
              <a:ext uri="{FF2B5EF4-FFF2-40B4-BE49-F238E27FC236}">
                <a16:creationId xmlns:a16="http://schemas.microsoft.com/office/drawing/2014/main" id="{896F6AC0-20C7-4DD8-A345-752777E520D1}"/>
              </a:ext>
            </a:extLst>
          </p:cNvPr>
          <p:cNvSpPr>
            <a:spLocks xmlns:a="http://schemas.openxmlformats.org/drawingml/2006/main" noGrp="1"/>
          </p:cNvSpPr>
          <p:nvPr/>
        </p:nvSpPr>
        <p:spPr>
          <a:xfrm xmlns:a="http://schemas.openxmlformats.org/drawingml/2006/main">
            <a:off x="8648700" y="1752600"/>
            <a:ext cx="76200" cy="1181100"/>
          </a:xfrm>
          <a:prstGeom xmlns:a="http://schemas.openxmlformats.org/drawingml/2006/main" prst="rect">
            <a:avLst/>
          </a:prstGeom>
          <a:solidFill xmlns:a="http://schemas.openxmlformats.org/drawingml/2006/main">
            <a:srgbClr val="A14B4B"/>
          </a:solidFill>
          <a:ln xmlns:a="http://schemas.openxmlformats.org/drawingml/2006/main" w="0">
            <a:noFill/>
            <a:prstDash val="solid"/>
          </a:ln>
        </p:spPr>
      </p:sp>
      <p:sp>
        <p:nvSpPr>
          <p:cNvPr id="22" name="">
            <a:extLst xmlns:a="http://schemas.openxmlformats.org/drawingml/2006/main">
              <a:ext uri="{FF2B5EF4-FFF2-40B4-BE49-F238E27FC236}">
                <a16:creationId xmlns:a16="http://schemas.microsoft.com/office/drawing/2014/main" id="{E5CC1691-4676-4E80-9C73-A29652B8671B}"/>
              </a:ext>
            </a:extLst>
          </p:cNvPr>
          <p:cNvSpPr>
            <a:spLocks xmlns:a="http://schemas.openxmlformats.org/drawingml/2006/main" noGrp="1"/>
          </p:cNvSpPr>
          <p:nvPr/>
        </p:nvSpPr>
        <p:spPr>
          <a:xfrm xmlns:a="http://schemas.openxmlformats.org/drawingml/2006/main">
            <a:off x="8877300" y="1924050"/>
            <a:ext cx="2000250" cy="19050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975" b="1">
                <a:solidFill>
                  <a:srgbClr val="6C6A66"/>
                </a:solidFill>
              </a:defRPr>
            </a:pPr>
            <a:r>
              <a:t>Cadre final</a:t>
            </a:r>
          </a:p>
        </p:txBody>
      </p:sp>
      <p:sp>
        <p:nvSpPr>
          <p:cNvPr id="23" name="">
            <a:extLst xmlns:a="http://schemas.openxmlformats.org/drawingml/2006/main">
              <a:ext uri="{FF2B5EF4-FFF2-40B4-BE49-F238E27FC236}">
                <a16:creationId xmlns:a16="http://schemas.microsoft.com/office/drawing/2014/main" id="{69A051ED-64F6-4AE8-89B0-22E1E22CB178}"/>
              </a:ext>
            </a:extLst>
          </p:cNvPr>
          <p:cNvSpPr>
            <a:spLocks xmlns:a="http://schemas.openxmlformats.org/drawingml/2006/main" noGrp="1"/>
          </p:cNvSpPr>
          <p:nvPr/>
        </p:nvSpPr>
        <p:spPr>
          <a:xfrm xmlns:a="http://schemas.openxmlformats.org/drawingml/2006/main">
            <a:off x="8877300" y="2152650"/>
            <a:ext cx="2000250" cy="38100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2100" b="1">
                <a:solidFill>
                  <a:srgbClr val="A14B4B"/>
                </a:solidFill>
              </a:defRPr>
            </a:pPr>
            <a:r>
              <a:t>Régimes d’inflation</a:t>
            </a:r>
          </a:p>
        </p:txBody>
      </p:sp>
      <p:sp>
        <p:nvSpPr>
          <p:cNvPr id="24" name="">
            <a:extLst xmlns:a="http://schemas.openxmlformats.org/drawingml/2006/main">
              <a:ext uri="{FF2B5EF4-FFF2-40B4-BE49-F238E27FC236}">
                <a16:creationId xmlns:a16="http://schemas.microsoft.com/office/drawing/2014/main" id="{D203E67F-F7EC-4780-8EDA-B52FD2C5532D}"/>
              </a:ext>
            </a:extLst>
          </p:cNvPr>
          <p:cNvSpPr>
            <a:spLocks xmlns:a="http://schemas.openxmlformats.org/drawingml/2006/main" noGrp="1"/>
          </p:cNvSpPr>
          <p:nvPr/>
        </p:nvSpPr>
        <p:spPr>
          <a:xfrm xmlns:a="http://schemas.openxmlformats.org/drawingml/2006/main">
            <a:off x="8877300" y="2590800"/>
            <a:ext cx="2000250" cy="3238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900">
                <a:solidFill>
                  <a:srgbClr val="2F3136"/>
                </a:solidFill>
              </a:defRPr>
            </a:pPr>
            <a:r>
              <a:t>Recentrement pour éviter une promesse trop large</a:t>
            </a:r>
          </a:p>
        </p:txBody>
      </p:sp>
      <p:sp>
        <p:nvSpPr>
          <p:cNvPr id="25" name="">
            <a:extLst xmlns:a="http://schemas.openxmlformats.org/drawingml/2006/main">
              <a:ext uri="{FF2B5EF4-FFF2-40B4-BE49-F238E27FC236}">
                <a16:creationId xmlns:a16="http://schemas.microsoft.com/office/drawing/2014/main" id="{FA18811E-8B24-4DBE-A944-34597AF93CB5}"/>
              </a:ext>
            </a:extLst>
          </p:cNvPr>
          <p:cNvSpPr>
            <a:spLocks xmlns:a="http://schemas.openxmlformats.org/drawingml/2006/main" noGrp="1"/>
          </p:cNvSpPr>
          <p:nvPr/>
        </p:nvSpPr>
        <p:spPr>
          <a:xfrm xmlns:a="http://schemas.openxmlformats.org/drawingml/2006/main">
            <a:off x="876300" y="3238500"/>
            <a:ext cx="4876800" cy="2686050"/>
          </a:xfrm>
          <a:prstGeom xmlns:a="http://schemas.openxmlformats.org/drawingml/2006/main" prst="rect">
            <a:avLst/>
          </a:prstGeom>
          <a:solidFill xmlns:a="http://schemas.openxmlformats.org/drawingml/2006/main">
            <a:srgbClr val="FFFFFF"/>
          </a:solidFill>
          <a:ln xmlns:a="http://schemas.openxmlformats.org/drawingml/2006/main" w="9525">
            <a:solidFill>
              <a:srgbClr val="EEE4D3"/>
            </a:solidFill>
            <a:prstDash val="solid"/>
          </a:ln>
        </p:spPr>
      </p:sp>
      <p:sp>
        <p:nvSpPr>
          <p:cNvPr id="26" name="">
            <a:extLst xmlns:a="http://schemas.openxmlformats.org/drawingml/2006/main">
              <a:ext uri="{FF2B5EF4-FFF2-40B4-BE49-F238E27FC236}">
                <a16:creationId xmlns:a16="http://schemas.microsoft.com/office/drawing/2014/main" id="{11B078D5-D94E-4C11-96B5-2AC545BDE9DA}"/>
              </a:ext>
            </a:extLst>
          </p:cNvPr>
          <p:cNvSpPr>
            <a:spLocks xmlns:a="http://schemas.openxmlformats.org/drawingml/2006/main" noGrp="1"/>
          </p:cNvSpPr>
          <p:nvPr/>
        </p:nvSpPr>
        <p:spPr>
          <a:xfrm xmlns:a="http://schemas.openxmlformats.org/drawingml/2006/main">
            <a:off x="1123950" y="3467100"/>
            <a:ext cx="4191000" cy="2476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350" b="1">
                <a:solidFill>
                  <a:srgbClr val="223A5E"/>
                </a:solidFill>
              </a:defRPr>
            </a:pPr>
            <a:r>
              <a:t>Motivations économiques et méthodologiques</a:t>
            </a:r>
          </a:p>
        </p:txBody>
      </p:sp>
      <p:sp>
        <p:nvSpPr>
          <p:cNvPr id="27" name="">
            <a:extLst xmlns:a="http://schemas.openxmlformats.org/drawingml/2006/main">
              <a:ext uri="{FF2B5EF4-FFF2-40B4-BE49-F238E27FC236}">
                <a16:creationId xmlns:a16="http://schemas.microsoft.com/office/drawing/2014/main" id="{90A8E136-E552-4491-80D5-2386F48B65EE}"/>
              </a:ext>
            </a:extLst>
          </p:cNvPr>
          <p:cNvSpPr>
            <a:spLocks xmlns:a="http://schemas.openxmlformats.org/drawingml/2006/main" noGrp="1"/>
          </p:cNvSpPr>
          <p:nvPr/>
        </p:nvSpPr>
        <p:spPr>
          <a:xfrm xmlns:a="http://schemas.openxmlformats.org/drawingml/2006/main">
            <a:off x="1123950" y="3867150"/>
            <a:ext cx="4191000" cy="171450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350">
                <a:solidFill>
                  <a:srgbClr val="2F3136"/>
                </a:solidFill>
              </a:defRPr>
            </a:pPr>
            <a:r>
              <a:t>• Le pouvoir d’achat réagit fortement aux hausses de prix alimentaires et énergétiques. • Les statistiques officielles sont essentielles, mais elles ne sont pas instantanées. • Les comportements de recherche peuvent agir comme capteurs précoces. • Le défi est de distinguer signal utile, bruit médiatique et simple persistance statistique.</a:t>
            </a:r>
          </a:p>
        </p:txBody>
      </p:sp>
      <p:sp>
        <p:nvSpPr>
          <p:cNvPr id="28" name="">
            <a:extLst xmlns:a="http://schemas.openxmlformats.org/drawingml/2006/main">
              <a:ext uri="{FF2B5EF4-FFF2-40B4-BE49-F238E27FC236}">
                <a16:creationId xmlns:a16="http://schemas.microsoft.com/office/drawing/2014/main" id="{694CAD16-1E3A-496E-BA92-BC9C4A055AD0}"/>
              </a:ext>
            </a:extLst>
          </p:cNvPr>
          <p:cNvSpPr>
            <a:spLocks xmlns:a="http://schemas.openxmlformats.org/drawingml/2006/main" noGrp="1"/>
          </p:cNvSpPr>
          <p:nvPr/>
        </p:nvSpPr>
        <p:spPr>
          <a:xfrm xmlns:a="http://schemas.openxmlformats.org/drawingml/2006/main">
            <a:off x="5981700" y="3238500"/>
            <a:ext cx="5048250" cy="2686050"/>
          </a:xfrm>
          <a:prstGeom xmlns:a="http://schemas.openxmlformats.org/drawingml/2006/main" prst="rect">
            <a:avLst/>
          </a:prstGeom>
          <a:solidFill xmlns:a="http://schemas.openxmlformats.org/drawingml/2006/main">
            <a:srgbClr val="FFFFFF"/>
          </a:solidFill>
          <a:ln xmlns:a="http://schemas.openxmlformats.org/drawingml/2006/main" w="9525">
            <a:solidFill>
              <a:srgbClr val="EEE4D3"/>
            </a:solidFill>
            <a:prstDash val="solid"/>
          </a:ln>
        </p:spPr>
      </p:sp>
      <p:sp>
        <p:nvSpPr>
          <p:cNvPr id="29" name="">
            <a:extLst xmlns:a="http://schemas.openxmlformats.org/drawingml/2006/main">
              <a:ext uri="{FF2B5EF4-FFF2-40B4-BE49-F238E27FC236}">
                <a16:creationId xmlns:a16="http://schemas.microsoft.com/office/drawing/2014/main" id="{553F3319-7714-417E-8F5B-1D91A583E7FA}"/>
              </a:ext>
            </a:extLst>
          </p:cNvPr>
          <p:cNvSpPr>
            <a:spLocks xmlns:a="http://schemas.openxmlformats.org/drawingml/2006/main" noGrp="1"/>
          </p:cNvSpPr>
          <p:nvPr/>
        </p:nvSpPr>
        <p:spPr>
          <a:xfrm xmlns:a="http://schemas.openxmlformats.org/drawingml/2006/main">
            <a:off x="6229350" y="3467100"/>
            <a:ext cx="4476750" cy="2476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350" b="1">
                <a:solidFill>
                  <a:srgbClr val="223A5E"/>
                </a:solidFill>
              </a:defRPr>
            </a:pPr>
            <a:r>
              <a:t>Le recentrement conceptuel du projet</a:t>
            </a:r>
          </a:p>
        </p:txBody>
      </p:sp>
      <p:sp>
        <p:nvSpPr>
          <p:cNvPr id="30" name="">
            <a:extLst xmlns:a="http://schemas.openxmlformats.org/drawingml/2006/main">
              <a:ext uri="{FF2B5EF4-FFF2-40B4-BE49-F238E27FC236}">
                <a16:creationId xmlns:a16="http://schemas.microsoft.com/office/drawing/2014/main" id="{D23E888C-1372-4C8B-A4AD-0407E12024F4}"/>
              </a:ext>
            </a:extLst>
          </p:cNvPr>
          <p:cNvSpPr>
            <a:spLocks xmlns:a="http://schemas.openxmlformats.org/drawingml/2006/main" noGrp="1"/>
          </p:cNvSpPr>
          <p:nvPr/>
        </p:nvSpPr>
        <p:spPr>
          <a:xfrm xmlns:a="http://schemas.openxmlformats.org/drawingml/2006/main">
            <a:off x="6229350" y="3867150"/>
            <a:ext cx="4476750" cy="171450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350">
                <a:solidFill>
                  <a:srgbClr val="2F3136"/>
                </a:solidFill>
              </a:defRPr>
            </a:pPr>
            <a:r>
              <a:t>• Au départ, le projet parlait de stress économique des ménages au sens large. • Nous avons compris qu’un bon modèle d’IPC n’est pas un bon modèle complet de stress ménage. • La version finale cible donc la détection des régimes d’inflation marocains. • Ce recentrement rend le projet plus défendable économiquement et scientifiquement.</a:t>
            </a:r>
          </a:p>
        </p:txBody>
      </p:sp>
      <p:sp>
        <p:nvSpPr>
          <p:cNvPr id="31" name="">
            <a:extLst xmlns:a="http://schemas.openxmlformats.org/drawingml/2006/main">
              <a:ext uri="{FF2B5EF4-FFF2-40B4-BE49-F238E27FC236}">
                <a16:creationId xmlns:a16="http://schemas.microsoft.com/office/drawing/2014/main" id="{6B608B2E-AB8F-4D7F-83C7-D0C2D15D290D}"/>
              </a:ext>
            </a:extLst>
          </p:cNvPr>
          <p:cNvSpPr>
            <a:spLocks xmlns:a="http://schemas.openxmlformats.org/drawingml/2006/main" noGrp="1"/>
          </p:cNvSpPr>
          <p:nvPr/>
        </p:nvSpPr>
        <p:spPr>
          <a:xfrm xmlns:a="http://schemas.openxmlformats.org/drawingml/2006/main">
            <a:off x="685800" y="6477000"/>
            <a:ext cx="4762500" cy="1714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825">
                <a:solidFill>
                  <a:srgbClr val="6C6A66"/>
                </a:solidFill>
              </a:defRPr>
            </a:pPr>
            <a:r>
              <a:t>ENSAM Meknes • Motivation</a:t>
            </a:r>
          </a:p>
        </p:txBody>
      </p:sp>
      <p:sp>
        <p:nvSpPr>
          <p:cNvPr id="32" name="">
            <a:extLst xmlns:a="http://schemas.openxmlformats.org/drawingml/2006/main">
              <a:ext uri="{FF2B5EF4-FFF2-40B4-BE49-F238E27FC236}">
                <a16:creationId xmlns:a16="http://schemas.microsoft.com/office/drawing/2014/main" id="{260CF4D4-770C-49F2-ABD0-6897E697F723}"/>
              </a:ext>
            </a:extLst>
          </p:cNvPr>
          <p:cNvSpPr>
            <a:spLocks xmlns:a="http://schemas.openxmlformats.org/drawingml/2006/main" noGrp="1"/>
          </p:cNvSpPr>
          <p:nvPr/>
        </p:nvSpPr>
        <p:spPr>
          <a:xfrm xmlns:a="http://schemas.openxmlformats.org/drawingml/2006/main">
            <a:off x="11049000" y="6477000"/>
            <a:ext cx="476250" cy="1714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lgn="r">
              <a:defRPr sz="825">
                <a:solidFill>
                  <a:srgbClr val="6C6A66"/>
                </a:solidFill>
              </a:defRPr>
            </a:pPr>
            <a:r>
              <a:t>3</a:t>
            </a:r>
          </a:p>
        </p:txBody>
      </p:sp>
    </p:spTree>
    <p:extLst>
      <p:ext uri="{BB962C8B-B14F-4D97-AF65-F5344CB8AC3E}">
        <p14:creationId xmlns:p14="http://schemas.microsoft.com/office/powerpoint/2010/main" val="223796431"/>
      </p:ext>
    </p:extLst>
  </p:cSld>
</p:sld>
</file>

<file path=ppt/slides/slide4.xml><?xml version="1.0" encoding="utf-8"?>
<p:sld xmlns:p="http://schemas.openxmlformats.org/presentationml/2006/main">
  <p:cSld>
    <p:bg>
      <p:bgPr>
        <a:solidFill xmlns:a="http://schemas.openxmlformats.org/drawingml/2006/main">
          <a:srgbClr val="F6F1E7"/>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F478DA15-F162-4048-B213-66E745A51AD7}"/>
              </a:ext>
            </a:extLst>
          </p:cNvPr>
          <p:cNvSpPr>
            <a:spLocks xmlns:a="http://schemas.openxmlformats.org/drawingml/2006/main" noGrp="1"/>
          </p:cNvSpPr>
          <p:nvPr/>
        </p:nvSpPr>
        <p:spPr>
          <a:xfrm xmlns:a="http://schemas.openxmlformats.org/drawingml/2006/main">
            <a:off x="876300" y="704850"/>
            <a:ext cx="9334500" cy="5905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2400" b="1">
                <a:solidFill>
                  <a:srgbClr val="223A5E"/>
                </a:solidFill>
              </a:defRPr>
            </a:pPr>
            <a:r>
              <a:t>Ce que mesure l’IPC HCP</a:t>
            </a:r>
          </a:p>
        </p:txBody>
      </p:sp>
      <p:sp>
        <p:nvSpPr>
          <p:cNvPr id="2" name="">
            <a:extLst xmlns:a="http://schemas.openxmlformats.org/drawingml/2006/main">
              <a:ext uri="{FF2B5EF4-FFF2-40B4-BE49-F238E27FC236}">
                <a16:creationId xmlns:a16="http://schemas.microsoft.com/office/drawing/2014/main" id="{ECA4F434-A4F7-43B8-A9D4-15F26276855D}"/>
              </a:ext>
            </a:extLst>
          </p:cNvPr>
          <p:cNvSpPr>
            <a:spLocks xmlns:a="http://schemas.openxmlformats.org/drawingml/2006/main" noGrp="1"/>
          </p:cNvSpPr>
          <p:nvPr/>
        </p:nvSpPr>
        <p:spPr>
          <a:xfrm xmlns:a="http://schemas.openxmlformats.org/drawingml/2006/main">
            <a:off x="876300" y="1295400"/>
            <a:ext cx="9334500" cy="2857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200" b="1">
                <a:solidFill>
                  <a:srgbClr val="C86F4D"/>
                </a:solidFill>
              </a:defRPr>
            </a:pPr>
            <a:r>
              <a:t>Et ce que notre projet mesure réellement</a:t>
            </a:r>
          </a:p>
        </p:txBody>
      </p:sp>
      <p:sp>
        <p:nvSpPr>
          <p:cNvPr id="3" name="">
            <a:extLst xmlns:a="http://schemas.openxmlformats.org/drawingml/2006/main">
              <a:ext uri="{FF2B5EF4-FFF2-40B4-BE49-F238E27FC236}">
                <a16:creationId xmlns:a16="http://schemas.microsoft.com/office/drawing/2014/main" id="{2091A5E9-82F6-4228-8E82-56B272821251}"/>
              </a:ext>
            </a:extLst>
          </p:cNvPr>
          <p:cNvSpPr>
            <a:spLocks xmlns:a="http://schemas.openxmlformats.org/drawingml/2006/main" noGrp="1"/>
          </p:cNvSpPr>
          <p:nvPr/>
        </p:nvSpPr>
        <p:spPr>
          <a:xfrm xmlns:a="http://schemas.openxmlformats.org/drawingml/2006/main">
            <a:off x="685800" y="6477000"/>
            <a:ext cx="4762500" cy="1714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825">
                <a:solidFill>
                  <a:srgbClr val="6C6A66"/>
                </a:solidFill>
              </a:defRPr>
            </a:pPr>
            <a:r>
              <a:t>ENSAM Meknes • BESI V3</a:t>
            </a:r>
          </a:p>
        </p:txBody>
      </p:sp>
      <p:sp>
        <p:nvSpPr>
          <p:cNvPr id="4" name="">
            <a:extLst xmlns:a="http://schemas.openxmlformats.org/drawingml/2006/main">
              <a:ext uri="{FF2B5EF4-FFF2-40B4-BE49-F238E27FC236}">
                <a16:creationId xmlns:a16="http://schemas.microsoft.com/office/drawing/2014/main" id="{05AF3E35-94ED-443E-A404-0F0F3DCD0CC7}"/>
              </a:ext>
            </a:extLst>
          </p:cNvPr>
          <p:cNvSpPr>
            <a:spLocks xmlns:a="http://schemas.openxmlformats.org/drawingml/2006/main" noGrp="1"/>
          </p:cNvSpPr>
          <p:nvPr/>
        </p:nvSpPr>
        <p:spPr>
          <a:xfrm xmlns:a="http://schemas.openxmlformats.org/drawingml/2006/main">
            <a:off x="11049000" y="6477000"/>
            <a:ext cx="476250" cy="1714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lgn="r">
              <a:defRPr sz="825">
                <a:solidFill>
                  <a:srgbClr val="6C6A66"/>
                </a:solidFill>
              </a:defRPr>
            </a:pPr>
            <a:r>
              <a:t>4</a:t>
            </a:r>
          </a:p>
        </p:txBody>
      </p:sp>
      <p:sp>
        <p:nvSpPr>
          <p:cNvPr id="5" name="">
            <a:extLst xmlns:a="http://schemas.openxmlformats.org/drawingml/2006/main">
              <a:ext uri="{FF2B5EF4-FFF2-40B4-BE49-F238E27FC236}">
                <a16:creationId xmlns:a16="http://schemas.microsoft.com/office/drawing/2014/main" id="{3D40B51C-742C-4336-9BDB-642D4C2E909B}"/>
              </a:ext>
            </a:extLst>
          </p:cNvPr>
          <p:cNvSpPr>
            <a:spLocks xmlns:a="http://schemas.openxmlformats.org/drawingml/2006/main" noGrp="1"/>
          </p:cNvSpPr>
          <p:nvPr/>
        </p:nvSpPr>
        <p:spPr>
          <a:xfrm xmlns:a="http://schemas.openxmlformats.org/drawingml/2006/main">
            <a:off x="876300" y="1752600"/>
            <a:ext cx="4762500" cy="4095750"/>
          </a:xfrm>
          <a:prstGeom xmlns:a="http://schemas.openxmlformats.org/drawingml/2006/main" prst="rect">
            <a:avLst/>
          </a:prstGeom>
          <a:solidFill xmlns:a="http://schemas.openxmlformats.org/drawingml/2006/main">
            <a:srgbClr val="FFFFFF"/>
          </a:solidFill>
          <a:ln xmlns:a="http://schemas.openxmlformats.org/drawingml/2006/main" w="9525">
            <a:solidFill>
              <a:srgbClr val="EEE4D3"/>
            </a:solidFill>
            <a:prstDash val="solid"/>
          </a:ln>
        </p:spPr>
      </p:sp>
      <p:sp>
        <p:nvSpPr>
          <p:cNvPr id="6" name="">
            <a:extLst xmlns:a="http://schemas.openxmlformats.org/drawingml/2006/main">
              <a:ext uri="{FF2B5EF4-FFF2-40B4-BE49-F238E27FC236}">
                <a16:creationId xmlns:a16="http://schemas.microsoft.com/office/drawing/2014/main" id="{C3C29161-FC4C-4FDF-A245-9BD27C50F557}"/>
              </a:ext>
            </a:extLst>
          </p:cNvPr>
          <p:cNvSpPr>
            <a:spLocks xmlns:a="http://schemas.openxmlformats.org/drawingml/2006/main" noGrp="1"/>
          </p:cNvSpPr>
          <p:nvPr/>
        </p:nvSpPr>
        <p:spPr>
          <a:xfrm xmlns:a="http://schemas.openxmlformats.org/drawingml/2006/main">
            <a:off x="1143000" y="1981200"/>
            <a:ext cx="3810000" cy="26670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500" b="1">
                <a:solidFill>
                  <a:srgbClr val="223A5E"/>
                </a:solidFill>
              </a:defRPr>
            </a:pPr>
            <a:r>
              <a:t>IPC HCP : définition</a:t>
            </a:r>
          </a:p>
        </p:txBody>
      </p:sp>
      <p:sp>
        <p:nvSpPr>
          <p:cNvPr id="7" name="">
            <a:extLst xmlns:a="http://schemas.openxmlformats.org/drawingml/2006/main">
              <a:ext uri="{FF2B5EF4-FFF2-40B4-BE49-F238E27FC236}">
                <a16:creationId xmlns:a16="http://schemas.microsoft.com/office/drawing/2014/main" id="{3F4400CE-8AD9-4128-AF63-DE228E2E7A77}"/>
              </a:ext>
            </a:extLst>
          </p:cNvPr>
          <p:cNvSpPr>
            <a:spLocks xmlns:a="http://schemas.openxmlformats.org/drawingml/2006/main" noGrp="1"/>
          </p:cNvSpPr>
          <p:nvPr/>
        </p:nvSpPr>
        <p:spPr>
          <a:xfrm xmlns:a="http://schemas.openxmlformats.org/drawingml/2006/main">
            <a:off x="1143000" y="2400300"/>
            <a:ext cx="4000500" cy="228600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350">
                <a:solidFill>
                  <a:srgbClr val="2F3136"/>
                </a:solidFill>
              </a:defRPr>
            </a:pPr>
            <a:r>
              <a:t>• Indice des prix à la consommation publié par le Haut-Commissariat au Plan. • Mesure l’évolution des prix d’un panier de consommation des ménages. • Base utilisée dans le projet : 2017 = 100. • Fréquence mensuelle, vérité terrain officielle du projet final. • C’est un indicateur de prix, pas un indicateur complet de souffrance économique.</a:t>
            </a:r>
          </a:p>
        </p:txBody>
      </p:sp>
      <p:sp>
        <p:nvSpPr>
          <p:cNvPr id="8" name="">
            <a:extLst xmlns:a="http://schemas.openxmlformats.org/drawingml/2006/main">
              <a:ext uri="{FF2B5EF4-FFF2-40B4-BE49-F238E27FC236}">
                <a16:creationId xmlns:a16="http://schemas.microsoft.com/office/drawing/2014/main" id="{1914ACC4-237A-484F-B7F3-7CA0A271BF4E}"/>
              </a:ext>
            </a:extLst>
          </p:cNvPr>
          <p:cNvSpPr>
            <a:spLocks xmlns:a="http://schemas.openxmlformats.org/drawingml/2006/main" noGrp="1"/>
          </p:cNvSpPr>
          <p:nvPr/>
        </p:nvSpPr>
        <p:spPr>
          <a:xfrm xmlns:a="http://schemas.openxmlformats.org/drawingml/2006/main">
            <a:off x="5905500" y="1752600"/>
            <a:ext cx="5124450" cy="4095750"/>
          </a:xfrm>
          <a:prstGeom xmlns:a="http://schemas.openxmlformats.org/drawingml/2006/main" prst="rect">
            <a:avLst/>
          </a:prstGeom>
          <a:solidFill xmlns:a="http://schemas.openxmlformats.org/drawingml/2006/main">
            <a:srgbClr val="FFFFFF"/>
          </a:solidFill>
          <a:ln xmlns:a="http://schemas.openxmlformats.org/drawingml/2006/main" w="9525">
            <a:solidFill>
              <a:srgbClr val="EEE4D3"/>
            </a:solidFill>
            <a:prstDash val="solid"/>
          </a:ln>
        </p:spPr>
      </p:sp>
      <p:sp>
        <p:nvSpPr>
          <p:cNvPr id="9" name="">
            <a:extLst xmlns:a="http://schemas.openxmlformats.org/drawingml/2006/main">
              <a:ext uri="{FF2B5EF4-FFF2-40B4-BE49-F238E27FC236}">
                <a16:creationId xmlns:a16="http://schemas.microsoft.com/office/drawing/2014/main" id="{166C8761-5E66-4051-ACB1-B167C51371F4}"/>
              </a:ext>
            </a:extLst>
          </p:cNvPr>
          <p:cNvSpPr>
            <a:spLocks xmlns:a="http://schemas.openxmlformats.org/drawingml/2006/main" noGrp="1"/>
          </p:cNvSpPr>
          <p:nvPr/>
        </p:nvSpPr>
        <p:spPr>
          <a:xfrm xmlns:a="http://schemas.openxmlformats.org/drawingml/2006/main">
            <a:off x="6172200" y="1981200"/>
            <a:ext cx="4095750" cy="26670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500" b="1">
                <a:solidFill>
                  <a:srgbClr val="223A5E"/>
                </a:solidFill>
              </a:defRPr>
            </a:pPr>
            <a:r>
              <a:t>Interprétation correcte du projet</a:t>
            </a:r>
          </a:p>
        </p:txBody>
      </p:sp>
      <p:sp>
        <p:nvSpPr>
          <p:cNvPr id="10" name="">
            <a:extLst xmlns:a="http://schemas.openxmlformats.org/drawingml/2006/main">
              <a:ext uri="{FF2B5EF4-FFF2-40B4-BE49-F238E27FC236}">
                <a16:creationId xmlns:a16="http://schemas.microsoft.com/office/drawing/2014/main" id="{B71FD8AE-2C33-4C3C-9082-E7B967BBE416}"/>
              </a:ext>
            </a:extLst>
          </p:cNvPr>
          <p:cNvSpPr>
            <a:spLocks xmlns:a="http://schemas.openxmlformats.org/drawingml/2006/main" noGrp="1"/>
          </p:cNvSpPr>
          <p:nvPr/>
        </p:nvSpPr>
        <p:spPr>
          <a:xfrm xmlns:a="http://schemas.openxmlformats.org/drawingml/2006/main">
            <a:off x="6172200" y="2400300"/>
            <a:ext cx="4286250" cy="23812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350">
                <a:solidFill>
                  <a:srgbClr val="2F3136"/>
                </a:solidFill>
              </a:defRPr>
            </a:pPr>
            <a:r>
              <a:t>• Le projet ne prétend pas mesurer tout le stress économique des ménages. • Il teste si des signaux digitaux marocains aident à détecter des régimes d’inflation. • Le BESI doit donc être lu comme un signal d’alerte macro-comportemental. • Ce repositionnement améliore la cohérence entre théorie économique, données et résultats.</a:t>
            </a:r>
          </a:p>
        </p:txBody>
      </p:sp>
      <p:sp>
        <p:nvSpPr>
          <p:cNvPr id="11" name="">
            <a:extLst xmlns:a="http://schemas.openxmlformats.org/drawingml/2006/main">
              <a:ext uri="{FF2B5EF4-FFF2-40B4-BE49-F238E27FC236}">
                <a16:creationId xmlns:a16="http://schemas.microsoft.com/office/drawing/2014/main" id="{6EB76151-5E19-4E7A-9EAF-70F19D2BF303}"/>
              </a:ext>
            </a:extLst>
          </p:cNvPr>
          <p:cNvSpPr>
            <a:spLocks xmlns:a="http://schemas.openxmlformats.org/drawingml/2006/main" noGrp="1"/>
          </p:cNvSpPr>
          <p:nvPr/>
        </p:nvSpPr>
        <p:spPr>
          <a:xfrm xmlns:a="http://schemas.openxmlformats.org/drawingml/2006/main">
            <a:off x="6172200" y="5029200"/>
            <a:ext cx="3524250" cy="342900"/>
          </a:xfrm>
          <a:prstGeom xmlns:a="http://schemas.openxmlformats.org/drawingml/2006/main" prst="roundRect">
            <a:avLst>
              <a:gd name="adj" fmla="val 22222"/>
            </a:avLst>
          </a:prstGeom>
          <a:solidFill xmlns:a="http://schemas.openxmlformats.org/drawingml/2006/main">
            <a:srgbClr val="C86F4D"/>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5B91F95C-F558-4802-A401-51E34968DEEF}"/>
              </a:ext>
            </a:extLst>
          </p:cNvPr>
          <p:cNvSpPr>
            <a:spLocks xmlns:a="http://schemas.openxmlformats.org/drawingml/2006/main" noGrp="1"/>
          </p:cNvSpPr>
          <p:nvPr/>
        </p:nvSpPr>
        <p:spPr>
          <a:xfrm xmlns:a="http://schemas.openxmlformats.org/drawingml/2006/main">
            <a:off x="6172200" y="5029200"/>
            <a:ext cx="3524250" cy="34290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lgn="ctr">
              <a:defRPr sz="1125" b="1">
                <a:solidFill>
                  <a:srgbClr val="FFFFFF"/>
                </a:solidFill>
              </a:defRPr>
            </a:pPr>
            <a:r>
              <a:t>Message clé : IPC ≠ stress ménage complet</a:t>
            </a:r>
          </a:p>
        </p:txBody>
      </p:sp>
      <p:sp>
        <p:nvSpPr>
          <p:cNvPr id="13" name="">
            <a:extLst xmlns:a="http://schemas.openxmlformats.org/drawingml/2006/main">
              <a:ext uri="{FF2B5EF4-FFF2-40B4-BE49-F238E27FC236}">
                <a16:creationId xmlns:a16="http://schemas.microsoft.com/office/drawing/2014/main" id="{A84DEE10-D667-425A-867E-AD7AEC5B0856}"/>
              </a:ext>
            </a:extLst>
          </p:cNvPr>
          <p:cNvSpPr>
            <a:spLocks xmlns:a="http://schemas.openxmlformats.org/drawingml/2006/main" noGrp="1"/>
          </p:cNvSpPr>
          <p:nvPr/>
        </p:nvSpPr>
        <p:spPr>
          <a:xfrm xmlns:a="http://schemas.openxmlformats.org/drawingml/2006/main">
            <a:off x="685800" y="6477000"/>
            <a:ext cx="4762500" cy="1714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825">
                <a:solidFill>
                  <a:srgbClr val="6C6A66"/>
                </a:solidFill>
              </a:defRPr>
            </a:pPr>
            <a:r>
              <a:t>ENSAM Meknes • Cadrage économique</a:t>
            </a:r>
          </a:p>
        </p:txBody>
      </p:sp>
      <p:sp>
        <p:nvSpPr>
          <p:cNvPr id="14" name="">
            <a:extLst xmlns:a="http://schemas.openxmlformats.org/drawingml/2006/main">
              <a:ext uri="{FF2B5EF4-FFF2-40B4-BE49-F238E27FC236}">
                <a16:creationId xmlns:a16="http://schemas.microsoft.com/office/drawing/2014/main" id="{A22EF1A8-098D-4853-ABA5-D245A7B1C47D}"/>
              </a:ext>
            </a:extLst>
          </p:cNvPr>
          <p:cNvSpPr>
            <a:spLocks xmlns:a="http://schemas.openxmlformats.org/drawingml/2006/main" noGrp="1"/>
          </p:cNvSpPr>
          <p:nvPr/>
        </p:nvSpPr>
        <p:spPr>
          <a:xfrm xmlns:a="http://schemas.openxmlformats.org/drawingml/2006/main">
            <a:off x="11049000" y="6477000"/>
            <a:ext cx="476250" cy="1714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lgn="r">
              <a:defRPr sz="825">
                <a:solidFill>
                  <a:srgbClr val="6C6A66"/>
                </a:solidFill>
              </a:defRPr>
            </a:pPr>
            <a:r>
              <a:t>4</a:t>
            </a:r>
          </a:p>
        </p:txBody>
      </p:sp>
    </p:spTree>
    <p:extLst>
      <p:ext uri="{BB962C8B-B14F-4D97-AF65-F5344CB8AC3E}">
        <p14:creationId xmlns:p14="http://schemas.microsoft.com/office/powerpoint/2010/main" val="1088930986"/>
      </p:ext>
    </p:extLst>
  </p:cSld>
</p:sld>
</file>

<file path=ppt/slides/slide5.xml><?xml version="1.0" encoding="utf-8"?>
<p:sld xmlns:p="http://schemas.openxmlformats.org/presentationml/2006/main">
  <p:cSld>
    <p:bg>
      <p:bgPr>
        <a:solidFill xmlns:a="http://schemas.openxmlformats.org/drawingml/2006/main">
          <a:srgbClr val="F6F1E7"/>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5F295022-8720-47D5-A91E-B84CED28D89A}"/>
              </a:ext>
            </a:extLst>
          </p:cNvPr>
          <p:cNvSpPr>
            <a:spLocks xmlns:a="http://schemas.openxmlformats.org/drawingml/2006/main" noGrp="1"/>
          </p:cNvSpPr>
          <p:nvPr/>
        </p:nvSpPr>
        <p:spPr>
          <a:xfrm xmlns:a="http://schemas.openxmlformats.org/drawingml/2006/main">
            <a:off x="876300" y="704850"/>
            <a:ext cx="9334500" cy="5905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2400" b="1">
                <a:solidFill>
                  <a:srgbClr val="223A5E"/>
                </a:solidFill>
              </a:defRPr>
            </a:pPr>
            <a:r>
              <a:t>Question de recherche et hypothèses</a:t>
            </a:r>
          </a:p>
        </p:txBody>
      </p:sp>
      <p:sp>
        <p:nvSpPr>
          <p:cNvPr id="2" name="">
            <a:extLst xmlns:a="http://schemas.openxmlformats.org/drawingml/2006/main">
              <a:ext uri="{FF2B5EF4-FFF2-40B4-BE49-F238E27FC236}">
                <a16:creationId xmlns:a16="http://schemas.microsoft.com/office/drawing/2014/main" id="{A355FC31-7751-4665-921B-FE1D1ACE1D7D}"/>
              </a:ext>
            </a:extLst>
          </p:cNvPr>
          <p:cNvSpPr>
            <a:spLocks xmlns:a="http://schemas.openxmlformats.org/drawingml/2006/main" noGrp="1"/>
          </p:cNvSpPr>
          <p:nvPr/>
        </p:nvSpPr>
        <p:spPr>
          <a:xfrm xmlns:a="http://schemas.openxmlformats.org/drawingml/2006/main">
            <a:off x="876300" y="1295400"/>
            <a:ext cx="9334500" cy="2857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200" b="1">
                <a:solidFill>
                  <a:srgbClr val="C86F4D"/>
                </a:solidFill>
              </a:defRPr>
            </a:pPr>
            <a:r>
              <a:t>Le cadre analytique retenu en V3</a:t>
            </a:r>
          </a:p>
        </p:txBody>
      </p:sp>
      <p:sp>
        <p:nvSpPr>
          <p:cNvPr id="3" name="">
            <a:extLst xmlns:a="http://schemas.openxmlformats.org/drawingml/2006/main">
              <a:ext uri="{FF2B5EF4-FFF2-40B4-BE49-F238E27FC236}">
                <a16:creationId xmlns:a16="http://schemas.microsoft.com/office/drawing/2014/main" id="{2A95E4E0-7F68-4726-8B26-C34992738808}"/>
              </a:ext>
            </a:extLst>
          </p:cNvPr>
          <p:cNvSpPr>
            <a:spLocks xmlns:a="http://schemas.openxmlformats.org/drawingml/2006/main" noGrp="1"/>
          </p:cNvSpPr>
          <p:nvPr/>
        </p:nvSpPr>
        <p:spPr>
          <a:xfrm xmlns:a="http://schemas.openxmlformats.org/drawingml/2006/main">
            <a:off x="685800" y="6477000"/>
            <a:ext cx="4762500" cy="1714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825">
                <a:solidFill>
                  <a:srgbClr val="6C6A66"/>
                </a:solidFill>
              </a:defRPr>
            </a:pPr>
            <a:r>
              <a:t>ENSAM Meknes • BESI V3</a:t>
            </a:r>
          </a:p>
        </p:txBody>
      </p:sp>
      <p:sp>
        <p:nvSpPr>
          <p:cNvPr id="4" name="">
            <a:extLst xmlns:a="http://schemas.openxmlformats.org/drawingml/2006/main">
              <a:ext uri="{FF2B5EF4-FFF2-40B4-BE49-F238E27FC236}">
                <a16:creationId xmlns:a16="http://schemas.microsoft.com/office/drawing/2014/main" id="{54FB5AAD-D46F-4560-B2D9-73DAAED43FD3}"/>
              </a:ext>
            </a:extLst>
          </p:cNvPr>
          <p:cNvSpPr>
            <a:spLocks xmlns:a="http://schemas.openxmlformats.org/drawingml/2006/main" noGrp="1"/>
          </p:cNvSpPr>
          <p:nvPr/>
        </p:nvSpPr>
        <p:spPr>
          <a:xfrm xmlns:a="http://schemas.openxmlformats.org/drawingml/2006/main">
            <a:off x="11049000" y="6477000"/>
            <a:ext cx="476250" cy="1714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lgn="r">
              <a:defRPr sz="825">
                <a:solidFill>
                  <a:srgbClr val="6C6A66"/>
                </a:solidFill>
              </a:defRPr>
            </a:pPr>
            <a:r>
              <a:t>5</a:t>
            </a:r>
          </a:p>
        </p:txBody>
      </p:sp>
      <p:sp>
        <p:nvSpPr>
          <p:cNvPr id="5" name="">
            <a:extLst xmlns:a="http://schemas.openxmlformats.org/drawingml/2006/main">
              <a:ext uri="{FF2B5EF4-FFF2-40B4-BE49-F238E27FC236}">
                <a16:creationId xmlns:a16="http://schemas.microsoft.com/office/drawing/2014/main" id="{F11DD2D0-4A9D-4DBB-BCE3-E44068CD93E8}"/>
              </a:ext>
            </a:extLst>
          </p:cNvPr>
          <p:cNvSpPr>
            <a:spLocks xmlns:a="http://schemas.openxmlformats.org/drawingml/2006/main" noGrp="1"/>
          </p:cNvSpPr>
          <p:nvPr/>
        </p:nvSpPr>
        <p:spPr>
          <a:xfrm xmlns:a="http://schemas.openxmlformats.org/drawingml/2006/main">
            <a:off x="876300" y="1790700"/>
            <a:ext cx="10153650" cy="933450"/>
          </a:xfrm>
          <a:prstGeom xmlns:a="http://schemas.openxmlformats.org/drawingml/2006/main" prst="rect">
            <a:avLst/>
          </a:prstGeom>
          <a:solidFill xmlns:a="http://schemas.openxmlformats.org/drawingml/2006/main">
            <a:srgbClr val="FFFDF8"/>
          </a:solidFill>
          <a:ln xmlns:a="http://schemas.openxmlformats.org/drawingml/2006/main" w="9525">
            <a:solidFill>
              <a:srgbClr val="D8BC8C"/>
            </a:solidFill>
            <a:prstDash val="solid"/>
          </a:ln>
        </p:spPr>
      </p:sp>
      <p:sp>
        <p:nvSpPr>
          <p:cNvPr id="6" name="">
            <a:extLst xmlns:a="http://schemas.openxmlformats.org/drawingml/2006/main">
              <a:ext uri="{FF2B5EF4-FFF2-40B4-BE49-F238E27FC236}">
                <a16:creationId xmlns:a16="http://schemas.microsoft.com/office/drawing/2014/main" id="{797BDB1B-CC54-4810-8222-76D06128BC0C}"/>
              </a:ext>
            </a:extLst>
          </p:cNvPr>
          <p:cNvSpPr>
            <a:spLocks xmlns:a="http://schemas.openxmlformats.org/drawingml/2006/main" noGrp="1"/>
          </p:cNvSpPr>
          <p:nvPr/>
        </p:nvSpPr>
        <p:spPr>
          <a:xfrm xmlns:a="http://schemas.openxmlformats.org/drawingml/2006/main">
            <a:off x="1143000" y="2095500"/>
            <a:ext cx="9525000" cy="4000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650" b="1">
                <a:solidFill>
                  <a:srgbClr val="223A5E"/>
                </a:solidFill>
              </a:defRPr>
            </a:pPr>
            <a:r>
              <a:t>Question principale : des signaux comportementaux digitaux marocains peuvent-ils aider à détecter des régimes d’inflation avant ou autour de la publication officielle de l’IPC ?</a:t>
            </a:r>
          </a:p>
        </p:txBody>
      </p:sp>
      <p:sp>
        <p:nvSpPr>
          <p:cNvPr id="7" name="">
            <a:extLst xmlns:a="http://schemas.openxmlformats.org/drawingml/2006/main">
              <a:ext uri="{FF2B5EF4-FFF2-40B4-BE49-F238E27FC236}">
                <a16:creationId xmlns:a16="http://schemas.microsoft.com/office/drawing/2014/main" id="{4E5D050F-BC81-4CBA-8E74-A009E2518F53}"/>
              </a:ext>
            </a:extLst>
          </p:cNvPr>
          <p:cNvSpPr>
            <a:spLocks xmlns:a="http://schemas.openxmlformats.org/drawingml/2006/main" noGrp="1"/>
          </p:cNvSpPr>
          <p:nvPr/>
        </p:nvSpPr>
        <p:spPr>
          <a:xfrm xmlns:a="http://schemas.openxmlformats.org/drawingml/2006/main">
            <a:off x="876300" y="3086100"/>
            <a:ext cx="3143250" cy="1809750"/>
          </a:xfrm>
          <a:prstGeom xmlns:a="http://schemas.openxmlformats.org/drawingml/2006/main" prst="rect">
            <a:avLst/>
          </a:prstGeom>
          <a:solidFill xmlns:a="http://schemas.openxmlformats.org/drawingml/2006/main">
            <a:srgbClr val="FFFFFF"/>
          </a:solidFill>
          <a:ln xmlns:a="http://schemas.openxmlformats.org/drawingml/2006/main" w="9525">
            <a:solidFill>
              <a:srgbClr val="EEE4D3"/>
            </a:solidFill>
            <a:prstDash val="solid"/>
          </a:ln>
        </p:spPr>
      </p:sp>
      <p:sp>
        <p:nvSpPr>
          <p:cNvPr id="8" name="">
            <a:extLst xmlns:a="http://schemas.openxmlformats.org/drawingml/2006/main">
              <a:ext uri="{FF2B5EF4-FFF2-40B4-BE49-F238E27FC236}">
                <a16:creationId xmlns:a16="http://schemas.microsoft.com/office/drawing/2014/main" id="{2D867F42-0E46-42F8-80D6-F3B08BFB6587}"/>
              </a:ext>
            </a:extLst>
          </p:cNvPr>
          <p:cNvSpPr>
            <a:spLocks xmlns:a="http://schemas.openxmlformats.org/drawingml/2006/main" noGrp="1"/>
          </p:cNvSpPr>
          <p:nvPr/>
        </p:nvSpPr>
        <p:spPr>
          <a:xfrm xmlns:a="http://schemas.openxmlformats.org/drawingml/2006/main">
            <a:off x="876300" y="3086100"/>
            <a:ext cx="76200" cy="1809750"/>
          </a:xfrm>
          <a:prstGeom xmlns:a="http://schemas.openxmlformats.org/drawingml/2006/main" prst="rect">
            <a:avLst/>
          </a:prstGeom>
          <a:solidFill xmlns:a="http://schemas.openxmlformats.org/drawingml/2006/main">
            <a:srgbClr val="223A5E"/>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5E887D56-96AC-496F-AB52-E0F6620DBD7A}"/>
              </a:ext>
            </a:extLst>
          </p:cNvPr>
          <p:cNvSpPr>
            <a:spLocks xmlns:a="http://schemas.openxmlformats.org/drawingml/2006/main" noGrp="1"/>
          </p:cNvSpPr>
          <p:nvPr/>
        </p:nvSpPr>
        <p:spPr>
          <a:xfrm xmlns:a="http://schemas.openxmlformats.org/drawingml/2006/main">
            <a:off x="1104900" y="3257550"/>
            <a:ext cx="2762250" cy="19050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975" b="1">
                <a:solidFill>
                  <a:srgbClr val="6C6A66"/>
                </a:solidFill>
              </a:defRPr>
            </a:pPr>
            <a:r>
              <a:t>H1 — Behavioral</a:t>
            </a:r>
          </a:p>
        </p:txBody>
      </p:sp>
      <p:sp>
        <p:nvSpPr>
          <p:cNvPr id="10" name="">
            <a:extLst xmlns:a="http://schemas.openxmlformats.org/drawingml/2006/main">
              <a:ext uri="{FF2B5EF4-FFF2-40B4-BE49-F238E27FC236}">
                <a16:creationId xmlns:a16="http://schemas.microsoft.com/office/drawing/2014/main" id="{90E4D668-0B04-4347-9748-7090890A4AF4}"/>
              </a:ext>
            </a:extLst>
          </p:cNvPr>
          <p:cNvSpPr>
            <a:spLocks xmlns:a="http://schemas.openxmlformats.org/drawingml/2006/main" noGrp="1"/>
          </p:cNvSpPr>
          <p:nvPr/>
        </p:nvSpPr>
        <p:spPr>
          <a:xfrm xmlns:a="http://schemas.openxmlformats.org/drawingml/2006/main">
            <a:off x="1104900" y="3486150"/>
            <a:ext cx="2762250" cy="38100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2100" b="1">
                <a:solidFill>
                  <a:srgbClr val="223A5E"/>
                </a:solidFill>
              </a:defRPr>
            </a:pPr>
            <a:r>
              <a:t>Partiellement validée</a:t>
            </a:r>
          </a:p>
        </p:txBody>
      </p:sp>
      <p:sp>
        <p:nvSpPr>
          <p:cNvPr id="11" name="">
            <a:extLst xmlns:a="http://schemas.openxmlformats.org/drawingml/2006/main">
              <a:ext uri="{FF2B5EF4-FFF2-40B4-BE49-F238E27FC236}">
                <a16:creationId xmlns:a16="http://schemas.microsoft.com/office/drawing/2014/main" id="{08D869C6-74BD-492A-98EF-5041164BC6DF}"/>
              </a:ext>
            </a:extLst>
          </p:cNvPr>
          <p:cNvSpPr>
            <a:spLocks xmlns:a="http://schemas.openxmlformats.org/drawingml/2006/main" noGrp="1"/>
          </p:cNvSpPr>
          <p:nvPr/>
        </p:nvSpPr>
        <p:spPr>
          <a:xfrm xmlns:a="http://schemas.openxmlformats.org/drawingml/2006/main">
            <a:off x="1104900" y="3924300"/>
            <a:ext cx="2762250" cy="3238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900">
                <a:solidFill>
                  <a:srgbClr val="2F3136"/>
                </a:solidFill>
              </a:defRPr>
            </a:pPr>
            <a:r>
              <a:t>Le BESI Trends améliore SARIMA et détecte bien les épisodes d’inflation, mais ne bat pas la baseline naïve en RMSE global.</a:t>
            </a:r>
          </a:p>
        </p:txBody>
      </p:sp>
      <p:sp>
        <p:nvSpPr>
          <p:cNvPr id="12" name="">
            <a:extLst xmlns:a="http://schemas.openxmlformats.org/drawingml/2006/main">
              <a:ext uri="{FF2B5EF4-FFF2-40B4-BE49-F238E27FC236}">
                <a16:creationId xmlns:a16="http://schemas.microsoft.com/office/drawing/2014/main" id="{2F3B432D-0718-430C-8B21-B506A0404EA8}"/>
              </a:ext>
            </a:extLst>
          </p:cNvPr>
          <p:cNvSpPr>
            <a:spLocks xmlns:a="http://schemas.openxmlformats.org/drawingml/2006/main" noGrp="1"/>
          </p:cNvSpPr>
          <p:nvPr/>
        </p:nvSpPr>
        <p:spPr>
          <a:xfrm xmlns:a="http://schemas.openxmlformats.org/drawingml/2006/main">
            <a:off x="4381500" y="3086100"/>
            <a:ext cx="3143250" cy="1809750"/>
          </a:xfrm>
          <a:prstGeom xmlns:a="http://schemas.openxmlformats.org/drawingml/2006/main" prst="rect">
            <a:avLst/>
          </a:prstGeom>
          <a:solidFill xmlns:a="http://schemas.openxmlformats.org/drawingml/2006/main">
            <a:srgbClr val="FFFFFF"/>
          </a:solidFill>
          <a:ln xmlns:a="http://schemas.openxmlformats.org/drawingml/2006/main" w="9525">
            <a:solidFill>
              <a:srgbClr val="EEE4D3"/>
            </a:solidFill>
            <a:prstDash val="solid"/>
          </a:ln>
        </p:spPr>
      </p:sp>
      <p:sp>
        <p:nvSpPr>
          <p:cNvPr id="13" name="">
            <a:extLst xmlns:a="http://schemas.openxmlformats.org/drawingml/2006/main">
              <a:ext uri="{FF2B5EF4-FFF2-40B4-BE49-F238E27FC236}">
                <a16:creationId xmlns:a16="http://schemas.microsoft.com/office/drawing/2014/main" id="{977F2684-286C-4D0E-A1C5-787559E96F8C}"/>
              </a:ext>
            </a:extLst>
          </p:cNvPr>
          <p:cNvSpPr>
            <a:spLocks xmlns:a="http://schemas.openxmlformats.org/drawingml/2006/main" noGrp="1"/>
          </p:cNvSpPr>
          <p:nvPr/>
        </p:nvSpPr>
        <p:spPr>
          <a:xfrm xmlns:a="http://schemas.openxmlformats.org/drawingml/2006/main">
            <a:off x="4381500" y="3086100"/>
            <a:ext cx="76200" cy="1809750"/>
          </a:xfrm>
          <a:prstGeom xmlns:a="http://schemas.openxmlformats.org/drawingml/2006/main" prst="rect">
            <a:avLst/>
          </a:prstGeom>
          <a:solidFill xmlns:a="http://schemas.openxmlformats.org/drawingml/2006/main">
            <a:srgbClr val="C86F4D"/>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3850D7B0-23B5-4D88-97B8-A436C818976E}"/>
              </a:ext>
            </a:extLst>
          </p:cNvPr>
          <p:cNvSpPr>
            <a:spLocks xmlns:a="http://schemas.openxmlformats.org/drawingml/2006/main" noGrp="1"/>
          </p:cNvSpPr>
          <p:nvPr/>
        </p:nvSpPr>
        <p:spPr>
          <a:xfrm xmlns:a="http://schemas.openxmlformats.org/drawingml/2006/main">
            <a:off x="4610100" y="3257550"/>
            <a:ext cx="2762250" cy="19050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975" b="1">
                <a:solidFill>
                  <a:srgbClr val="6C6A66"/>
                </a:solidFill>
              </a:defRPr>
            </a:pPr>
            <a:r>
              <a:t>H2 — Hybrid macro</a:t>
            </a:r>
          </a:p>
        </p:txBody>
      </p:sp>
      <p:sp>
        <p:nvSpPr>
          <p:cNvPr id="15" name="">
            <a:extLst xmlns:a="http://schemas.openxmlformats.org/drawingml/2006/main">
              <a:ext uri="{FF2B5EF4-FFF2-40B4-BE49-F238E27FC236}">
                <a16:creationId xmlns:a16="http://schemas.microsoft.com/office/drawing/2014/main" id="{B98C01E2-B486-4D0B-8D8E-9377962716B7}"/>
              </a:ext>
            </a:extLst>
          </p:cNvPr>
          <p:cNvSpPr>
            <a:spLocks xmlns:a="http://schemas.openxmlformats.org/drawingml/2006/main" noGrp="1"/>
          </p:cNvSpPr>
          <p:nvPr/>
        </p:nvSpPr>
        <p:spPr>
          <a:xfrm xmlns:a="http://schemas.openxmlformats.org/drawingml/2006/main">
            <a:off x="4610100" y="3486150"/>
            <a:ext cx="2762250" cy="38100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2100" b="1">
                <a:solidFill>
                  <a:srgbClr val="C86F4D"/>
                </a:solidFill>
              </a:defRPr>
            </a:pPr>
            <a:r>
              <a:t>Rejetée</a:t>
            </a:r>
          </a:p>
        </p:txBody>
      </p:sp>
      <p:sp>
        <p:nvSpPr>
          <p:cNvPr id="16" name="">
            <a:extLst xmlns:a="http://schemas.openxmlformats.org/drawingml/2006/main">
              <a:ext uri="{FF2B5EF4-FFF2-40B4-BE49-F238E27FC236}">
                <a16:creationId xmlns:a16="http://schemas.microsoft.com/office/drawing/2014/main" id="{D3DDEB00-C4F7-4D4D-A696-86FF19B54731}"/>
              </a:ext>
            </a:extLst>
          </p:cNvPr>
          <p:cNvSpPr>
            <a:spLocks xmlns:a="http://schemas.openxmlformats.org/drawingml/2006/main" noGrp="1"/>
          </p:cNvSpPr>
          <p:nvPr/>
        </p:nvSpPr>
        <p:spPr>
          <a:xfrm xmlns:a="http://schemas.openxmlformats.org/drawingml/2006/main">
            <a:off x="4610100" y="3924300"/>
            <a:ext cx="2762250" cy="3238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900">
                <a:solidFill>
                  <a:srgbClr val="2F3136"/>
                </a:solidFill>
              </a:defRPr>
            </a:pPr>
            <a:r>
              <a:t>L’ajout de FAO + MAD/EUR dégrade la détection sur la période inflationniste clé 2022–2024.</a:t>
            </a:r>
          </a:p>
        </p:txBody>
      </p:sp>
      <p:sp>
        <p:nvSpPr>
          <p:cNvPr id="17" name="">
            <a:extLst xmlns:a="http://schemas.openxmlformats.org/drawingml/2006/main">
              <a:ext uri="{FF2B5EF4-FFF2-40B4-BE49-F238E27FC236}">
                <a16:creationId xmlns:a16="http://schemas.microsoft.com/office/drawing/2014/main" id="{C945AA86-82AD-4D36-9267-10255CE1F76E}"/>
              </a:ext>
            </a:extLst>
          </p:cNvPr>
          <p:cNvSpPr>
            <a:spLocks xmlns:a="http://schemas.openxmlformats.org/drawingml/2006/main" noGrp="1"/>
          </p:cNvSpPr>
          <p:nvPr/>
        </p:nvSpPr>
        <p:spPr>
          <a:xfrm xmlns:a="http://schemas.openxmlformats.org/drawingml/2006/main">
            <a:off x="7886700" y="3086100"/>
            <a:ext cx="3143250" cy="1809750"/>
          </a:xfrm>
          <a:prstGeom xmlns:a="http://schemas.openxmlformats.org/drawingml/2006/main" prst="rect">
            <a:avLst/>
          </a:prstGeom>
          <a:solidFill xmlns:a="http://schemas.openxmlformats.org/drawingml/2006/main">
            <a:srgbClr val="FFFFFF"/>
          </a:solidFill>
          <a:ln xmlns:a="http://schemas.openxmlformats.org/drawingml/2006/main" w="9525">
            <a:solidFill>
              <a:srgbClr val="EEE4D3"/>
            </a:solidFill>
            <a:prstDash val="solid"/>
          </a:ln>
        </p:spPr>
      </p:sp>
      <p:sp>
        <p:nvSpPr>
          <p:cNvPr id="18" name="">
            <a:extLst xmlns:a="http://schemas.openxmlformats.org/drawingml/2006/main">
              <a:ext uri="{FF2B5EF4-FFF2-40B4-BE49-F238E27FC236}">
                <a16:creationId xmlns:a16="http://schemas.microsoft.com/office/drawing/2014/main" id="{5AB4CC82-58A9-4A25-ADAF-6857C4D5D50F}"/>
              </a:ext>
            </a:extLst>
          </p:cNvPr>
          <p:cNvSpPr>
            <a:spLocks xmlns:a="http://schemas.openxmlformats.org/drawingml/2006/main" noGrp="1"/>
          </p:cNvSpPr>
          <p:nvPr/>
        </p:nvSpPr>
        <p:spPr>
          <a:xfrm xmlns:a="http://schemas.openxmlformats.org/drawingml/2006/main">
            <a:off x="7886700" y="3086100"/>
            <a:ext cx="76200" cy="1809750"/>
          </a:xfrm>
          <a:prstGeom xmlns:a="http://schemas.openxmlformats.org/drawingml/2006/main" prst="rect">
            <a:avLst/>
          </a:prstGeom>
          <a:solidFill xmlns:a="http://schemas.openxmlformats.org/drawingml/2006/main">
            <a:srgbClr val="5E7E6A"/>
          </a:solidFill>
          <a:ln xmlns:a="http://schemas.openxmlformats.org/drawingml/2006/main" w="0">
            <a:noFill/>
            <a:prstDash val="solid"/>
          </a:ln>
        </p:spPr>
      </p:sp>
      <p:sp>
        <p:nvSpPr>
          <p:cNvPr id="19" name="">
            <a:extLst xmlns:a="http://schemas.openxmlformats.org/drawingml/2006/main">
              <a:ext uri="{FF2B5EF4-FFF2-40B4-BE49-F238E27FC236}">
                <a16:creationId xmlns:a16="http://schemas.microsoft.com/office/drawing/2014/main" id="{CACF5944-06BC-4C21-8246-4A403D613DBD}"/>
              </a:ext>
            </a:extLst>
          </p:cNvPr>
          <p:cNvSpPr>
            <a:spLocks xmlns:a="http://schemas.openxmlformats.org/drawingml/2006/main" noGrp="1"/>
          </p:cNvSpPr>
          <p:nvPr/>
        </p:nvSpPr>
        <p:spPr>
          <a:xfrm xmlns:a="http://schemas.openxmlformats.org/drawingml/2006/main">
            <a:off x="8115300" y="3257550"/>
            <a:ext cx="2762250" cy="19050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975" b="1">
                <a:solidFill>
                  <a:srgbClr val="6C6A66"/>
                </a:solidFill>
              </a:defRPr>
            </a:pPr>
            <a:r>
              <a:t>Extension NLP</a:t>
            </a:r>
          </a:p>
        </p:txBody>
      </p:sp>
      <p:sp>
        <p:nvSpPr>
          <p:cNvPr id="20" name="">
            <a:extLst xmlns:a="http://schemas.openxmlformats.org/drawingml/2006/main">
              <a:ext uri="{FF2B5EF4-FFF2-40B4-BE49-F238E27FC236}">
                <a16:creationId xmlns:a16="http://schemas.microsoft.com/office/drawing/2014/main" id="{E350A029-2EC4-4AE2-848F-20EAEE1A4CF6}"/>
              </a:ext>
            </a:extLst>
          </p:cNvPr>
          <p:cNvSpPr>
            <a:spLocks xmlns:a="http://schemas.openxmlformats.org/drawingml/2006/main" noGrp="1"/>
          </p:cNvSpPr>
          <p:nvPr/>
        </p:nvSpPr>
        <p:spPr>
          <a:xfrm xmlns:a="http://schemas.openxmlformats.org/drawingml/2006/main">
            <a:off x="8115300" y="3486150"/>
            <a:ext cx="2762250" cy="38100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2100" b="1">
                <a:solidFill>
                  <a:srgbClr val="5E7E6A"/>
                </a:solidFill>
              </a:defRPr>
            </a:pPr>
            <a:r>
              <a:t>Exploratoire</a:t>
            </a:r>
          </a:p>
        </p:txBody>
      </p:sp>
      <p:sp>
        <p:nvSpPr>
          <p:cNvPr id="21" name="">
            <a:extLst xmlns:a="http://schemas.openxmlformats.org/drawingml/2006/main">
              <a:ext uri="{FF2B5EF4-FFF2-40B4-BE49-F238E27FC236}">
                <a16:creationId xmlns:a16="http://schemas.microsoft.com/office/drawing/2014/main" id="{6DE6D41D-5292-422C-931F-1D272C0471D5}"/>
              </a:ext>
            </a:extLst>
          </p:cNvPr>
          <p:cNvSpPr>
            <a:spLocks xmlns:a="http://schemas.openxmlformats.org/drawingml/2006/main" noGrp="1"/>
          </p:cNvSpPr>
          <p:nvPr/>
        </p:nvSpPr>
        <p:spPr>
          <a:xfrm xmlns:a="http://schemas.openxmlformats.org/drawingml/2006/main">
            <a:off x="8115300" y="3924300"/>
            <a:ext cx="2762250" cy="3238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900">
                <a:solidFill>
                  <a:srgbClr val="2F3136"/>
                </a:solidFill>
              </a:defRPr>
            </a:pPr>
            <a:r>
              <a:t>Le signal presse marocain a été testé proprement, mais n’ajoute pas d’information conditionnelle au BESI principal.</a:t>
            </a:r>
          </a:p>
        </p:txBody>
      </p:sp>
      <p:sp>
        <p:nvSpPr>
          <p:cNvPr id="22" name="">
            <a:extLst xmlns:a="http://schemas.openxmlformats.org/drawingml/2006/main">
              <a:ext uri="{FF2B5EF4-FFF2-40B4-BE49-F238E27FC236}">
                <a16:creationId xmlns:a16="http://schemas.microsoft.com/office/drawing/2014/main" id="{27AE937D-9E63-411F-9C3A-AF6C51971B3B}"/>
              </a:ext>
            </a:extLst>
          </p:cNvPr>
          <p:cNvSpPr>
            <a:spLocks xmlns:a="http://schemas.openxmlformats.org/drawingml/2006/main" noGrp="1"/>
          </p:cNvSpPr>
          <p:nvPr/>
        </p:nvSpPr>
        <p:spPr>
          <a:xfrm xmlns:a="http://schemas.openxmlformats.org/drawingml/2006/main">
            <a:off x="876300" y="5219700"/>
            <a:ext cx="10287000" cy="45720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350">
                <a:solidFill>
                  <a:srgbClr val="2F3136"/>
                </a:solidFill>
              </a:defRPr>
            </a:pPr>
            <a:r>
              <a:t>La force du projet n’est pas d’avoir confirmé toutes les hypothèses, mais d’avoir traité chaque hypothèse avec des données réelles, un pipeline clair et des critères d’évaluation explicites.</a:t>
            </a:r>
          </a:p>
        </p:txBody>
      </p:sp>
      <p:sp>
        <p:nvSpPr>
          <p:cNvPr id="23" name="">
            <a:extLst xmlns:a="http://schemas.openxmlformats.org/drawingml/2006/main">
              <a:ext uri="{FF2B5EF4-FFF2-40B4-BE49-F238E27FC236}">
                <a16:creationId xmlns:a16="http://schemas.microsoft.com/office/drawing/2014/main" id="{58D3B508-8FF8-4035-B22F-472D9EDD5705}"/>
              </a:ext>
            </a:extLst>
          </p:cNvPr>
          <p:cNvSpPr>
            <a:spLocks xmlns:a="http://schemas.openxmlformats.org/drawingml/2006/main" noGrp="1"/>
          </p:cNvSpPr>
          <p:nvPr/>
        </p:nvSpPr>
        <p:spPr>
          <a:xfrm xmlns:a="http://schemas.openxmlformats.org/drawingml/2006/main">
            <a:off x="685800" y="6477000"/>
            <a:ext cx="4762500" cy="1714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825">
                <a:solidFill>
                  <a:srgbClr val="6C6A66"/>
                </a:solidFill>
              </a:defRPr>
            </a:pPr>
            <a:r>
              <a:t>ENSAM Meknes • Question de recherche</a:t>
            </a:r>
          </a:p>
        </p:txBody>
      </p:sp>
      <p:sp>
        <p:nvSpPr>
          <p:cNvPr id="24" name="">
            <a:extLst xmlns:a="http://schemas.openxmlformats.org/drawingml/2006/main">
              <a:ext uri="{FF2B5EF4-FFF2-40B4-BE49-F238E27FC236}">
                <a16:creationId xmlns:a16="http://schemas.microsoft.com/office/drawing/2014/main" id="{9135D413-8E56-4FCB-8761-6042BFAF010B}"/>
              </a:ext>
            </a:extLst>
          </p:cNvPr>
          <p:cNvSpPr>
            <a:spLocks xmlns:a="http://schemas.openxmlformats.org/drawingml/2006/main" noGrp="1"/>
          </p:cNvSpPr>
          <p:nvPr/>
        </p:nvSpPr>
        <p:spPr>
          <a:xfrm xmlns:a="http://schemas.openxmlformats.org/drawingml/2006/main">
            <a:off x="11049000" y="6477000"/>
            <a:ext cx="476250" cy="1714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lgn="r">
              <a:defRPr sz="825">
                <a:solidFill>
                  <a:srgbClr val="6C6A66"/>
                </a:solidFill>
              </a:defRPr>
            </a:pPr>
            <a:r>
              <a:t>5</a:t>
            </a:r>
          </a:p>
        </p:txBody>
      </p:sp>
    </p:spTree>
    <p:extLst>
      <p:ext uri="{BB962C8B-B14F-4D97-AF65-F5344CB8AC3E}">
        <p14:creationId xmlns:p14="http://schemas.microsoft.com/office/powerpoint/2010/main" val="840458494"/>
      </p:ext>
    </p:extLst>
  </p:cSld>
</p:sld>
</file>

<file path=ppt/slides/slide6.xml><?xml version="1.0" encoding="utf-8"?>
<p:sld xmlns:p="http://schemas.openxmlformats.org/presentationml/2006/main">
  <p:cSld>
    <p:bg>
      <p:bgPr>
        <a:solidFill xmlns:a="http://schemas.openxmlformats.org/drawingml/2006/main">
          <a:srgbClr val="F6F1E7"/>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5093865B-4B72-4D15-AB85-D82DCF38878A}"/>
              </a:ext>
            </a:extLst>
          </p:cNvPr>
          <p:cNvSpPr>
            <a:spLocks xmlns:a="http://schemas.openxmlformats.org/drawingml/2006/main" noGrp="1"/>
          </p:cNvSpPr>
          <p:nvPr/>
        </p:nvSpPr>
        <p:spPr>
          <a:xfrm xmlns:a="http://schemas.openxmlformats.org/drawingml/2006/main">
            <a:off x="876300" y="704850"/>
            <a:ext cx="9334500" cy="5905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2400" b="1">
                <a:solidFill>
                  <a:srgbClr val="223A5E"/>
                </a:solidFill>
              </a:defRPr>
            </a:pPr>
            <a:r>
              <a:t>Architecture data engineering</a:t>
            </a:r>
          </a:p>
        </p:txBody>
      </p:sp>
      <p:sp>
        <p:nvSpPr>
          <p:cNvPr id="2" name="">
            <a:extLst xmlns:a="http://schemas.openxmlformats.org/drawingml/2006/main">
              <a:ext uri="{FF2B5EF4-FFF2-40B4-BE49-F238E27FC236}">
                <a16:creationId xmlns:a16="http://schemas.microsoft.com/office/drawing/2014/main" id="{26786313-8F2E-4818-8421-B84D59920CE0}"/>
              </a:ext>
            </a:extLst>
          </p:cNvPr>
          <p:cNvSpPr>
            <a:spLocks xmlns:a="http://schemas.openxmlformats.org/drawingml/2006/main" noGrp="1"/>
          </p:cNvSpPr>
          <p:nvPr/>
        </p:nvSpPr>
        <p:spPr>
          <a:xfrm xmlns:a="http://schemas.openxmlformats.org/drawingml/2006/main">
            <a:off x="876300" y="1295400"/>
            <a:ext cx="9334500" cy="2857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200" b="1">
                <a:solidFill>
                  <a:srgbClr val="C86F4D"/>
                </a:solidFill>
              </a:defRPr>
            </a:pPr>
            <a:r>
              <a:t>Une vraie pipeline Bronze → Silver → Gold → Evaluation</a:t>
            </a:r>
          </a:p>
        </p:txBody>
      </p:sp>
      <p:sp>
        <p:nvSpPr>
          <p:cNvPr id="3" name="">
            <a:extLst xmlns:a="http://schemas.openxmlformats.org/drawingml/2006/main">
              <a:ext uri="{FF2B5EF4-FFF2-40B4-BE49-F238E27FC236}">
                <a16:creationId xmlns:a16="http://schemas.microsoft.com/office/drawing/2014/main" id="{3A414BB4-ECE9-4D93-939F-8837B52BBB05}"/>
              </a:ext>
            </a:extLst>
          </p:cNvPr>
          <p:cNvSpPr>
            <a:spLocks xmlns:a="http://schemas.openxmlformats.org/drawingml/2006/main" noGrp="1"/>
          </p:cNvSpPr>
          <p:nvPr/>
        </p:nvSpPr>
        <p:spPr>
          <a:xfrm xmlns:a="http://schemas.openxmlformats.org/drawingml/2006/main">
            <a:off x="685800" y="6477000"/>
            <a:ext cx="4762500" cy="1714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825">
                <a:solidFill>
                  <a:srgbClr val="6C6A66"/>
                </a:solidFill>
              </a:defRPr>
            </a:pPr>
            <a:r>
              <a:t>ENSAM Meknes • BESI V3</a:t>
            </a:r>
          </a:p>
        </p:txBody>
      </p:sp>
      <p:sp>
        <p:nvSpPr>
          <p:cNvPr id="4" name="">
            <a:extLst xmlns:a="http://schemas.openxmlformats.org/drawingml/2006/main">
              <a:ext uri="{FF2B5EF4-FFF2-40B4-BE49-F238E27FC236}">
                <a16:creationId xmlns:a16="http://schemas.microsoft.com/office/drawing/2014/main" id="{7EB53885-6D49-4D4E-8274-54385ECBBE46}"/>
              </a:ext>
            </a:extLst>
          </p:cNvPr>
          <p:cNvSpPr>
            <a:spLocks xmlns:a="http://schemas.openxmlformats.org/drawingml/2006/main" noGrp="1"/>
          </p:cNvSpPr>
          <p:nvPr/>
        </p:nvSpPr>
        <p:spPr>
          <a:xfrm xmlns:a="http://schemas.openxmlformats.org/drawingml/2006/main">
            <a:off x="11049000" y="6477000"/>
            <a:ext cx="476250" cy="1714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lgn="r">
              <a:defRPr sz="825">
                <a:solidFill>
                  <a:srgbClr val="6C6A66"/>
                </a:solidFill>
              </a:defRPr>
            </a:pPr>
            <a:r>
              <a:t>6</a:t>
            </a:r>
          </a:p>
        </p:txBody>
      </p:sp>
      <p:sp>
        <p:nvSpPr>
          <p:cNvPr id="5" name="">
            <a:extLst xmlns:a="http://schemas.openxmlformats.org/drawingml/2006/main">
              <a:ext uri="{FF2B5EF4-FFF2-40B4-BE49-F238E27FC236}">
                <a16:creationId xmlns:a16="http://schemas.microsoft.com/office/drawing/2014/main" id="{EBA5DA3F-6BD0-490A-B3A2-295B415397D8}"/>
              </a:ext>
            </a:extLst>
          </p:cNvPr>
          <p:cNvSpPr>
            <a:spLocks xmlns:a="http://schemas.openxmlformats.org/drawingml/2006/main" noGrp="1"/>
          </p:cNvSpPr>
          <p:nvPr/>
        </p:nvSpPr>
        <p:spPr>
          <a:xfrm xmlns:a="http://schemas.openxmlformats.org/drawingml/2006/main">
            <a:off x="1123950" y="2152650"/>
            <a:ext cx="1714500" cy="361950"/>
          </a:xfrm>
          <a:prstGeom xmlns:a="http://schemas.openxmlformats.org/drawingml/2006/main" prst="roundRect">
            <a:avLst>
              <a:gd name="adj" fmla="val 21053"/>
            </a:avLst>
          </a:prstGeom>
          <a:solidFill xmlns:a="http://schemas.openxmlformats.org/drawingml/2006/main">
            <a:srgbClr val="223A5E"/>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6CB09988-938C-4FF7-B327-E37E57A909CD}"/>
              </a:ext>
            </a:extLst>
          </p:cNvPr>
          <p:cNvSpPr>
            <a:spLocks xmlns:a="http://schemas.openxmlformats.org/drawingml/2006/main" noGrp="1"/>
          </p:cNvSpPr>
          <p:nvPr/>
        </p:nvSpPr>
        <p:spPr>
          <a:xfrm xmlns:a="http://schemas.openxmlformats.org/drawingml/2006/main">
            <a:off x="1123950" y="2152650"/>
            <a:ext cx="1714500" cy="3619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lgn="ctr">
              <a:defRPr sz="1125" b="1">
                <a:solidFill>
                  <a:srgbClr val="FFFFFF"/>
                </a:solidFill>
              </a:defRPr>
            </a:pPr>
            <a:r>
              <a:t>Bronze</a:t>
            </a:r>
          </a:p>
        </p:txBody>
      </p:sp>
      <p:sp>
        <p:nvSpPr>
          <p:cNvPr id="7" name="">
            <a:extLst xmlns:a="http://schemas.openxmlformats.org/drawingml/2006/main">
              <a:ext uri="{FF2B5EF4-FFF2-40B4-BE49-F238E27FC236}">
                <a16:creationId xmlns:a16="http://schemas.microsoft.com/office/drawing/2014/main" id="{44D58AC8-8B83-49EF-BE91-DEDE7BC53F2B}"/>
              </a:ext>
            </a:extLst>
          </p:cNvPr>
          <p:cNvSpPr>
            <a:spLocks xmlns:a="http://schemas.openxmlformats.org/drawingml/2006/main" noGrp="1"/>
          </p:cNvSpPr>
          <p:nvPr/>
        </p:nvSpPr>
        <p:spPr>
          <a:xfrm xmlns:a="http://schemas.openxmlformats.org/drawingml/2006/main">
            <a:off x="3733800" y="2152650"/>
            <a:ext cx="1714500" cy="361950"/>
          </a:xfrm>
          <a:prstGeom xmlns:a="http://schemas.openxmlformats.org/drawingml/2006/main" prst="roundRect">
            <a:avLst>
              <a:gd name="adj" fmla="val 21053"/>
            </a:avLst>
          </a:prstGeom>
          <a:solidFill xmlns:a="http://schemas.openxmlformats.org/drawingml/2006/main">
            <a:srgbClr val="C86F4D"/>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18D8CF45-D95D-48A9-AA11-F59D190E0B03}"/>
              </a:ext>
            </a:extLst>
          </p:cNvPr>
          <p:cNvSpPr>
            <a:spLocks xmlns:a="http://schemas.openxmlformats.org/drawingml/2006/main" noGrp="1"/>
          </p:cNvSpPr>
          <p:nvPr/>
        </p:nvSpPr>
        <p:spPr>
          <a:xfrm xmlns:a="http://schemas.openxmlformats.org/drawingml/2006/main">
            <a:off x="3733800" y="2152650"/>
            <a:ext cx="1714500" cy="3619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lgn="ctr">
              <a:defRPr sz="1125" b="1">
                <a:solidFill>
                  <a:srgbClr val="FFFFFF"/>
                </a:solidFill>
              </a:defRPr>
            </a:pPr>
            <a:r>
              <a:t>Silver</a:t>
            </a:r>
          </a:p>
        </p:txBody>
      </p:sp>
      <p:sp>
        <p:nvSpPr>
          <p:cNvPr id="9" name="">
            <a:extLst xmlns:a="http://schemas.openxmlformats.org/drawingml/2006/main">
              <a:ext uri="{FF2B5EF4-FFF2-40B4-BE49-F238E27FC236}">
                <a16:creationId xmlns:a16="http://schemas.microsoft.com/office/drawing/2014/main" id="{8E4755FA-FD05-4963-84D7-01DF6F0950D7}"/>
              </a:ext>
            </a:extLst>
          </p:cNvPr>
          <p:cNvSpPr>
            <a:spLocks xmlns:a="http://schemas.openxmlformats.org/drawingml/2006/main" noGrp="1"/>
          </p:cNvSpPr>
          <p:nvPr/>
        </p:nvSpPr>
        <p:spPr>
          <a:xfrm xmlns:a="http://schemas.openxmlformats.org/drawingml/2006/main">
            <a:off x="6343650" y="2152650"/>
            <a:ext cx="1714500" cy="361950"/>
          </a:xfrm>
          <a:prstGeom xmlns:a="http://schemas.openxmlformats.org/drawingml/2006/main" prst="roundRect">
            <a:avLst>
              <a:gd name="adj" fmla="val 21053"/>
            </a:avLst>
          </a:prstGeom>
          <a:solidFill xmlns:a="http://schemas.openxmlformats.org/drawingml/2006/main">
            <a:srgbClr val="5E7E6A"/>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41FFE7FD-325B-42CC-BCEC-BB69A22916D9}"/>
              </a:ext>
            </a:extLst>
          </p:cNvPr>
          <p:cNvSpPr>
            <a:spLocks xmlns:a="http://schemas.openxmlformats.org/drawingml/2006/main" noGrp="1"/>
          </p:cNvSpPr>
          <p:nvPr/>
        </p:nvSpPr>
        <p:spPr>
          <a:xfrm xmlns:a="http://schemas.openxmlformats.org/drawingml/2006/main">
            <a:off x="6343650" y="2152650"/>
            <a:ext cx="1714500" cy="3619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lgn="ctr">
              <a:defRPr sz="1125" b="1">
                <a:solidFill>
                  <a:srgbClr val="FFFFFF"/>
                </a:solidFill>
              </a:defRPr>
            </a:pPr>
            <a:r>
              <a:t>Gold</a:t>
            </a:r>
          </a:p>
        </p:txBody>
      </p:sp>
      <p:sp>
        <p:nvSpPr>
          <p:cNvPr id="11" name="">
            <a:extLst xmlns:a="http://schemas.openxmlformats.org/drawingml/2006/main">
              <a:ext uri="{FF2B5EF4-FFF2-40B4-BE49-F238E27FC236}">
                <a16:creationId xmlns:a16="http://schemas.microsoft.com/office/drawing/2014/main" id="{ED4A5382-93A5-4ECD-8C32-50D75287E700}"/>
              </a:ext>
            </a:extLst>
          </p:cNvPr>
          <p:cNvSpPr>
            <a:spLocks xmlns:a="http://schemas.openxmlformats.org/drawingml/2006/main" noGrp="1"/>
          </p:cNvSpPr>
          <p:nvPr/>
        </p:nvSpPr>
        <p:spPr>
          <a:xfrm xmlns:a="http://schemas.openxmlformats.org/drawingml/2006/main">
            <a:off x="8953500" y="2152650"/>
            <a:ext cx="1714500" cy="361950"/>
          </a:xfrm>
          <a:prstGeom xmlns:a="http://schemas.openxmlformats.org/drawingml/2006/main" prst="roundRect">
            <a:avLst>
              <a:gd name="adj" fmla="val 21053"/>
            </a:avLst>
          </a:prstGeom>
          <a:solidFill xmlns:a="http://schemas.openxmlformats.org/drawingml/2006/main">
            <a:srgbClr val="A14B4B"/>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270E0C35-10DF-4A94-84D9-0F3A24BB8B07}"/>
              </a:ext>
            </a:extLst>
          </p:cNvPr>
          <p:cNvSpPr>
            <a:spLocks xmlns:a="http://schemas.openxmlformats.org/drawingml/2006/main" noGrp="1"/>
          </p:cNvSpPr>
          <p:nvPr/>
        </p:nvSpPr>
        <p:spPr>
          <a:xfrm xmlns:a="http://schemas.openxmlformats.org/drawingml/2006/main">
            <a:off x="8953500" y="2152650"/>
            <a:ext cx="1714500" cy="3619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lgn="ctr">
              <a:defRPr sz="1125" b="1">
                <a:solidFill>
                  <a:srgbClr val="FFFFFF"/>
                </a:solidFill>
              </a:defRPr>
            </a:pPr>
            <a:r>
              <a:t>Evaluation</a:t>
            </a:r>
          </a:p>
        </p:txBody>
      </p:sp>
      <p:sp>
        <p:nvSpPr>
          <p:cNvPr id="13" name="">
            <a:extLst xmlns:a="http://schemas.openxmlformats.org/drawingml/2006/main">
              <a:ext uri="{FF2B5EF4-FFF2-40B4-BE49-F238E27FC236}">
                <a16:creationId xmlns:a16="http://schemas.microsoft.com/office/drawing/2014/main" id="{FF6EABB3-FBD1-4555-82FC-AE58C6D29727}"/>
              </a:ext>
            </a:extLst>
          </p:cNvPr>
          <p:cNvSpPr>
            <a:spLocks xmlns:a="http://schemas.openxmlformats.org/drawingml/2006/main" noGrp="1"/>
          </p:cNvSpPr>
          <p:nvPr/>
        </p:nvSpPr>
        <p:spPr>
          <a:xfrm xmlns:a="http://schemas.openxmlformats.org/drawingml/2006/main">
            <a:off x="876300" y="2686050"/>
            <a:ext cx="2190750" cy="2190750"/>
          </a:xfrm>
          <a:prstGeom xmlns:a="http://schemas.openxmlformats.org/drawingml/2006/main" prst="rect">
            <a:avLst/>
          </a:prstGeom>
          <a:solidFill xmlns:a="http://schemas.openxmlformats.org/drawingml/2006/main">
            <a:srgbClr val="FFFFFF"/>
          </a:solidFill>
          <a:ln xmlns:a="http://schemas.openxmlformats.org/drawingml/2006/main" w="9525">
            <a:solidFill>
              <a:srgbClr val="EEE4D3"/>
            </a:solidFill>
            <a:prstDash val="solid"/>
          </a:ln>
        </p:spPr>
      </p:sp>
      <p:sp>
        <p:nvSpPr>
          <p:cNvPr id="14" name="">
            <a:extLst xmlns:a="http://schemas.openxmlformats.org/drawingml/2006/main">
              <a:ext uri="{FF2B5EF4-FFF2-40B4-BE49-F238E27FC236}">
                <a16:creationId xmlns:a16="http://schemas.microsoft.com/office/drawing/2014/main" id="{24A9A8D2-D0AC-4935-A1CD-178D74EE616F}"/>
              </a:ext>
            </a:extLst>
          </p:cNvPr>
          <p:cNvSpPr>
            <a:spLocks xmlns:a="http://schemas.openxmlformats.org/drawingml/2006/main" noGrp="1"/>
          </p:cNvSpPr>
          <p:nvPr/>
        </p:nvSpPr>
        <p:spPr>
          <a:xfrm xmlns:a="http://schemas.openxmlformats.org/drawingml/2006/main">
            <a:off x="3486150" y="2686050"/>
            <a:ext cx="2190750" cy="2190750"/>
          </a:xfrm>
          <a:prstGeom xmlns:a="http://schemas.openxmlformats.org/drawingml/2006/main" prst="rect">
            <a:avLst/>
          </a:prstGeom>
          <a:solidFill xmlns:a="http://schemas.openxmlformats.org/drawingml/2006/main">
            <a:srgbClr val="FFFFFF"/>
          </a:solidFill>
          <a:ln xmlns:a="http://schemas.openxmlformats.org/drawingml/2006/main" w="9525">
            <a:solidFill>
              <a:srgbClr val="EEE4D3"/>
            </a:solidFill>
            <a:prstDash val="solid"/>
          </a:ln>
        </p:spPr>
      </p:sp>
      <p:sp>
        <p:nvSpPr>
          <p:cNvPr id="15" name="">
            <a:extLst xmlns:a="http://schemas.openxmlformats.org/drawingml/2006/main">
              <a:ext uri="{FF2B5EF4-FFF2-40B4-BE49-F238E27FC236}">
                <a16:creationId xmlns:a16="http://schemas.microsoft.com/office/drawing/2014/main" id="{0D1432BA-EEAD-4A73-ADB9-78C0DCE01884}"/>
              </a:ext>
            </a:extLst>
          </p:cNvPr>
          <p:cNvSpPr>
            <a:spLocks xmlns:a="http://schemas.openxmlformats.org/drawingml/2006/main" noGrp="1"/>
          </p:cNvSpPr>
          <p:nvPr/>
        </p:nvSpPr>
        <p:spPr>
          <a:xfrm xmlns:a="http://schemas.openxmlformats.org/drawingml/2006/main">
            <a:off x="6096000" y="2686050"/>
            <a:ext cx="2190750" cy="2190750"/>
          </a:xfrm>
          <a:prstGeom xmlns:a="http://schemas.openxmlformats.org/drawingml/2006/main" prst="rect">
            <a:avLst/>
          </a:prstGeom>
          <a:solidFill xmlns:a="http://schemas.openxmlformats.org/drawingml/2006/main">
            <a:srgbClr val="FFFFFF"/>
          </a:solidFill>
          <a:ln xmlns:a="http://schemas.openxmlformats.org/drawingml/2006/main" w="9525">
            <a:solidFill>
              <a:srgbClr val="EEE4D3"/>
            </a:solidFill>
            <a:prstDash val="solid"/>
          </a:ln>
        </p:spPr>
      </p:sp>
      <p:sp>
        <p:nvSpPr>
          <p:cNvPr id="16" name="">
            <a:extLst xmlns:a="http://schemas.openxmlformats.org/drawingml/2006/main">
              <a:ext uri="{FF2B5EF4-FFF2-40B4-BE49-F238E27FC236}">
                <a16:creationId xmlns:a16="http://schemas.microsoft.com/office/drawing/2014/main" id="{2CEC57D9-FF27-4279-A19D-727ED475D860}"/>
              </a:ext>
            </a:extLst>
          </p:cNvPr>
          <p:cNvSpPr>
            <a:spLocks xmlns:a="http://schemas.openxmlformats.org/drawingml/2006/main" noGrp="1"/>
          </p:cNvSpPr>
          <p:nvPr/>
        </p:nvSpPr>
        <p:spPr>
          <a:xfrm xmlns:a="http://schemas.openxmlformats.org/drawingml/2006/main">
            <a:off x="8705850" y="2686050"/>
            <a:ext cx="2190750" cy="2190750"/>
          </a:xfrm>
          <a:prstGeom xmlns:a="http://schemas.openxmlformats.org/drawingml/2006/main" prst="rect">
            <a:avLst/>
          </a:prstGeom>
          <a:solidFill xmlns:a="http://schemas.openxmlformats.org/drawingml/2006/main">
            <a:srgbClr val="FFFFFF"/>
          </a:solidFill>
          <a:ln xmlns:a="http://schemas.openxmlformats.org/drawingml/2006/main" w="9525">
            <a:solidFill>
              <a:srgbClr val="EEE4D3"/>
            </a:solidFill>
            <a:prstDash val="solid"/>
          </a:ln>
        </p:spPr>
      </p:sp>
      <p:sp>
        <p:nvSpPr>
          <p:cNvPr id="17" name="">
            <a:extLst xmlns:a="http://schemas.openxmlformats.org/drawingml/2006/main">
              <a:ext uri="{FF2B5EF4-FFF2-40B4-BE49-F238E27FC236}">
                <a16:creationId xmlns:a16="http://schemas.microsoft.com/office/drawing/2014/main" id="{09CAEC50-3C2F-4BB2-8CC2-E1C2F4C21026}"/>
              </a:ext>
            </a:extLst>
          </p:cNvPr>
          <p:cNvSpPr>
            <a:spLocks xmlns:a="http://schemas.openxmlformats.org/drawingml/2006/main" noGrp="1"/>
          </p:cNvSpPr>
          <p:nvPr/>
        </p:nvSpPr>
        <p:spPr>
          <a:xfrm xmlns:a="http://schemas.openxmlformats.org/drawingml/2006/main">
            <a:off x="1066800" y="2971800"/>
            <a:ext cx="1809750" cy="16192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350">
                <a:solidFill>
                  <a:srgbClr val="2F3136"/>
                </a:solidFill>
              </a:defRPr>
            </a:pPr>
            <a:r>
              <a:t>• HCP IPC brut • Google Trends brut • FAO / FX bruts • Hespress brut</a:t>
            </a:r>
          </a:p>
        </p:txBody>
      </p:sp>
      <p:sp>
        <p:nvSpPr>
          <p:cNvPr id="18" name="">
            <a:extLst xmlns:a="http://schemas.openxmlformats.org/drawingml/2006/main">
              <a:ext uri="{FF2B5EF4-FFF2-40B4-BE49-F238E27FC236}">
                <a16:creationId xmlns:a16="http://schemas.microsoft.com/office/drawing/2014/main" id="{18F9DD5B-2A65-4D0F-A68A-9442157C156D}"/>
              </a:ext>
            </a:extLst>
          </p:cNvPr>
          <p:cNvSpPr>
            <a:spLocks xmlns:a="http://schemas.openxmlformats.org/drawingml/2006/main" noGrp="1"/>
          </p:cNvSpPr>
          <p:nvPr/>
        </p:nvSpPr>
        <p:spPr>
          <a:xfrm xmlns:a="http://schemas.openxmlformats.org/drawingml/2006/main">
            <a:off x="3676650" y="2971800"/>
            <a:ext cx="1809750" cy="16192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350">
                <a:solidFill>
                  <a:srgbClr val="2F3136"/>
                </a:solidFill>
              </a:defRPr>
            </a:pPr>
            <a:r>
              <a:t>• IPC nettoyé • Sous-indices Trends • Signaux macro mensuels • Signal NLP mensuel</a:t>
            </a:r>
          </a:p>
        </p:txBody>
      </p:sp>
      <p:sp>
        <p:nvSpPr>
          <p:cNvPr id="19" name="">
            <a:extLst xmlns:a="http://schemas.openxmlformats.org/drawingml/2006/main">
              <a:ext uri="{FF2B5EF4-FFF2-40B4-BE49-F238E27FC236}">
                <a16:creationId xmlns:a16="http://schemas.microsoft.com/office/drawing/2014/main" id="{A0DD9DD5-7F29-47AD-A423-07E827131639}"/>
              </a:ext>
            </a:extLst>
          </p:cNvPr>
          <p:cNvSpPr>
            <a:spLocks xmlns:a="http://schemas.openxmlformats.org/drawingml/2006/main" noGrp="1"/>
          </p:cNvSpPr>
          <p:nvPr/>
        </p:nvSpPr>
        <p:spPr>
          <a:xfrm xmlns:a="http://schemas.openxmlformats.org/drawingml/2006/main">
            <a:off x="6286500" y="2971800"/>
            <a:ext cx="1809750" cy="16192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350">
                <a:solidFill>
                  <a:srgbClr val="2F3136"/>
                </a:solidFill>
              </a:defRPr>
            </a:pPr>
            <a:r>
              <a:t>• Dataset mensuel final • Lags explicites • Targets t+1 • Split d’évaluation</a:t>
            </a:r>
          </a:p>
        </p:txBody>
      </p:sp>
      <p:sp>
        <p:nvSpPr>
          <p:cNvPr id="20" name="">
            <a:extLst xmlns:a="http://schemas.openxmlformats.org/drawingml/2006/main">
              <a:ext uri="{FF2B5EF4-FFF2-40B4-BE49-F238E27FC236}">
                <a16:creationId xmlns:a16="http://schemas.microsoft.com/office/drawing/2014/main" id="{E8A713EA-6825-468D-841F-3C9D63DE33CC}"/>
              </a:ext>
            </a:extLst>
          </p:cNvPr>
          <p:cNvSpPr>
            <a:spLocks xmlns:a="http://schemas.openxmlformats.org/drawingml/2006/main" noGrp="1"/>
          </p:cNvSpPr>
          <p:nvPr/>
        </p:nvSpPr>
        <p:spPr>
          <a:xfrm xmlns:a="http://schemas.openxmlformats.org/drawingml/2006/main">
            <a:off x="8896350" y="2971800"/>
            <a:ext cx="1809750" cy="16192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350">
                <a:solidFill>
                  <a:srgbClr val="2F3136"/>
                </a:solidFill>
              </a:defRPr>
            </a:pPr>
            <a:r>
              <a:t>• Backtest walk-forward • RMSE / MAE / MAPE • AUC / F1 / Recall • Rapports finaux</a:t>
            </a:r>
          </a:p>
        </p:txBody>
      </p:sp>
      <p:sp>
        <p:nvSpPr>
          <p:cNvPr id="21" name="">
            <a:extLst xmlns:a="http://schemas.openxmlformats.org/drawingml/2006/main">
              <a:ext uri="{FF2B5EF4-FFF2-40B4-BE49-F238E27FC236}">
                <a16:creationId xmlns:a16="http://schemas.microsoft.com/office/drawing/2014/main" id="{FE0DB6FA-3B3A-4F82-B683-3E3A876463EF}"/>
              </a:ext>
            </a:extLst>
          </p:cNvPr>
          <p:cNvSpPr>
            <a:spLocks xmlns:a="http://schemas.openxmlformats.org/drawingml/2006/main" noGrp="1"/>
          </p:cNvSpPr>
          <p:nvPr/>
        </p:nvSpPr>
        <p:spPr>
          <a:xfrm xmlns:a="http://schemas.openxmlformats.org/drawingml/2006/main">
            <a:off x="3067050" y="3762375"/>
            <a:ext cx="419100" cy="19050"/>
          </a:xfrm>
          <a:prstGeom xmlns:a="http://schemas.openxmlformats.org/drawingml/2006/main" prst="rect">
            <a:avLst/>
          </a:prstGeom>
          <a:solidFill xmlns:a="http://schemas.openxmlformats.org/drawingml/2006/main">
            <a:srgbClr val="D8BC8C"/>
          </a:solidFill>
          <a:ln xmlns:a="http://schemas.openxmlformats.org/drawingml/2006/main" w="0">
            <a:noFill/>
            <a:prstDash val="solid"/>
          </a:ln>
        </p:spPr>
      </p:sp>
      <p:sp>
        <p:nvSpPr>
          <p:cNvPr id="22" name="">
            <a:extLst xmlns:a="http://schemas.openxmlformats.org/drawingml/2006/main">
              <a:ext uri="{FF2B5EF4-FFF2-40B4-BE49-F238E27FC236}">
                <a16:creationId xmlns:a16="http://schemas.microsoft.com/office/drawing/2014/main" id="{2B5EEBAE-C963-4815-A987-35EB9FC4243B}"/>
              </a:ext>
            </a:extLst>
          </p:cNvPr>
          <p:cNvSpPr>
            <a:spLocks xmlns:a="http://schemas.openxmlformats.org/drawingml/2006/main" noGrp="1"/>
          </p:cNvSpPr>
          <p:nvPr/>
        </p:nvSpPr>
        <p:spPr>
          <a:xfrm xmlns:a="http://schemas.openxmlformats.org/drawingml/2006/main">
            <a:off x="5676900" y="3762375"/>
            <a:ext cx="419100" cy="19050"/>
          </a:xfrm>
          <a:prstGeom xmlns:a="http://schemas.openxmlformats.org/drawingml/2006/main" prst="rect">
            <a:avLst/>
          </a:prstGeom>
          <a:solidFill xmlns:a="http://schemas.openxmlformats.org/drawingml/2006/main">
            <a:srgbClr val="D8BC8C"/>
          </a:solidFill>
          <a:ln xmlns:a="http://schemas.openxmlformats.org/drawingml/2006/main" w="0">
            <a:noFill/>
            <a:prstDash val="solid"/>
          </a:ln>
        </p:spPr>
      </p:sp>
      <p:sp>
        <p:nvSpPr>
          <p:cNvPr id="23" name="">
            <a:extLst xmlns:a="http://schemas.openxmlformats.org/drawingml/2006/main">
              <a:ext uri="{FF2B5EF4-FFF2-40B4-BE49-F238E27FC236}">
                <a16:creationId xmlns:a16="http://schemas.microsoft.com/office/drawing/2014/main" id="{56D9F9A1-A05D-4D5C-9C3D-B84B5FEDFEB1}"/>
              </a:ext>
            </a:extLst>
          </p:cNvPr>
          <p:cNvSpPr>
            <a:spLocks xmlns:a="http://schemas.openxmlformats.org/drawingml/2006/main" noGrp="1"/>
          </p:cNvSpPr>
          <p:nvPr/>
        </p:nvSpPr>
        <p:spPr>
          <a:xfrm xmlns:a="http://schemas.openxmlformats.org/drawingml/2006/main">
            <a:off x="8286750" y="3762375"/>
            <a:ext cx="419100" cy="19050"/>
          </a:xfrm>
          <a:prstGeom xmlns:a="http://schemas.openxmlformats.org/drawingml/2006/main" prst="rect">
            <a:avLst/>
          </a:prstGeom>
          <a:solidFill xmlns:a="http://schemas.openxmlformats.org/drawingml/2006/main">
            <a:srgbClr val="D8BC8C"/>
          </a:solidFill>
          <a:ln xmlns:a="http://schemas.openxmlformats.org/drawingml/2006/main" w="0">
            <a:noFill/>
            <a:prstDash val="solid"/>
          </a:ln>
        </p:spPr>
      </p:sp>
      <p:sp>
        <p:nvSpPr>
          <p:cNvPr id="24" name="">
            <a:extLst xmlns:a="http://schemas.openxmlformats.org/drawingml/2006/main">
              <a:ext uri="{FF2B5EF4-FFF2-40B4-BE49-F238E27FC236}">
                <a16:creationId xmlns:a16="http://schemas.microsoft.com/office/drawing/2014/main" id="{6A3DF644-64A4-4F6F-ABB3-B85EE21F2CF6}"/>
              </a:ext>
            </a:extLst>
          </p:cNvPr>
          <p:cNvSpPr>
            <a:spLocks xmlns:a="http://schemas.openxmlformats.org/drawingml/2006/main" noGrp="1"/>
          </p:cNvSpPr>
          <p:nvPr/>
        </p:nvSpPr>
        <p:spPr>
          <a:xfrm xmlns:a="http://schemas.openxmlformats.org/drawingml/2006/main">
            <a:off x="876300" y="5372100"/>
            <a:ext cx="10096500" cy="41910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350">
                <a:solidFill>
                  <a:srgbClr val="2F3136"/>
                </a:solidFill>
              </a:defRPr>
            </a:pPr>
            <a:r>
              <a:t>Contribution importante du projet : la valeur n’est pas seulement dans le modèle, mais aussi dans la structure de données, la traçabilité des transformations et la séparation claire entre collecte, features et évaluation.</a:t>
            </a:r>
          </a:p>
        </p:txBody>
      </p:sp>
      <p:sp>
        <p:nvSpPr>
          <p:cNvPr id="25" name="">
            <a:extLst xmlns:a="http://schemas.openxmlformats.org/drawingml/2006/main">
              <a:ext uri="{FF2B5EF4-FFF2-40B4-BE49-F238E27FC236}">
                <a16:creationId xmlns:a16="http://schemas.microsoft.com/office/drawing/2014/main" id="{D58946D6-6CC0-4B42-9A99-BF5A2032E8A2}"/>
              </a:ext>
            </a:extLst>
          </p:cNvPr>
          <p:cNvSpPr>
            <a:spLocks xmlns:a="http://schemas.openxmlformats.org/drawingml/2006/main" noGrp="1"/>
          </p:cNvSpPr>
          <p:nvPr/>
        </p:nvSpPr>
        <p:spPr>
          <a:xfrm xmlns:a="http://schemas.openxmlformats.org/drawingml/2006/main">
            <a:off x="685800" y="6477000"/>
            <a:ext cx="4762500" cy="1714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825">
                <a:solidFill>
                  <a:srgbClr val="6C6A66"/>
                </a:solidFill>
              </a:defRPr>
            </a:pPr>
            <a:r>
              <a:t>ENSAM Meknes • Architecture</a:t>
            </a:r>
          </a:p>
        </p:txBody>
      </p:sp>
      <p:sp>
        <p:nvSpPr>
          <p:cNvPr id="26" name="">
            <a:extLst xmlns:a="http://schemas.openxmlformats.org/drawingml/2006/main">
              <a:ext uri="{FF2B5EF4-FFF2-40B4-BE49-F238E27FC236}">
                <a16:creationId xmlns:a16="http://schemas.microsoft.com/office/drawing/2014/main" id="{82338426-E4BB-497F-8F45-D9A4DBD561F6}"/>
              </a:ext>
            </a:extLst>
          </p:cNvPr>
          <p:cNvSpPr>
            <a:spLocks xmlns:a="http://schemas.openxmlformats.org/drawingml/2006/main" noGrp="1"/>
          </p:cNvSpPr>
          <p:nvPr/>
        </p:nvSpPr>
        <p:spPr>
          <a:xfrm xmlns:a="http://schemas.openxmlformats.org/drawingml/2006/main">
            <a:off x="11049000" y="6477000"/>
            <a:ext cx="476250" cy="1714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lgn="r">
              <a:defRPr sz="825">
                <a:solidFill>
                  <a:srgbClr val="6C6A66"/>
                </a:solidFill>
              </a:defRPr>
            </a:pPr>
            <a:r>
              <a:t>6</a:t>
            </a:r>
          </a:p>
        </p:txBody>
      </p:sp>
    </p:spTree>
    <p:extLst>
      <p:ext uri="{BB962C8B-B14F-4D97-AF65-F5344CB8AC3E}">
        <p14:creationId xmlns:p14="http://schemas.microsoft.com/office/powerpoint/2010/main" val="852670847"/>
      </p:ext>
    </p:extLst>
  </p:cSld>
</p:sld>
</file>

<file path=ppt/slides/slide7.xml><?xml version="1.0" encoding="utf-8"?>
<p:sld xmlns:p="http://schemas.openxmlformats.org/presentationml/2006/main">
  <p:cSld>
    <p:bg>
      <p:bgPr>
        <a:solidFill xmlns:a="http://schemas.openxmlformats.org/drawingml/2006/main">
          <a:srgbClr val="F6F1E7"/>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24C410CC-FD99-44AE-B9D2-A9D3FFBDD4A6}"/>
              </a:ext>
            </a:extLst>
          </p:cNvPr>
          <p:cNvSpPr>
            <a:spLocks xmlns:a="http://schemas.openxmlformats.org/drawingml/2006/main" noGrp="1"/>
          </p:cNvSpPr>
          <p:nvPr/>
        </p:nvSpPr>
        <p:spPr>
          <a:xfrm xmlns:a="http://schemas.openxmlformats.org/drawingml/2006/main">
            <a:off x="876300" y="704850"/>
            <a:ext cx="9334500" cy="5905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2400" b="1">
                <a:solidFill>
                  <a:srgbClr val="223A5E"/>
                </a:solidFill>
              </a:defRPr>
            </a:pPr>
            <a:r>
              <a:t>Sources de données</a:t>
            </a:r>
          </a:p>
        </p:txBody>
      </p:sp>
      <p:sp>
        <p:nvSpPr>
          <p:cNvPr id="2" name="">
            <a:extLst xmlns:a="http://schemas.openxmlformats.org/drawingml/2006/main">
              <a:ext uri="{FF2B5EF4-FFF2-40B4-BE49-F238E27FC236}">
                <a16:creationId xmlns:a16="http://schemas.microsoft.com/office/drawing/2014/main" id="{5AE36DDF-987E-468F-B035-FBC83E3437E1}"/>
              </a:ext>
            </a:extLst>
          </p:cNvPr>
          <p:cNvSpPr>
            <a:spLocks xmlns:a="http://schemas.openxmlformats.org/drawingml/2006/main" noGrp="1"/>
          </p:cNvSpPr>
          <p:nvPr/>
        </p:nvSpPr>
        <p:spPr>
          <a:xfrm xmlns:a="http://schemas.openxmlformats.org/drawingml/2006/main">
            <a:off x="876300" y="1295400"/>
            <a:ext cx="9334500" cy="2857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200" b="1">
                <a:solidFill>
                  <a:srgbClr val="C86F4D"/>
                </a:solidFill>
              </a:defRPr>
            </a:pPr>
            <a:r>
              <a:t>Passage aux données réelles et hiérarchie des sources</a:t>
            </a:r>
          </a:p>
        </p:txBody>
      </p:sp>
      <p:sp>
        <p:nvSpPr>
          <p:cNvPr id="3" name="">
            <a:extLst xmlns:a="http://schemas.openxmlformats.org/drawingml/2006/main">
              <a:ext uri="{FF2B5EF4-FFF2-40B4-BE49-F238E27FC236}">
                <a16:creationId xmlns:a16="http://schemas.microsoft.com/office/drawing/2014/main" id="{C3B4B5BF-2F9B-4CAC-BF32-292656D53433}"/>
              </a:ext>
            </a:extLst>
          </p:cNvPr>
          <p:cNvSpPr>
            <a:spLocks xmlns:a="http://schemas.openxmlformats.org/drawingml/2006/main" noGrp="1"/>
          </p:cNvSpPr>
          <p:nvPr/>
        </p:nvSpPr>
        <p:spPr>
          <a:xfrm xmlns:a="http://schemas.openxmlformats.org/drawingml/2006/main">
            <a:off x="685800" y="6477000"/>
            <a:ext cx="4762500" cy="1714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825">
                <a:solidFill>
                  <a:srgbClr val="6C6A66"/>
                </a:solidFill>
              </a:defRPr>
            </a:pPr>
            <a:r>
              <a:t>ENSAM Meknes • BESI V3</a:t>
            </a:r>
          </a:p>
        </p:txBody>
      </p:sp>
      <p:sp>
        <p:nvSpPr>
          <p:cNvPr id="4" name="">
            <a:extLst xmlns:a="http://schemas.openxmlformats.org/drawingml/2006/main">
              <a:ext uri="{FF2B5EF4-FFF2-40B4-BE49-F238E27FC236}">
                <a16:creationId xmlns:a16="http://schemas.microsoft.com/office/drawing/2014/main" id="{3AB406A6-0B1A-4ECA-9421-5E9D4CB137B9}"/>
              </a:ext>
            </a:extLst>
          </p:cNvPr>
          <p:cNvSpPr>
            <a:spLocks xmlns:a="http://schemas.openxmlformats.org/drawingml/2006/main" noGrp="1"/>
          </p:cNvSpPr>
          <p:nvPr/>
        </p:nvSpPr>
        <p:spPr>
          <a:xfrm xmlns:a="http://schemas.openxmlformats.org/drawingml/2006/main">
            <a:off x="11049000" y="6477000"/>
            <a:ext cx="476250" cy="1714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lgn="r">
              <a:defRPr sz="825">
                <a:solidFill>
                  <a:srgbClr val="6C6A66"/>
                </a:solidFill>
              </a:defRPr>
            </a:pPr>
            <a:r>
              <a:t>7</a:t>
            </a:r>
          </a:p>
        </p:txBody>
      </p:sp>
      <p:sp>
        <p:nvSpPr>
          <p:cNvPr id="5" name="">
            <a:extLst xmlns:a="http://schemas.openxmlformats.org/drawingml/2006/main">
              <a:ext uri="{FF2B5EF4-FFF2-40B4-BE49-F238E27FC236}">
                <a16:creationId xmlns:a16="http://schemas.microsoft.com/office/drawing/2014/main" id="{FFDC1577-B0CA-4D95-B6C1-660547BA61B0}"/>
              </a:ext>
            </a:extLst>
          </p:cNvPr>
          <p:cNvSpPr>
            <a:spLocks xmlns:a="http://schemas.openxmlformats.org/drawingml/2006/main" noGrp="1"/>
          </p:cNvSpPr>
          <p:nvPr/>
        </p:nvSpPr>
        <p:spPr>
          <a:xfrm xmlns:a="http://schemas.openxmlformats.org/drawingml/2006/main">
            <a:off x="876300" y="1790700"/>
            <a:ext cx="10287000" cy="1943100"/>
          </a:xfrm>
          <a:prstGeom xmlns:a="http://schemas.openxmlformats.org/drawingml/2006/main" prst="rect">
            <a:avLst/>
          </a:prstGeom>
          <a:solidFill xmlns:a="http://schemas.openxmlformats.org/drawingml/2006/main">
            <a:srgbClr val="FFFFFF"/>
          </a:solidFill>
          <a:ln xmlns:a="http://schemas.openxmlformats.org/drawingml/2006/main" w="9525">
            <a:solidFill>
              <a:srgbClr val="EEE4D3"/>
            </a:solidFill>
            <a:prstDash val="solid"/>
          </a:ln>
        </p:spPr>
      </p:sp>
      <p:sp>
        <p:nvSpPr>
          <p:cNvPr id="6" name="">
            <a:extLst xmlns:a="http://schemas.openxmlformats.org/drawingml/2006/main">
              <a:ext uri="{FF2B5EF4-FFF2-40B4-BE49-F238E27FC236}">
                <a16:creationId xmlns:a16="http://schemas.microsoft.com/office/drawing/2014/main" id="{9ABCA3EE-BA1F-4834-839D-FFC699A84B34}"/>
              </a:ext>
            </a:extLst>
          </p:cNvPr>
          <p:cNvSpPr>
            <a:spLocks xmlns:a="http://schemas.openxmlformats.org/drawingml/2006/main" noGrp="1"/>
          </p:cNvSpPr>
          <p:nvPr/>
        </p:nvSpPr>
        <p:spPr>
          <a:xfrm xmlns:a="http://schemas.openxmlformats.org/drawingml/2006/main">
            <a:off x="876300" y="1790700"/>
            <a:ext cx="2571750" cy="323850"/>
          </a:xfrm>
          <a:prstGeom xmlns:a="http://schemas.openxmlformats.org/drawingml/2006/main" prst="rect">
            <a:avLst/>
          </a:prstGeom>
          <a:solidFill xmlns:a="http://schemas.openxmlformats.org/drawingml/2006/main">
            <a:srgbClr val="223A5E"/>
          </a:solidFill>
          <a:ln xmlns:a="http://schemas.openxmlformats.org/drawingml/2006/main" w="9525">
            <a:solidFill>
              <a:srgbClr val="223A5E"/>
            </a:solidFill>
            <a:prstDash val="solid"/>
          </a:ln>
        </p:spPr>
      </p:sp>
      <p:sp>
        <p:nvSpPr>
          <p:cNvPr id="7" name="">
            <a:extLst xmlns:a="http://schemas.openxmlformats.org/drawingml/2006/main">
              <a:ext uri="{FF2B5EF4-FFF2-40B4-BE49-F238E27FC236}">
                <a16:creationId xmlns:a16="http://schemas.microsoft.com/office/drawing/2014/main" id="{7778FD97-3698-43BA-BAD9-D2837F77B702}"/>
              </a:ext>
            </a:extLst>
          </p:cNvPr>
          <p:cNvSpPr>
            <a:spLocks xmlns:a="http://schemas.openxmlformats.org/drawingml/2006/main" noGrp="1"/>
          </p:cNvSpPr>
          <p:nvPr/>
        </p:nvSpPr>
        <p:spPr>
          <a:xfrm xmlns:a="http://schemas.openxmlformats.org/drawingml/2006/main">
            <a:off x="952500" y="1857375"/>
            <a:ext cx="2419350" cy="19050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lgn="ctr">
              <a:defRPr sz="975" b="1">
                <a:solidFill>
                  <a:srgbClr val="FFFFFF"/>
                </a:solidFill>
              </a:defRPr>
            </a:pPr>
            <a:r>
              <a:t>Source</a:t>
            </a:r>
          </a:p>
        </p:txBody>
      </p:sp>
      <p:sp>
        <p:nvSpPr>
          <p:cNvPr id="8" name="">
            <a:extLst xmlns:a="http://schemas.openxmlformats.org/drawingml/2006/main">
              <a:ext uri="{FF2B5EF4-FFF2-40B4-BE49-F238E27FC236}">
                <a16:creationId xmlns:a16="http://schemas.microsoft.com/office/drawing/2014/main" id="{B95E7129-A0B3-4392-AA35-D29C2F4BF513}"/>
              </a:ext>
            </a:extLst>
          </p:cNvPr>
          <p:cNvSpPr>
            <a:spLocks xmlns:a="http://schemas.openxmlformats.org/drawingml/2006/main" noGrp="1"/>
          </p:cNvSpPr>
          <p:nvPr/>
        </p:nvSpPr>
        <p:spPr>
          <a:xfrm xmlns:a="http://schemas.openxmlformats.org/drawingml/2006/main">
            <a:off x="3448050" y="1790700"/>
            <a:ext cx="3143250" cy="323850"/>
          </a:xfrm>
          <a:prstGeom xmlns:a="http://schemas.openxmlformats.org/drawingml/2006/main" prst="rect">
            <a:avLst/>
          </a:prstGeom>
          <a:solidFill xmlns:a="http://schemas.openxmlformats.org/drawingml/2006/main">
            <a:srgbClr val="223A5E"/>
          </a:solidFill>
          <a:ln xmlns:a="http://schemas.openxmlformats.org/drawingml/2006/main" w="9525">
            <a:solidFill>
              <a:srgbClr val="223A5E"/>
            </a:solidFill>
            <a:prstDash val="solid"/>
          </a:ln>
        </p:spPr>
      </p:sp>
      <p:sp>
        <p:nvSpPr>
          <p:cNvPr id="9" name="">
            <a:extLst xmlns:a="http://schemas.openxmlformats.org/drawingml/2006/main">
              <a:ext uri="{FF2B5EF4-FFF2-40B4-BE49-F238E27FC236}">
                <a16:creationId xmlns:a16="http://schemas.microsoft.com/office/drawing/2014/main" id="{C939D676-693D-43EC-B102-98B657D3F696}"/>
              </a:ext>
            </a:extLst>
          </p:cNvPr>
          <p:cNvSpPr>
            <a:spLocks xmlns:a="http://schemas.openxmlformats.org/drawingml/2006/main" noGrp="1"/>
          </p:cNvSpPr>
          <p:nvPr/>
        </p:nvSpPr>
        <p:spPr>
          <a:xfrm xmlns:a="http://schemas.openxmlformats.org/drawingml/2006/main">
            <a:off x="3524250" y="1857375"/>
            <a:ext cx="2990850" cy="19050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lgn="ctr">
              <a:defRPr sz="975" b="1">
                <a:solidFill>
                  <a:srgbClr val="FFFFFF"/>
                </a:solidFill>
              </a:defRPr>
            </a:pPr>
            <a:r>
              <a:t>Variable principale</a:t>
            </a:r>
          </a:p>
        </p:txBody>
      </p:sp>
      <p:sp>
        <p:nvSpPr>
          <p:cNvPr id="10" name="">
            <a:extLst xmlns:a="http://schemas.openxmlformats.org/drawingml/2006/main">
              <a:ext uri="{FF2B5EF4-FFF2-40B4-BE49-F238E27FC236}">
                <a16:creationId xmlns:a16="http://schemas.microsoft.com/office/drawing/2014/main" id="{D8729BD2-AF6E-45E8-BBED-2202E42D3503}"/>
              </a:ext>
            </a:extLst>
          </p:cNvPr>
          <p:cNvSpPr>
            <a:spLocks xmlns:a="http://schemas.openxmlformats.org/drawingml/2006/main" noGrp="1"/>
          </p:cNvSpPr>
          <p:nvPr/>
        </p:nvSpPr>
        <p:spPr>
          <a:xfrm xmlns:a="http://schemas.openxmlformats.org/drawingml/2006/main">
            <a:off x="6591300" y="1790700"/>
            <a:ext cx="1428750" cy="323850"/>
          </a:xfrm>
          <a:prstGeom xmlns:a="http://schemas.openxmlformats.org/drawingml/2006/main" prst="rect">
            <a:avLst/>
          </a:prstGeom>
          <a:solidFill xmlns:a="http://schemas.openxmlformats.org/drawingml/2006/main">
            <a:srgbClr val="223A5E"/>
          </a:solidFill>
          <a:ln xmlns:a="http://schemas.openxmlformats.org/drawingml/2006/main" w="9525">
            <a:solidFill>
              <a:srgbClr val="223A5E"/>
            </a:solidFill>
            <a:prstDash val="solid"/>
          </a:ln>
        </p:spPr>
      </p:sp>
      <p:sp>
        <p:nvSpPr>
          <p:cNvPr id="11" name="">
            <a:extLst xmlns:a="http://schemas.openxmlformats.org/drawingml/2006/main">
              <a:ext uri="{FF2B5EF4-FFF2-40B4-BE49-F238E27FC236}">
                <a16:creationId xmlns:a16="http://schemas.microsoft.com/office/drawing/2014/main" id="{7F1372E8-B34C-47D8-9A92-8364504511C2}"/>
              </a:ext>
            </a:extLst>
          </p:cNvPr>
          <p:cNvSpPr>
            <a:spLocks xmlns:a="http://schemas.openxmlformats.org/drawingml/2006/main" noGrp="1"/>
          </p:cNvSpPr>
          <p:nvPr/>
        </p:nvSpPr>
        <p:spPr>
          <a:xfrm xmlns:a="http://schemas.openxmlformats.org/drawingml/2006/main">
            <a:off x="6667500" y="1857375"/>
            <a:ext cx="1276350" cy="19050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lgn="ctr">
              <a:defRPr sz="975" b="1">
                <a:solidFill>
                  <a:srgbClr val="FFFFFF"/>
                </a:solidFill>
              </a:defRPr>
            </a:pPr>
            <a:r>
              <a:t>Période</a:t>
            </a:r>
          </a:p>
        </p:txBody>
      </p:sp>
      <p:sp>
        <p:nvSpPr>
          <p:cNvPr id="12" name="">
            <a:extLst xmlns:a="http://schemas.openxmlformats.org/drawingml/2006/main">
              <a:ext uri="{FF2B5EF4-FFF2-40B4-BE49-F238E27FC236}">
                <a16:creationId xmlns:a16="http://schemas.microsoft.com/office/drawing/2014/main" id="{ADE76392-9564-4E32-96F6-A4E39A0D44D6}"/>
              </a:ext>
            </a:extLst>
          </p:cNvPr>
          <p:cNvSpPr>
            <a:spLocks xmlns:a="http://schemas.openxmlformats.org/drawingml/2006/main" noGrp="1"/>
          </p:cNvSpPr>
          <p:nvPr/>
        </p:nvSpPr>
        <p:spPr>
          <a:xfrm xmlns:a="http://schemas.openxmlformats.org/drawingml/2006/main">
            <a:off x="8020050" y="1790700"/>
            <a:ext cx="3143250" cy="323850"/>
          </a:xfrm>
          <a:prstGeom xmlns:a="http://schemas.openxmlformats.org/drawingml/2006/main" prst="rect">
            <a:avLst/>
          </a:prstGeom>
          <a:solidFill xmlns:a="http://schemas.openxmlformats.org/drawingml/2006/main">
            <a:srgbClr val="223A5E"/>
          </a:solidFill>
          <a:ln xmlns:a="http://schemas.openxmlformats.org/drawingml/2006/main" w="9525">
            <a:solidFill>
              <a:srgbClr val="223A5E"/>
            </a:solidFill>
            <a:prstDash val="solid"/>
          </a:ln>
        </p:spPr>
      </p:sp>
      <p:sp>
        <p:nvSpPr>
          <p:cNvPr id="13" name="">
            <a:extLst xmlns:a="http://schemas.openxmlformats.org/drawingml/2006/main">
              <a:ext uri="{FF2B5EF4-FFF2-40B4-BE49-F238E27FC236}">
                <a16:creationId xmlns:a16="http://schemas.microsoft.com/office/drawing/2014/main" id="{53DF2D7C-E20E-49B8-A2C7-754070C9EFE3}"/>
              </a:ext>
            </a:extLst>
          </p:cNvPr>
          <p:cNvSpPr>
            <a:spLocks xmlns:a="http://schemas.openxmlformats.org/drawingml/2006/main" noGrp="1"/>
          </p:cNvSpPr>
          <p:nvPr/>
        </p:nvSpPr>
        <p:spPr>
          <a:xfrm xmlns:a="http://schemas.openxmlformats.org/drawingml/2006/main">
            <a:off x="8096250" y="1857375"/>
            <a:ext cx="2990850" cy="19050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lgn="ctr">
              <a:defRPr sz="975" b="1">
                <a:solidFill>
                  <a:srgbClr val="FFFFFF"/>
                </a:solidFill>
              </a:defRPr>
            </a:pPr>
            <a:r>
              <a:t>Rôle dans le projet</a:t>
            </a:r>
          </a:p>
        </p:txBody>
      </p:sp>
      <p:sp>
        <p:nvSpPr>
          <p:cNvPr id="14" name="">
            <a:extLst xmlns:a="http://schemas.openxmlformats.org/drawingml/2006/main">
              <a:ext uri="{FF2B5EF4-FFF2-40B4-BE49-F238E27FC236}">
                <a16:creationId xmlns:a16="http://schemas.microsoft.com/office/drawing/2014/main" id="{08355C1A-7C86-4AE3-BE2D-DC97D3C4F97F}"/>
              </a:ext>
            </a:extLst>
          </p:cNvPr>
          <p:cNvSpPr>
            <a:spLocks xmlns:a="http://schemas.openxmlformats.org/drawingml/2006/main" noGrp="1"/>
          </p:cNvSpPr>
          <p:nvPr/>
        </p:nvSpPr>
        <p:spPr>
          <a:xfrm xmlns:a="http://schemas.openxmlformats.org/drawingml/2006/main">
            <a:off x="876300" y="2114550"/>
            <a:ext cx="2571750" cy="323850"/>
          </a:xfrm>
          <a:prstGeom xmlns:a="http://schemas.openxmlformats.org/drawingml/2006/main" prst="rect">
            <a:avLst/>
          </a:prstGeom>
          <a:solidFill xmlns:a="http://schemas.openxmlformats.org/drawingml/2006/main">
            <a:srgbClr val="FBF8F2"/>
          </a:solidFill>
          <a:ln xmlns:a="http://schemas.openxmlformats.org/drawingml/2006/main" w="9525">
            <a:solidFill>
              <a:srgbClr val="EEE4D3"/>
            </a:solidFill>
            <a:prstDash val="solid"/>
          </a:ln>
        </p:spPr>
      </p:sp>
      <p:sp>
        <p:nvSpPr>
          <p:cNvPr id="15" name="">
            <a:extLst xmlns:a="http://schemas.openxmlformats.org/drawingml/2006/main">
              <a:ext uri="{FF2B5EF4-FFF2-40B4-BE49-F238E27FC236}">
                <a16:creationId xmlns:a16="http://schemas.microsoft.com/office/drawing/2014/main" id="{C0E768BA-3900-44C5-97D6-C4E2F9D82CD4}"/>
              </a:ext>
            </a:extLst>
          </p:cNvPr>
          <p:cNvSpPr>
            <a:spLocks xmlns:a="http://schemas.openxmlformats.org/drawingml/2006/main" noGrp="1"/>
          </p:cNvSpPr>
          <p:nvPr/>
        </p:nvSpPr>
        <p:spPr>
          <a:xfrm xmlns:a="http://schemas.openxmlformats.org/drawingml/2006/main">
            <a:off x="952500" y="2181225"/>
            <a:ext cx="2419350" cy="19050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lgn="l">
              <a:defRPr sz="900">
                <a:solidFill>
                  <a:srgbClr val="2F3136"/>
                </a:solidFill>
              </a:defRPr>
            </a:pPr>
            <a:r>
              <a:t>HCP Maroc</a:t>
            </a:r>
          </a:p>
        </p:txBody>
      </p:sp>
      <p:sp>
        <p:nvSpPr>
          <p:cNvPr id="16" name="">
            <a:extLst xmlns:a="http://schemas.openxmlformats.org/drawingml/2006/main">
              <a:ext uri="{FF2B5EF4-FFF2-40B4-BE49-F238E27FC236}">
                <a16:creationId xmlns:a16="http://schemas.microsoft.com/office/drawing/2014/main" id="{4463340F-F734-4982-BD9D-27DC7C4E9B13}"/>
              </a:ext>
            </a:extLst>
          </p:cNvPr>
          <p:cNvSpPr>
            <a:spLocks xmlns:a="http://schemas.openxmlformats.org/drawingml/2006/main" noGrp="1"/>
          </p:cNvSpPr>
          <p:nvPr/>
        </p:nvSpPr>
        <p:spPr>
          <a:xfrm xmlns:a="http://schemas.openxmlformats.org/drawingml/2006/main">
            <a:off x="3448050" y="2114550"/>
            <a:ext cx="3143250" cy="323850"/>
          </a:xfrm>
          <a:prstGeom xmlns:a="http://schemas.openxmlformats.org/drawingml/2006/main" prst="rect">
            <a:avLst/>
          </a:prstGeom>
          <a:solidFill xmlns:a="http://schemas.openxmlformats.org/drawingml/2006/main">
            <a:srgbClr val="FBF8F2"/>
          </a:solidFill>
          <a:ln xmlns:a="http://schemas.openxmlformats.org/drawingml/2006/main" w="9525">
            <a:solidFill>
              <a:srgbClr val="EEE4D3"/>
            </a:solidFill>
            <a:prstDash val="solid"/>
          </a:ln>
        </p:spPr>
      </p:sp>
      <p:sp>
        <p:nvSpPr>
          <p:cNvPr id="17" name="">
            <a:extLst xmlns:a="http://schemas.openxmlformats.org/drawingml/2006/main">
              <a:ext uri="{FF2B5EF4-FFF2-40B4-BE49-F238E27FC236}">
                <a16:creationId xmlns:a16="http://schemas.microsoft.com/office/drawing/2014/main" id="{3C4A5965-9199-4003-BB00-967AD7745BEC}"/>
              </a:ext>
            </a:extLst>
          </p:cNvPr>
          <p:cNvSpPr>
            <a:spLocks xmlns:a="http://schemas.openxmlformats.org/drawingml/2006/main" noGrp="1"/>
          </p:cNvSpPr>
          <p:nvPr/>
        </p:nvSpPr>
        <p:spPr>
          <a:xfrm xmlns:a="http://schemas.openxmlformats.org/drawingml/2006/main">
            <a:off x="3524250" y="2181225"/>
            <a:ext cx="2990850" cy="19050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lgn="ctr">
              <a:defRPr sz="900">
                <a:solidFill>
                  <a:srgbClr val="2F3136"/>
                </a:solidFill>
              </a:defRPr>
            </a:pPr>
            <a:r>
              <a:t>IPC mensuel base 2017=100</a:t>
            </a:r>
          </a:p>
        </p:txBody>
      </p:sp>
      <p:sp>
        <p:nvSpPr>
          <p:cNvPr id="18" name="">
            <a:extLst xmlns:a="http://schemas.openxmlformats.org/drawingml/2006/main">
              <a:ext uri="{FF2B5EF4-FFF2-40B4-BE49-F238E27FC236}">
                <a16:creationId xmlns:a16="http://schemas.microsoft.com/office/drawing/2014/main" id="{951C8CF8-9956-49DC-AB91-7D21F2634AC1}"/>
              </a:ext>
            </a:extLst>
          </p:cNvPr>
          <p:cNvSpPr>
            <a:spLocks xmlns:a="http://schemas.openxmlformats.org/drawingml/2006/main" noGrp="1"/>
          </p:cNvSpPr>
          <p:nvPr/>
        </p:nvSpPr>
        <p:spPr>
          <a:xfrm xmlns:a="http://schemas.openxmlformats.org/drawingml/2006/main">
            <a:off x="6591300" y="2114550"/>
            <a:ext cx="1428750" cy="323850"/>
          </a:xfrm>
          <a:prstGeom xmlns:a="http://schemas.openxmlformats.org/drawingml/2006/main" prst="rect">
            <a:avLst/>
          </a:prstGeom>
          <a:solidFill xmlns:a="http://schemas.openxmlformats.org/drawingml/2006/main">
            <a:srgbClr val="FBF8F2"/>
          </a:solidFill>
          <a:ln xmlns:a="http://schemas.openxmlformats.org/drawingml/2006/main" w="9525">
            <a:solidFill>
              <a:srgbClr val="EEE4D3"/>
            </a:solidFill>
            <a:prstDash val="solid"/>
          </a:ln>
        </p:spPr>
      </p:sp>
      <p:sp>
        <p:nvSpPr>
          <p:cNvPr id="19" name="">
            <a:extLst xmlns:a="http://schemas.openxmlformats.org/drawingml/2006/main">
              <a:ext uri="{FF2B5EF4-FFF2-40B4-BE49-F238E27FC236}">
                <a16:creationId xmlns:a16="http://schemas.microsoft.com/office/drawing/2014/main" id="{A749ACBE-F859-41B3-8336-3C7972891371}"/>
              </a:ext>
            </a:extLst>
          </p:cNvPr>
          <p:cNvSpPr>
            <a:spLocks xmlns:a="http://schemas.openxmlformats.org/drawingml/2006/main" noGrp="1"/>
          </p:cNvSpPr>
          <p:nvPr/>
        </p:nvSpPr>
        <p:spPr>
          <a:xfrm xmlns:a="http://schemas.openxmlformats.org/drawingml/2006/main">
            <a:off x="6667500" y="2181225"/>
            <a:ext cx="1276350" cy="19050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lgn="ctr">
              <a:defRPr sz="900">
                <a:solidFill>
                  <a:srgbClr val="2F3136"/>
                </a:solidFill>
              </a:defRPr>
            </a:pPr>
            <a:r>
              <a:t>2017–2024</a:t>
            </a:r>
          </a:p>
        </p:txBody>
      </p:sp>
      <p:sp>
        <p:nvSpPr>
          <p:cNvPr id="20" name="">
            <a:extLst xmlns:a="http://schemas.openxmlformats.org/drawingml/2006/main">
              <a:ext uri="{FF2B5EF4-FFF2-40B4-BE49-F238E27FC236}">
                <a16:creationId xmlns:a16="http://schemas.microsoft.com/office/drawing/2014/main" id="{B0677825-E5ED-437D-BEBF-E4579EAFDE21}"/>
              </a:ext>
            </a:extLst>
          </p:cNvPr>
          <p:cNvSpPr>
            <a:spLocks xmlns:a="http://schemas.openxmlformats.org/drawingml/2006/main" noGrp="1"/>
          </p:cNvSpPr>
          <p:nvPr/>
        </p:nvSpPr>
        <p:spPr>
          <a:xfrm xmlns:a="http://schemas.openxmlformats.org/drawingml/2006/main">
            <a:off x="8020050" y="2114550"/>
            <a:ext cx="3143250" cy="323850"/>
          </a:xfrm>
          <a:prstGeom xmlns:a="http://schemas.openxmlformats.org/drawingml/2006/main" prst="rect">
            <a:avLst/>
          </a:prstGeom>
          <a:solidFill xmlns:a="http://schemas.openxmlformats.org/drawingml/2006/main">
            <a:srgbClr val="FBF8F2"/>
          </a:solidFill>
          <a:ln xmlns:a="http://schemas.openxmlformats.org/drawingml/2006/main" w="9525">
            <a:solidFill>
              <a:srgbClr val="EEE4D3"/>
            </a:solidFill>
            <a:prstDash val="solid"/>
          </a:ln>
        </p:spPr>
      </p:sp>
      <p:sp>
        <p:nvSpPr>
          <p:cNvPr id="21" name="">
            <a:extLst xmlns:a="http://schemas.openxmlformats.org/drawingml/2006/main">
              <a:ext uri="{FF2B5EF4-FFF2-40B4-BE49-F238E27FC236}">
                <a16:creationId xmlns:a16="http://schemas.microsoft.com/office/drawing/2014/main" id="{43AF779F-834D-47D0-B1F0-B6908A6174CF}"/>
              </a:ext>
            </a:extLst>
          </p:cNvPr>
          <p:cNvSpPr>
            <a:spLocks xmlns:a="http://schemas.openxmlformats.org/drawingml/2006/main" noGrp="1"/>
          </p:cNvSpPr>
          <p:nvPr/>
        </p:nvSpPr>
        <p:spPr>
          <a:xfrm xmlns:a="http://schemas.openxmlformats.org/drawingml/2006/main">
            <a:off x="8096250" y="2181225"/>
            <a:ext cx="2990850" cy="19050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lgn="ctr">
              <a:defRPr sz="900">
                <a:solidFill>
                  <a:srgbClr val="2F3136"/>
                </a:solidFill>
              </a:defRPr>
            </a:pPr>
            <a:r>
              <a:t>Vérité terrain officielle</a:t>
            </a:r>
          </a:p>
        </p:txBody>
      </p:sp>
      <p:sp>
        <p:nvSpPr>
          <p:cNvPr id="22" name="">
            <a:extLst xmlns:a="http://schemas.openxmlformats.org/drawingml/2006/main">
              <a:ext uri="{FF2B5EF4-FFF2-40B4-BE49-F238E27FC236}">
                <a16:creationId xmlns:a16="http://schemas.microsoft.com/office/drawing/2014/main" id="{8064C6C2-8646-4C9D-BF89-D5A384F9C523}"/>
              </a:ext>
            </a:extLst>
          </p:cNvPr>
          <p:cNvSpPr>
            <a:spLocks xmlns:a="http://schemas.openxmlformats.org/drawingml/2006/main" noGrp="1"/>
          </p:cNvSpPr>
          <p:nvPr/>
        </p:nvSpPr>
        <p:spPr>
          <a:xfrm xmlns:a="http://schemas.openxmlformats.org/drawingml/2006/main">
            <a:off x="876300" y="2438400"/>
            <a:ext cx="2571750" cy="323850"/>
          </a:xfrm>
          <a:prstGeom xmlns:a="http://schemas.openxmlformats.org/drawingml/2006/main" prst="rect">
            <a:avLst/>
          </a:prstGeom>
          <a:solidFill xmlns:a="http://schemas.openxmlformats.org/drawingml/2006/main">
            <a:srgbClr val="FFFFFF"/>
          </a:solidFill>
          <a:ln xmlns:a="http://schemas.openxmlformats.org/drawingml/2006/main" w="9525">
            <a:solidFill>
              <a:srgbClr val="EEE4D3"/>
            </a:solidFill>
            <a:prstDash val="solid"/>
          </a:ln>
        </p:spPr>
      </p:sp>
      <p:sp>
        <p:nvSpPr>
          <p:cNvPr id="23" name="">
            <a:extLst xmlns:a="http://schemas.openxmlformats.org/drawingml/2006/main">
              <a:ext uri="{FF2B5EF4-FFF2-40B4-BE49-F238E27FC236}">
                <a16:creationId xmlns:a16="http://schemas.microsoft.com/office/drawing/2014/main" id="{E499A69A-EA3C-47DE-AA5D-E21E75FEB23C}"/>
              </a:ext>
            </a:extLst>
          </p:cNvPr>
          <p:cNvSpPr>
            <a:spLocks xmlns:a="http://schemas.openxmlformats.org/drawingml/2006/main" noGrp="1"/>
          </p:cNvSpPr>
          <p:nvPr/>
        </p:nvSpPr>
        <p:spPr>
          <a:xfrm xmlns:a="http://schemas.openxmlformats.org/drawingml/2006/main">
            <a:off x="952500" y="2505075"/>
            <a:ext cx="2419350" cy="19050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lgn="l">
              <a:defRPr sz="900">
                <a:solidFill>
                  <a:srgbClr val="2F3136"/>
                </a:solidFill>
              </a:defRPr>
            </a:pPr>
            <a:r>
              <a:t>Google Trends</a:t>
            </a:r>
          </a:p>
        </p:txBody>
      </p:sp>
      <p:sp>
        <p:nvSpPr>
          <p:cNvPr id="24" name="">
            <a:extLst xmlns:a="http://schemas.openxmlformats.org/drawingml/2006/main">
              <a:ext uri="{FF2B5EF4-FFF2-40B4-BE49-F238E27FC236}">
                <a16:creationId xmlns:a16="http://schemas.microsoft.com/office/drawing/2014/main" id="{E100E757-58C6-4628-8D24-E0E76F0A7F1C}"/>
              </a:ext>
            </a:extLst>
          </p:cNvPr>
          <p:cNvSpPr>
            <a:spLocks xmlns:a="http://schemas.openxmlformats.org/drawingml/2006/main" noGrp="1"/>
          </p:cNvSpPr>
          <p:nvPr/>
        </p:nvSpPr>
        <p:spPr>
          <a:xfrm xmlns:a="http://schemas.openxmlformats.org/drawingml/2006/main">
            <a:off x="3448050" y="2438400"/>
            <a:ext cx="3143250" cy="323850"/>
          </a:xfrm>
          <a:prstGeom xmlns:a="http://schemas.openxmlformats.org/drawingml/2006/main" prst="rect">
            <a:avLst/>
          </a:prstGeom>
          <a:solidFill xmlns:a="http://schemas.openxmlformats.org/drawingml/2006/main">
            <a:srgbClr val="FFFFFF"/>
          </a:solidFill>
          <a:ln xmlns:a="http://schemas.openxmlformats.org/drawingml/2006/main" w="9525">
            <a:solidFill>
              <a:srgbClr val="EEE4D3"/>
            </a:solidFill>
            <a:prstDash val="solid"/>
          </a:ln>
        </p:spPr>
      </p:sp>
      <p:sp>
        <p:nvSpPr>
          <p:cNvPr id="25" name="">
            <a:extLst xmlns:a="http://schemas.openxmlformats.org/drawingml/2006/main">
              <a:ext uri="{FF2B5EF4-FFF2-40B4-BE49-F238E27FC236}">
                <a16:creationId xmlns:a16="http://schemas.microsoft.com/office/drawing/2014/main" id="{DB08CCF7-41B6-43B6-BB63-46EE6142D3EC}"/>
              </a:ext>
            </a:extLst>
          </p:cNvPr>
          <p:cNvSpPr>
            <a:spLocks xmlns:a="http://schemas.openxmlformats.org/drawingml/2006/main" noGrp="1"/>
          </p:cNvSpPr>
          <p:nvPr/>
        </p:nvSpPr>
        <p:spPr>
          <a:xfrm xmlns:a="http://schemas.openxmlformats.org/drawingml/2006/main">
            <a:off x="3524250" y="2505075"/>
            <a:ext cx="2990850" cy="19050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lgn="ctr">
              <a:defRPr sz="900">
                <a:solidFill>
                  <a:srgbClr val="2F3136"/>
                </a:solidFill>
              </a:defRPr>
            </a:pPr>
            <a:r>
              <a:t>Recherche inflation / prix / alimentation</a:t>
            </a:r>
          </a:p>
        </p:txBody>
      </p:sp>
      <p:sp>
        <p:nvSpPr>
          <p:cNvPr id="26" name="">
            <a:extLst xmlns:a="http://schemas.openxmlformats.org/drawingml/2006/main">
              <a:ext uri="{FF2B5EF4-FFF2-40B4-BE49-F238E27FC236}">
                <a16:creationId xmlns:a16="http://schemas.microsoft.com/office/drawing/2014/main" id="{7D00F5EA-5DF3-4BAD-9649-2DF3DCB643AA}"/>
              </a:ext>
            </a:extLst>
          </p:cNvPr>
          <p:cNvSpPr>
            <a:spLocks xmlns:a="http://schemas.openxmlformats.org/drawingml/2006/main" noGrp="1"/>
          </p:cNvSpPr>
          <p:nvPr/>
        </p:nvSpPr>
        <p:spPr>
          <a:xfrm xmlns:a="http://schemas.openxmlformats.org/drawingml/2006/main">
            <a:off x="6591300" y="2438400"/>
            <a:ext cx="1428750" cy="323850"/>
          </a:xfrm>
          <a:prstGeom xmlns:a="http://schemas.openxmlformats.org/drawingml/2006/main" prst="rect">
            <a:avLst/>
          </a:prstGeom>
          <a:solidFill xmlns:a="http://schemas.openxmlformats.org/drawingml/2006/main">
            <a:srgbClr val="FFFFFF"/>
          </a:solidFill>
          <a:ln xmlns:a="http://schemas.openxmlformats.org/drawingml/2006/main" w="9525">
            <a:solidFill>
              <a:srgbClr val="EEE4D3"/>
            </a:solidFill>
            <a:prstDash val="solid"/>
          </a:ln>
        </p:spPr>
      </p:sp>
      <p:sp>
        <p:nvSpPr>
          <p:cNvPr id="27" name="">
            <a:extLst xmlns:a="http://schemas.openxmlformats.org/drawingml/2006/main">
              <a:ext uri="{FF2B5EF4-FFF2-40B4-BE49-F238E27FC236}">
                <a16:creationId xmlns:a16="http://schemas.microsoft.com/office/drawing/2014/main" id="{CB1F1A6D-3C83-42D2-A820-C5E23C2147F8}"/>
              </a:ext>
            </a:extLst>
          </p:cNvPr>
          <p:cNvSpPr>
            <a:spLocks xmlns:a="http://schemas.openxmlformats.org/drawingml/2006/main" noGrp="1"/>
          </p:cNvSpPr>
          <p:nvPr/>
        </p:nvSpPr>
        <p:spPr>
          <a:xfrm xmlns:a="http://schemas.openxmlformats.org/drawingml/2006/main">
            <a:off x="6667500" y="2505075"/>
            <a:ext cx="1276350" cy="19050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lgn="ctr">
              <a:defRPr sz="900">
                <a:solidFill>
                  <a:srgbClr val="2F3136"/>
                </a:solidFill>
              </a:defRPr>
            </a:pPr>
            <a:r>
              <a:t>2010–2024</a:t>
            </a:r>
          </a:p>
        </p:txBody>
      </p:sp>
      <p:sp>
        <p:nvSpPr>
          <p:cNvPr id="28" name="">
            <a:extLst xmlns:a="http://schemas.openxmlformats.org/drawingml/2006/main">
              <a:ext uri="{FF2B5EF4-FFF2-40B4-BE49-F238E27FC236}">
                <a16:creationId xmlns:a16="http://schemas.microsoft.com/office/drawing/2014/main" id="{3727CB50-3BFE-4D8F-841F-B1B219F574FD}"/>
              </a:ext>
            </a:extLst>
          </p:cNvPr>
          <p:cNvSpPr>
            <a:spLocks xmlns:a="http://schemas.openxmlformats.org/drawingml/2006/main" noGrp="1"/>
          </p:cNvSpPr>
          <p:nvPr/>
        </p:nvSpPr>
        <p:spPr>
          <a:xfrm xmlns:a="http://schemas.openxmlformats.org/drawingml/2006/main">
            <a:off x="8020050" y="2438400"/>
            <a:ext cx="3143250" cy="323850"/>
          </a:xfrm>
          <a:prstGeom xmlns:a="http://schemas.openxmlformats.org/drawingml/2006/main" prst="rect">
            <a:avLst/>
          </a:prstGeom>
          <a:solidFill xmlns:a="http://schemas.openxmlformats.org/drawingml/2006/main">
            <a:srgbClr val="FFFFFF"/>
          </a:solidFill>
          <a:ln xmlns:a="http://schemas.openxmlformats.org/drawingml/2006/main" w="9525">
            <a:solidFill>
              <a:srgbClr val="EEE4D3"/>
            </a:solidFill>
            <a:prstDash val="solid"/>
          </a:ln>
        </p:spPr>
      </p:sp>
      <p:sp>
        <p:nvSpPr>
          <p:cNvPr id="29" name="">
            <a:extLst xmlns:a="http://schemas.openxmlformats.org/drawingml/2006/main">
              <a:ext uri="{FF2B5EF4-FFF2-40B4-BE49-F238E27FC236}">
                <a16:creationId xmlns:a16="http://schemas.microsoft.com/office/drawing/2014/main" id="{4762F448-9C81-4709-BE61-141262E11855}"/>
              </a:ext>
            </a:extLst>
          </p:cNvPr>
          <p:cNvSpPr>
            <a:spLocks xmlns:a="http://schemas.openxmlformats.org/drawingml/2006/main" noGrp="1"/>
          </p:cNvSpPr>
          <p:nvPr/>
        </p:nvSpPr>
        <p:spPr>
          <a:xfrm xmlns:a="http://schemas.openxmlformats.org/drawingml/2006/main">
            <a:off x="8096250" y="2505075"/>
            <a:ext cx="2990850" cy="19050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lgn="ctr">
              <a:defRPr sz="900">
                <a:solidFill>
                  <a:srgbClr val="2F3136"/>
                </a:solidFill>
              </a:defRPr>
            </a:pPr>
            <a:r>
              <a:t>Signal comportemental principal</a:t>
            </a:r>
          </a:p>
        </p:txBody>
      </p:sp>
      <p:sp>
        <p:nvSpPr>
          <p:cNvPr id="30" name="">
            <a:extLst xmlns:a="http://schemas.openxmlformats.org/drawingml/2006/main">
              <a:ext uri="{FF2B5EF4-FFF2-40B4-BE49-F238E27FC236}">
                <a16:creationId xmlns:a16="http://schemas.microsoft.com/office/drawing/2014/main" id="{A4E100F9-C257-4EDF-A65F-A24D260CAB78}"/>
              </a:ext>
            </a:extLst>
          </p:cNvPr>
          <p:cNvSpPr>
            <a:spLocks xmlns:a="http://schemas.openxmlformats.org/drawingml/2006/main" noGrp="1"/>
          </p:cNvSpPr>
          <p:nvPr/>
        </p:nvSpPr>
        <p:spPr>
          <a:xfrm xmlns:a="http://schemas.openxmlformats.org/drawingml/2006/main">
            <a:off x="876300" y="2762250"/>
            <a:ext cx="2571750" cy="323850"/>
          </a:xfrm>
          <a:prstGeom xmlns:a="http://schemas.openxmlformats.org/drawingml/2006/main" prst="rect">
            <a:avLst/>
          </a:prstGeom>
          <a:solidFill xmlns:a="http://schemas.openxmlformats.org/drawingml/2006/main">
            <a:srgbClr val="FBF8F2"/>
          </a:solidFill>
          <a:ln xmlns:a="http://schemas.openxmlformats.org/drawingml/2006/main" w="9525">
            <a:solidFill>
              <a:srgbClr val="EEE4D3"/>
            </a:solidFill>
            <a:prstDash val="solid"/>
          </a:ln>
        </p:spPr>
      </p:sp>
      <p:sp>
        <p:nvSpPr>
          <p:cNvPr id="31" name="">
            <a:extLst xmlns:a="http://schemas.openxmlformats.org/drawingml/2006/main">
              <a:ext uri="{FF2B5EF4-FFF2-40B4-BE49-F238E27FC236}">
                <a16:creationId xmlns:a16="http://schemas.microsoft.com/office/drawing/2014/main" id="{34FAFEB4-2748-474F-B23F-CF66CDAF60FD}"/>
              </a:ext>
            </a:extLst>
          </p:cNvPr>
          <p:cNvSpPr>
            <a:spLocks xmlns:a="http://schemas.openxmlformats.org/drawingml/2006/main" noGrp="1"/>
          </p:cNvSpPr>
          <p:nvPr/>
        </p:nvSpPr>
        <p:spPr>
          <a:xfrm xmlns:a="http://schemas.openxmlformats.org/drawingml/2006/main">
            <a:off x="952500" y="2828925"/>
            <a:ext cx="2419350" cy="19050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lgn="l">
              <a:defRPr sz="900">
                <a:solidFill>
                  <a:srgbClr val="2F3136"/>
                </a:solidFill>
              </a:defRPr>
            </a:pPr>
            <a:r>
              <a:t>FAO</a:t>
            </a:r>
          </a:p>
        </p:txBody>
      </p:sp>
      <p:sp>
        <p:nvSpPr>
          <p:cNvPr id="32" name="">
            <a:extLst xmlns:a="http://schemas.openxmlformats.org/drawingml/2006/main">
              <a:ext uri="{FF2B5EF4-FFF2-40B4-BE49-F238E27FC236}">
                <a16:creationId xmlns:a16="http://schemas.microsoft.com/office/drawing/2014/main" id="{99148F15-3457-49CF-96B8-F432C27A3CED}"/>
              </a:ext>
            </a:extLst>
          </p:cNvPr>
          <p:cNvSpPr>
            <a:spLocks xmlns:a="http://schemas.openxmlformats.org/drawingml/2006/main" noGrp="1"/>
          </p:cNvSpPr>
          <p:nvPr/>
        </p:nvSpPr>
        <p:spPr>
          <a:xfrm xmlns:a="http://schemas.openxmlformats.org/drawingml/2006/main">
            <a:off x="3448050" y="2762250"/>
            <a:ext cx="3143250" cy="323850"/>
          </a:xfrm>
          <a:prstGeom xmlns:a="http://schemas.openxmlformats.org/drawingml/2006/main" prst="rect">
            <a:avLst/>
          </a:prstGeom>
          <a:solidFill xmlns:a="http://schemas.openxmlformats.org/drawingml/2006/main">
            <a:srgbClr val="FBF8F2"/>
          </a:solidFill>
          <a:ln xmlns:a="http://schemas.openxmlformats.org/drawingml/2006/main" w="9525">
            <a:solidFill>
              <a:srgbClr val="EEE4D3"/>
            </a:solidFill>
            <a:prstDash val="solid"/>
          </a:ln>
        </p:spPr>
      </p:sp>
      <p:sp>
        <p:nvSpPr>
          <p:cNvPr id="33" name="">
            <a:extLst xmlns:a="http://schemas.openxmlformats.org/drawingml/2006/main">
              <a:ext uri="{FF2B5EF4-FFF2-40B4-BE49-F238E27FC236}">
                <a16:creationId xmlns:a16="http://schemas.microsoft.com/office/drawing/2014/main" id="{2ED1AB77-BF1A-4DE6-9FE9-E3D65F5E1DAC}"/>
              </a:ext>
            </a:extLst>
          </p:cNvPr>
          <p:cNvSpPr>
            <a:spLocks xmlns:a="http://schemas.openxmlformats.org/drawingml/2006/main" noGrp="1"/>
          </p:cNvSpPr>
          <p:nvPr/>
        </p:nvSpPr>
        <p:spPr>
          <a:xfrm xmlns:a="http://schemas.openxmlformats.org/drawingml/2006/main">
            <a:off x="3524250" y="2828925"/>
            <a:ext cx="2990850" cy="19050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lgn="ctr">
              <a:defRPr sz="900">
                <a:solidFill>
                  <a:srgbClr val="2F3136"/>
                </a:solidFill>
              </a:defRPr>
            </a:pPr>
            <a:r>
              <a:t>Food Price Index et sous-indices</a:t>
            </a:r>
          </a:p>
        </p:txBody>
      </p:sp>
      <p:sp>
        <p:nvSpPr>
          <p:cNvPr id="34" name="">
            <a:extLst xmlns:a="http://schemas.openxmlformats.org/drawingml/2006/main">
              <a:ext uri="{FF2B5EF4-FFF2-40B4-BE49-F238E27FC236}">
                <a16:creationId xmlns:a16="http://schemas.microsoft.com/office/drawing/2014/main" id="{E9AAE60B-FD25-4BD1-8E7A-0D5127467F6B}"/>
              </a:ext>
            </a:extLst>
          </p:cNvPr>
          <p:cNvSpPr>
            <a:spLocks xmlns:a="http://schemas.openxmlformats.org/drawingml/2006/main" noGrp="1"/>
          </p:cNvSpPr>
          <p:nvPr/>
        </p:nvSpPr>
        <p:spPr>
          <a:xfrm xmlns:a="http://schemas.openxmlformats.org/drawingml/2006/main">
            <a:off x="6591300" y="2762250"/>
            <a:ext cx="1428750" cy="323850"/>
          </a:xfrm>
          <a:prstGeom xmlns:a="http://schemas.openxmlformats.org/drawingml/2006/main" prst="rect">
            <a:avLst/>
          </a:prstGeom>
          <a:solidFill xmlns:a="http://schemas.openxmlformats.org/drawingml/2006/main">
            <a:srgbClr val="FBF8F2"/>
          </a:solidFill>
          <a:ln xmlns:a="http://schemas.openxmlformats.org/drawingml/2006/main" w="9525">
            <a:solidFill>
              <a:srgbClr val="EEE4D3"/>
            </a:solidFill>
            <a:prstDash val="solid"/>
          </a:ln>
        </p:spPr>
      </p:sp>
      <p:sp>
        <p:nvSpPr>
          <p:cNvPr id="35" name="">
            <a:extLst xmlns:a="http://schemas.openxmlformats.org/drawingml/2006/main">
              <a:ext uri="{FF2B5EF4-FFF2-40B4-BE49-F238E27FC236}">
                <a16:creationId xmlns:a16="http://schemas.microsoft.com/office/drawing/2014/main" id="{DB377F9F-52E1-42C5-BB7E-329B73C410DB}"/>
              </a:ext>
            </a:extLst>
          </p:cNvPr>
          <p:cNvSpPr>
            <a:spLocks xmlns:a="http://schemas.openxmlformats.org/drawingml/2006/main" noGrp="1"/>
          </p:cNvSpPr>
          <p:nvPr/>
        </p:nvSpPr>
        <p:spPr>
          <a:xfrm xmlns:a="http://schemas.openxmlformats.org/drawingml/2006/main">
            <a:off x="6667500" y="2828925"/>
            <a:ext cx="1276350" cy="19050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lgn="ctr">
              <a:defRPr sz="900">
                <a:solidFill>
                  <a:srgbClr val="2F3136"/>
                </a:solidFill>
              </a:defRPr>
            </a:pPr>
            <a:r>
              <a:t>2010–2024</a:t>
            </a:r>
          </a:p>
        </p:txBody>
      </p:sp>
      <p:sp>
        <p:nvSpPr>
          <p:cNvPr id="36" name="">
            <a:extLst xmlns:a="http://schemas.openxmlformats.org/drawingml/2006/main">
              <a:ext uri="{FF2B5EF4-FFF2-40B4-BE49-F238E27FC236}">
                <a16:creationId xmlns:a16="http://schemas.microsoft.com/office/drawing/2014/main" id="{0A7A1A96-4773-4F12-876B-00166437B91B}"/>
              </a:ext>
            </a:extLst>
          </p:cNvPr>
          <p:cNvSpPr>
            <a:spLocks xmlns:a="http://schemas.openxmlformats.org/drawingml/2006/main" noGrp="1"/>
          </p:cNvSpPr>
          <p:nvPr/>
        </p:nvSpPr>
        <p:spPr>
          <a:xfrm xmlns:a="http://schemas.openxmlformats.org/drawingml/2006/main">
            <a:off x="8020050" y="2762250"/>
            <a:ext cx="3143250" cy="323850"/>
          </a:xfrm>
          <a:prstGeom xmlns:a="http://schemas.openxmlformats.org/drawingml/2006/main" prst="rect">
            <a:avLst/>
          </a:prstGeom>
          <a:solidFill xmlns:a="http://schemas.openxmlformats.org/drawingml/2006/main">
            <a:srgbClr val="FBF8F2"/>
          </a:solidFill>
          <a:ln xmlns:a="http://schemas.openxmlformats.org/drawingml/2006/main" w="9525">
            <a:solidFill>
              <a:srgbClr val="EEE4D3"/>
            </a:solidFill>
            <a:prstDash val="solid"/>
          </a:ln>
        </p:spPr>
      </p:sp>
      <p:sp>
        <p:nvSpPr>
          <p:cNvPr id="37" name="">
            <a:extLst xmlns:a="http://schemas.openxmlformats.org/drawingml/2006/main">
              <a:ext uri="{FF2B5EF4-FFF2-40B4-BE49-F238E27FC236}">
                <a16:creationId xmlns:a16="http://schemas.microsoft.com/office/drawing/2014/main" id="{8AD746D3-3179-42B6-9D02-5144556D9AFE}"/>
              </a:ext>
            </a:extLst>
          </p:cNvPr>
          <p:cNvSpPr>
            <a:spLocks xmlns:a="http://schemas.openxmlformats.org/drawingml/2006/main" noGrp="1"/>
          </p:cNvSpPr>
          <p:nvPr/>
        </p:nvSpPr>
        <p:spPr>
          <a:xfrm xmlns:a="http://schemas.openxmlformats.org/drawingml/2006/main">
            <a:off x="8096250" y="2828925"/>
            <a:ext cx="2990850" cy="19050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lgn="ctr">
              <a:defRPr sz="900">
                <a:solidFill>
                  <a:srgbClr val="2F3136"/>
                </a:solidFill>
              </a:defRPr>
            </a:pPr>
            <a:r>
              <a:t>Signal macro mondial</a:t>
            </a:r>
          </a:p>
        </p:txBody>
      </p:sp>
      <p:sp>
        <p:nvSpPr>
          <p:cNvPr id="38" name="">
            <a:extLst xmlns:a="http://schemas.openxmlformats.org/drawingml/2006/main">
              <a:ext uri="{FF2B5EF4-FFF2-40B4-BE49-F238E27FC236}">
                <a16:creationId xmlns:a16="http://schemas.microsoft.com/office/drawing/2014/main" id="{C390B1A2-495E-44C1-BBF4-0F4044AB2360}"/>
              </a:ext>
            </a:extLst>
          </p:cNvPr>
          <p:cNvSpPr>
            <a:spLocks xmlns:a="http://schemas.openxmlformats.org/drawingml/2006/main" noGrp="1"/>
          </p:cNvSpPr>
          <p:nvPr/>
        </p:nvSpPr>
        <p:spPr>
          <a:xfrm xmlns:a="http://schemas.openxmlformats.org/drawingml/2006/main">
            <a:off x="876300" y="3086100"/>
            <a:ext cx="2571750" cy="323850"/>
          </a:xfrm>
          <a:prstGeom xmlns:a="http://schemas.openxmlformats.org/drawingml/2006/main" prst="rect">
            <a:avLst/>
          </a:prstGeom>
          <a:solidFill xmlns:a="http://schemas.openxmlformats.org/drawingml/2006/main">
            <a:srgbClr val="FFFFFF"/>
          </a:solidFill>
          <a:ln xmlns:a="http://schemas.openxmlformats.org/drawingml/2006/main" w="9525">
            <a:solidFill>
              <a:srgbClr val="EEE4D3"/>
            </a:solidFill>
            <a:prstDash val="solid"/>
          </a:ln>
        </p:spPr>
      </p:sp>
      <p:sp>
        <p:nvSpPr>
          <p:cNvPr id="39" name="">
            <a:extLst xmlns:a="http://schemas.openxmlformats.org/drawingml/2006/main">
              <a:ext uri="{FF2B5EF4-FFF2-40B4-BE49-F238E27FC236}">
                <a16:creationId xmlns:a16="http://schemas.microsoft.com/office/drawing/2014/main" id="{C1199301-27AF-4D0B-AEE9-3A1480EB2A4F}"/>
              </a:ext>
            </a:extLst>
          </p:cNvPr>
          <p:cNvSpPr>
            <a:spLocks xmlns:a="http://schemas.openxmlformats.org/drawingml/2006/main" noGrp="1"/>
          </p:cNvSpPr>
          <p:nvPr/>
        </p:nvSpPr>
        <p:spPr>
          <a:xfrm xmlns:a="http://schemas.openxmlformats.org/drawingml/2006/main">
            <a:off x="952500" y="3152775"/>
            <a:ext cx="2419350" cy="19050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lgn="l">
              <a:defRPr sz="900">
                <a:solidFill>
                  <a:srgbClr val="2F3136"/>
                </a:solidFill>
              </a:defRPr>
            </a:pPr>
            <a:r>
              <a:t>MAD/EUR</a:t>
            </a:r>
          </a:p>
        </p:txBody>
      </p:sp>
      <p:sp>
        <p:nvSpPr>
          <p:cNvPr id="40" name="">
            <a:extLst xmlns:a="http://schemas.openxmlformats.org/drawingml/2006/main">
              <a:ext uri="{FF2B5EF4-FFF2-40B4-BE49-F238E27FC236}">
                <a16:creationId xmlns:a16="http://schemas.microsoft.com/office/drawing/2014/main" id="{F05E4C8C-9C2A-4139-887B-061F7E11A4ED}"/>
              </a:ext>
            </a:extLst>
          </p:cNvPr>
          <p:cNvSpPr>
            <a:spLocks xmlns:a="http://schemas.openxmlformats.org/drawingml/2006/main" noGrp="1"/>
          </p:cNvSpPr>
          <p:nvPr/>
        </p:nvSpPr>
        <p:spPr>
          <a:xfrm xmlns:a="http://schemas.openxmlformats.org/drawingml/2006/main">
            <a:off x="3448050" y="3086100"/>
            <a:ext cx="3143250" cy="323850"/>
          </a:xfrm>
          <a:prstGeom xmlns:a="http://schemas.openxmlformats.org/drawingml/2006/main" prst="rect">
            <a:avLst/>
          </a:prstGeom>
          <a:solidFill xmlns:a="http://schemas.openxmlformats.org/drawingml/2006/main">
            <a:srgbClr val="FFFFFF"/>
          </a:solidFill>
          <a:ln xmlns:a="http://schemas.openxmlformats.org/drawingml/2006/main" w="9525">
            <a:solidFill>
              <a:srgbClr val="EEE4D3"/>
            </a:solidFill>
            <a:prstDash val="solid"/>
          </a:ln>
        </p:spPr>
      </p:sp>
      <p:sp>
        <p:nvSpPr>
          <p:cNvPr id="41" name="">
            <a:extLst xmlns:a="http://schemas.openxmlformats.org/drawingml/2006/main">
              <a:ext uri="{FF2B5EF4-FFF2-40B4-BE49-F238E27FC236}">
                <a16:creationId xmlns:a16="http://schemas.microsoft.com/office/drawing/2014/main" id="{BC6E3B77-5382-48FC-94A2-5CC8B2297564}"/>
              </a:ext>
            </a:extLst>
          </p:cNvPr>
          <p:cNvSpPr>
            <a:spLocks xmlns:a="http://schemas.openxmlformats.org/drawingml/2006/main" noGrp="1"/>
          </p:cNvSpPr>
          <p:nvPr/>
        </p:nvSpPr>
        <p:spPr>
          <a:xfrm xmlns:a="http://schemas.openxmlformats.org/drawingml/2006/main">
            <a:off x="3524250" y="3152775"/>
            <a:ext cx="2990850" cy="19050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lgn="ctr">
              <a:defRPr sz="900">
                <a:solidFill>
                  <a:srgbClr val="2F3136"/>
                </a:solidFill>
              </a:defRPr>
            </a:pPr>
            <a:r>
              <a:t>Taux de change mensuel</a:t>
            </a:r>
          </a:p>
        </p:txBody>
      </p:sp>
      <p:sp>
        <p:nvSpPr>
          <p:cNvPr id="42" name="">
            <a:extLst xmlns:a="http://schemas.openxmlformats.org/drawingml/2006/main">
              <a:ext uri="{FF2B5EF4-FFF2-40B4-BE49-F238E27FC236}">
                <a16:creationId xmlns:a16="http://schemas.microsoft.com/office/drawing/2014/main" id="{A727FC01-A50F-4327-B29F-4D4D18B05B4C}"/>
              </a:ext>
            </a:extLst>
          </p:cNvPr>
          <p:cNvSpPr>
            <a:spLocks xmlns:a="http://schemas.openxmlformats.org/drawingml/2006/main" noGrp="1"/>
          </p:cNvSpPr>
          <p:nvPr/>
        </p:nvSpPr>
        <p:spPr>
          <a:xfrm xmlns:a="http://schemas.openxmlformats.org/drawingml/2006/main">
            <a:off x="6591300" y="3086100"/>
            <a:ext cx="1428750" cy="323850"/>
          </a:xfrm>
          <a:prstGeom xmlns:a="http://schemas.openxmlformats.org/drawingml/2006/main" prst="rect">
            <a:avLst/>
          </a:prstGeom>
          <a:solidFill xmlns:a="http://schemas.openxmlformats.org/drawingml/2006/main">
            <a:srgbClr val="FFFFFF"/>
          </a:solidFill>
          <a:ln xmlns:a="http://schemas.openxmlformats.org/drawingml/2006/main" w="9525">
            <a:solidFill>
              <a:srgbClr val="EEE4D3"/>
            </a:solidFill>
            <a:prstDash val="solid"/>
          </a:ln>
        </p:spPr>
      </p:sp>
      <p:sp>
        <p:nvSpPr>
          <p:cNvPr id="43" name="">
            <a:extLst xmlns:a="http://schemas.openxmlformats.org/drawingml/2006/main">
              <a:ext uri="{FF2B5EF4-FFF2-40B4-BE49-F238E27FC236}">
                <a16:creationId xmlns:a16="http://schemas.microsoft.com/office/drawing/2014/main" id="{18D39B16-1361-468F-9A80-A24063762602}"/>
              </a:ext>
            </a:extLst>
          </p:cNvPr>
          <p:cNvSpPr>
            <a:spLocks xmlns:a="http://schemas.openxmlformats.org/drawingml/2006/main" noGrp="1"/>
          </p:cNvSpPr>
          <p:nvPr/>
        </p:nvSpPr>
        <p:spPr>
          <a:xfrm xmlns:a="http://schemas.openxmlformats.org/drawingml/2006/main">
            <a:off x="6667500" y="3152775"/>
            <a:ext cx="1276350" cy="19050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lgn="ctr">
              <a:defRPr sz="900">
                <a:solidFill>
                  <a:srgbClr val="2F3136"/>
                </a:solidFill>
              </a:defRPr>
            </a:pPr>
            <a:r>
              <a:t>2010–2024</a:t>
            </a:r>
          </a:p>
        </p:txBody>
      </p:sp>
      <p:sp>
        <p:nvSpPr>
          <p:cNvPr id="44" name="">
            <a:extLst xmlns:a="http://schemas.openxmlformats.org/drawingml/2006/main">
              <a:ext uri="{FF2B5EF4-FFF2-40B4-BE49-F238E27FC236}">
                <a16:creationId xmlns:a16="http://schemas.microsoft.com/office/drawing/2014/main" id="{4D0C63B5-2A2F-4A34-A2B9-FE60A62EE8FB}"/>
              </a:ext>
            </a:extLst>
          </p:cNvPr>
          <p:cNvSpPr>
            <a:spLocks xmlns:a="http://schemas.openxmlformats.org/drawingml/2006/main" noGrp="1"/>
          </p:cNvSpPr>
          <p:nvPr/>
        </p:nvSpPr>
        <p:spPr>
          <a:xfrm xmlns:a="http://schemas.openxmlformats.org/drawingml/2006/main">
            <a:off x="8020050" y="3086100"/>
            <a:ext cx="3143250" cy="323850"/>
          </a:xfrm>
          <a:prstGeom xmlns:a="http://schemas.openxmlformats.org/drawingml/2006/main" prst="rect">
            <a:avLst/>
          </a:prstGeom>
          <a:solidFill xmlns:a="http://schemas.openxmlformats.org/drawingml/2006/main">
            <a:srgbClr val="FFFFFF"/>
          </a:solidFill>
          <a:ln xmlns:a="http://schemas.openxmlformats.org/drawingml/2006/main" w="9525">
            <a:solidFill>
              <a:srgbClr val="EEE4D3"/>
            </a:solidFill>
            <a:prstDash val="solid"/>
          </a:ln>
        </p:spPr>
      </p:sp>
      <p:sp>
        <p:nvSpPr>
          <p:cNvPr id="45" name="">
            <a:extLst xmlns:a="http://schemas.openxmlformats.org/drawingml/2006/main">
              <a:ext uri="{FF2B5EF4-FFF2-40B4-BE49-F238E27FC236}">
                <a16:creationId xmlns:a16="http://schemas.microsoft.com/office/drawing/2014/main" id="{234F3BD8-210C-4219-8449-2250BDC06BEB}"/>
              </a:ext>
            </a:extLst>
          </p:cNvPr>
          <p:cNvSpPr>
            <a:spLocks xmlns:a="http://schemas.openxmlformats.org/drawingml/2006/main" noGrp="1"/>
          </p:cNvSpPr>
          <p:nvPr/>
        </p:nvSpPr>
        <p:spPr>
          <a:xfrm xmlns:a="http://schemas.openxmlformats.org/drawingml/2006/main">
            <a:off x="8096250" y="3152775"/>
            <a:ext cx="2990850" cy="19050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lgn="ctr">
              <a:defRPr sz="900">
                <a:solidFill>
                  <a:srgbClr val="2F3136"/>
                </a:solidFill>
              </a:defRPr>
            </a:pPr>
            <a:r>
              <a:t>Signal macro externe</a:t>
            </a:r>
          </a:p>
        </p:txBody>
      </p:sp>
      <p:sp>
        <p:nvSpPr>
          <p:cNvPr id="46" name="">
            <a:extLst xmlns:a="http://schemas.openxmlformats.org/drawingml/2006/main">
              <a:ext uri="{FF2B5EF4-FFF2-40B4-BE49-F238E27FC236}">
                <a16:creationId xmlns:a16="http://schemas.microsoft.com/office/drawing/2014/main" id="{45901DF4-837A-4BAF-8578-2BF144B254CA}"/>
              </a:ext>
            </a:extLst>
          </p:cNvPr>
          <p:cNvSpPr>
            <a:spLocks xmlns:a="http://schemas.openxmlformats.org/drawingml/2006/main" noGrp="1"/>
          </p:cNvSpPr>
          <p:nvPr/>
        </p:nvSpPr>
        <p:spPr>
          <a:xfrm xmlns:a="http://schemas.openxmlformats.org/drawingml/2006/main">
            <a:off x="876300" y="3409950"/>
            <a:ext cx="2571750" cy="323850"/>
          </a:xfrm>
          <a:prstGeom xmlns:a="http://schemas.openxmlformats.org/drawingml/2006/main" prst="rect">
            <a:avLst/>
          </a:prstGeom>
          <a:solidFill xmlns:a="http://schemas.openxmlformats.org/drawingml/2006/main">
            <a:srgbClr val="FBF8F2"/>
          </a:solidFill>
          <a:ln xmlns:a="http://schemas.openxmlformats.org/drawingml/2006/main" w="9525">
            <a:solidFill>
              <a:srgbClr val="EEE4D3"/>
            </a:solidFill>
            <a:prstDash val="solid"/>
          </a:ln>
        </p:spPr>
      </p:sp>
      <p:sp>
        <p:nvSpPr>
          <p:cNvPr id="47" name="">
            <a:extLst xmlns:a="http://schemas.openxmlformats.org/drawingml/2006/main">
              <a:ext uri="{FF2B5EF4-FFF2-40B4-BE49-F238E27FC236}">
                <a16:creationId xmlns:a16="http://schemas.microsoft.com/office/drawing/2014/main" id="{EF07842C-A152-437B-8F4F-90728AC6723E}"/>
              </a:ext>
            </a:extLst>
          </p:cNvPr>
          <p:cNvSpPr>
            <a:spLocks xmlns:a="http://schemas.openxmlformats.org/drawingml/2006/main" noGrp="1"/>
          </p:cNvSpPr>
          <p:nvPr/>
        </p:nvSpPr>
        <p:spPr>
          <a:xfrm xmlns:a="http://schemas.openxmlformats.org/drawingml/2006/main">
            <a:off x="952500" y="3476625"/>
            <a:ext cx="2419350" cy="19050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lgn="l">
              <a:defRPr sz="900">
                <a:solidFill>
                  <a:srgbClr val="2F3136"/>
                </a:solidFill>
              </a:defRPr>
            </a:pPr>
            <a:r>
              <a:t>Hespress API</a:t>
            </a:r>
          </a:p>
        </p:txBody>
      </p:sp>
      <p:sp>
        <p:nvSpPr>
          <p:cNvPr id="48" name="">
            <a:extLst xmlns:a="http://schemas.openxmlformats.org/drawingml/2006/main">
              <a:ext uri="{FF2B5EF4-FFF2-40B4-BE49-F238E27FC236}">
                <a16:creationId xmlns:a16="http://schemas.microsoft.com/office/drawing/2014/main" id="{06072088-A3EB-49E9-BE65-E592CCB2FA35}"/>
              </a:ext>
            </a:extLst>
          </p:cNvPr>
          <p:cNvSpPr>
            <a:spLocks xmlns:a="http://schemas.openxmlformats.org/drawingml/2006/main" noGrp="1"/>
          </p:cNvSpPr>
          <p:nvPr/>
        </p:nvSpPr>
        <p:spPr>
          <a:xfrm xmlns:a="http://schemas.openxmlformats.org/drawingml/2006/main">
            <a:off x="3448050" y="3409950"/>
            <a:ext cx="3143250" cy="323850"/>
          </a:xfrm>
          <a:prstGeom xmlns:a="http://schemas.openxmlformats.org/drawingml/2006/main" prst="rect">
            <a:avLst/>
          </a:prstGeom>
          <a:solidFill xmlns:a="http://schemas.openxmlformats.org/drawingml/2006/main">
            <a:srgbClr val="FBF8F2"/>
          </a:solidFill>
          <a:ln xmlns:a="http://schemas.openxmlformats.org/drawingml/2006/main" w="9525">
            <a:solidFill>
              <a:srgbClr val="EEE4D3"/>
            </a:solidFill>
            <a:prstDash val="solid"/>
          </a:ln>
        </p:spPr>
      </p:sp>
      <p:sp>
        <p:nvSpPr>
          <p:cNvPr id="49" name="">
            <a:extLst xmlns:a="http://schemas.openxmlformats.org/drawingml/2006/main">
              <a:ext uri="{FF2B5EF4-FFF2-40B4-BE49-F238E27FC236}">
                <a16:creationId xmlns:a16="http://schemas.microsoft.com/office/drawing/2014/main" id="{1C2A5386-8C38-4908-83D4-D7BA0FCEFEE2}"/>
              </a:ext>
            </a:extLst>
          </p:cNvPr>
          <p:cNvSpPr>
            <a:spLocks xmlns:a="http://schemas.openxmlformats.org/drawingml/2006/main" noGrp="1"/>
          </p:cNvSpPr>
          <p:nvPr/>
        </p:nvSpPr>
        <p:spPr>
          <a:xfrm xmlns:a="http://schemas.openxmlformats.org/drawingml/2006/main">
            <a:off x="3524250" y="3476625"/>
            <a:ext cx="2990850" cy="19050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lgn="ctr">
              <a:defRPr sz="900">
                <a:solidFill>
                  <a:srgbClr val="2F3136"/>
                </a:solidFill>
              </a:defRPr>
            </a:pPr>
            <a:r>
              <a:t>Titres + extraits d’articles</a:t>
            </a:r>
          </a:p>
        </p:txBody>
      </p:sp>
      <p:sp>
        <p:nvSpPr>
          <p:cNvPr id="50" name="">
            <a:extLst xmlns:a="http://schemas.openxmlformats.org/drawingml/2006/main">
              <a:ext uri="{FF2B5EF4-FFF2-40B4-BE49-F238E27FC236}">
                <a16:creationId xmlns:a16="http://schemas.microsoft.com/office/drawing/2014/main" id="{DC9076FF-14BF-4B7B-A638-71830BCAB248}"/>
              </a:ext>
            </a:extLst>
          </p:cNvPr>
          <p:cNvSpPr>
            <a:spLocks xmlns:a="http://schemas.openxmlformats.org/drawingml/2006/main" noGrp="1"/>
          </p:cNvSpPr>
          <p:nvPr/>
        </p:nvSpPr>
        <p:spPr>
          <a:xfrm xmlns:a="http://schemas.openxmlformats.org/drawingml/2006/main">
            <a:off x="6591300" y="3409950"/>
            <a:ext cx="1428750" cy="323850"/>
          </a:xfrm>
          <a:prstGeom xmlns:a="http://schemas.openxmlformats.org/drawingml/2006/main" prst="rect">
            <a:avLst/>
          </a:prstGeom>
          <a:solidFill xmlns:a="http://schemas.openxmlformats.org/drawingml/2006/main">
            <a:srgbClr val="FBF8F2"/>
          </a:solidFill>
          <a:ln xmlns:a="http://schemas.openxmlformats.org/drawingml/2006/main" w="9525">
            <a:solidFill>
              <a:srgbClr val="EEE4D3"/>
            </a:solidFill>
            <a:prstDash val="solid"/>
          </a:ln>
        </p:spPr>
      </p:sp>
      <p:sp>
        <p:nvSpPr>
          <p:cNvPr id="51" name="">
            <a:extLst xmlns:a="http://schemas.openxmlformats.org/drawingml/2006/main">
              <a:ext uri="{FF2B5EF4-FFF2-40B4-BE49-F238E27FC236}">
                <a16:creationId xmlns:a16="http://schemas.microsoft.com/office/drawing/2014/main" id="{EA32E1FB-6224-4034-B52B-CC04DB2F7DD7}"/>
              </a:ext>
            </a:extLst>
          </p:cNvPr>
          <p:cNvSpPr>
            <a:spLocks xmlns:a="http://schemas.openxmlformats.org/drawingml/2006/main" noGrp="1"/>
          </p:cNvSpPr>
          <p:nvPr/>
        </p:nvSpPr>
        <p:spPr>
          <a:xfrm xmlns:a="http://schemas.openxmlformats.org/drawingml/2006/main">
            <a:off x="6667500" y="3476625"/>
            <a:ext cx="1276350" cy="19050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lgn="ctr">
              <a:defRPr sz="900">
                <a:solidFill>
                  <a:srgbClr val="2F3136"/>
                </a:solidFill>
              </a:defRPr>
            </a:pPr>
            <a:r>
              <a:t>2017–2024</a:t>
            </a:r>
          </a:p>
        </p:txBody>
      </p:sp>
      <p:sp>
        <p:nvSpPr>
          <p:cNvPr id="52" name="">
            <a:extLst xmlns:a="http://schemas.openxmlformats.org/drawingml/2006/main">
              <a:ext uri="{FF2B5EF4-FFF2-40B4-BE49-F238E27FC236}">
                <a16:creationId xmlns:a16="http://schemas.microsoft.com/office/drawing/2014/main" id="{207B1195-146B-413A-AFCD-254737AF35FC}"/>
              </a:ext>
            </a:extLst>
          </p:cNvPr>
          <p:cNvSpPr>
            <a:spLocks xmlns:a="http://schemas.openxmlformats.org/drawingml/2006/main" noGrp="1"/>
          </p:cNvSpPr>
          <p:nvPr/>
        </p:nvSpPr>
        <p:spPr>
          <a:xfrm xmlns:a="http://schemas.openxmlformats.org/drawingml/2006/main">
            <a:off x="8020050" y="3409950"/>
            <a:ext cx="3143250" cy="323850"/>
          </a:xfrm>
          <a:prstGeom xmlns:a="http://schemas.openxmlformats.org/drawingml/2006/main" prst="rect">
            <a:avLst/>
          </a:prstGeom>
          <a:solidFill xmlns:a="http://schemas.openxmlformats.org/drawingml/2006/main">
            <a:srgbClr val="FBF8F2"/>
          </a:solidFill>
          <a:ln xmlns:a="http://schemas.openxmlformats.org/drawingml/2006/main" w="9525">
            <a:solidFill>
              <a:srgbClr val="EEE4D3"/>
            </a:solidFill>
            <a:prstDash val="solid"/>
          </a:ln>
        </p:spPr>
      </p:sp>
      <p:sp>
        <p:nvSpPr>
          <p:cNvPr id="53" name="">
            <a:extLst xmlns:a="http://schemas.openxmlformats.org/drawingml/2006/main">
              <a:ext uri="{FF2B5EF4-FFF2-40B4-BE49-F238E27FC236}">
                <a16:creationId xmlns:a16="http://schemas.microsoft.com/office/drawing/2014/main" id="{5F927F46-29DE-4A63-B504-506A99AEF60B}"/>
              </a:ext>
            </a:extLst>
          </p:cNvPr>
          <p:cNvSpPr>
            <a:spLocks xmlns:a="http://schemas.openxmlformats.org/drawingml/2006/main" noGrp="1"/>
          </p:cNvSpPr>
          <p:nvPr/>
        </p:nvSpPr>
        <p:spPr>
          <a:xfrm xmlns:a="http://schemas.openxmlformats.org/drawingml/2006/main">
            <a:off x="8096250" y="3476625"/>
            <a:ext cx="2990850" cy="19050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lgn="ctr">
              <a:defRPr sz="900">
                <a:solidFill>
                  <a:srgbClr val="2F3136"/>
                </a:solidFill>
              </a:defRPr>
            </a:pPr>
            <a:r>
              <a:t>Extension NLP exploratoire</a:t>
            </a:r>
          </a:p>
        </p:txBody>
      </p:sp>
      <p:sp>
        <p:nvSpPr>
          <p:cNvPr id="54" name="">
            <a:extLst xmlns:a="http://schemas.openxmlformats.org/drawingml/2006/main">
              <a:ext uri="{FF2B5EF4-FFF2-40B4-BE49-F238E27FC236}">
                <a16:creationId xmlns:a16="http://schemas.microsoft.com/office/drawing/2014/main" id="{D05E93BC-A942-4F32-9CBC-D1CE7E2730E9}"/>
              </a:ext>
            </a:extLst>
          </p:cNvPr>
          <p:cNvSpPr>
            <a:spLocks xmlns:a="http://schemas.openxmlformats.org/drawingml/2006/main" noGrp="1"/>
          </p:cNvSpPr>
          <p:nvPr/>
        </p:nvSpPr>
        <p:spPr>
          <a:xfrm xmlns:a="http://schemas.openxmlformats.org/drawingml/2006/main">
            <a:off x="876300" y="4095750"/>
            <a:ext cx="4953000" cy="1524000"/>
          </a:xfrm>
          <a:prstGeom xmlns:a="http://schemas.openxmlformats.org/drawingml/2006/main" prst="rect">
            <a:avLst/>
          </a:prstGeom>
          <a:solidFill xmlns:a="http://schemas.openxmlformats.org/drawingml/2006/main">
            <a:srgbClr val="FFFFFF"/>
          </a:solidFill>
          <a:ln xmlns:a="http://schemas.openxmlformats.org/drawingml/2006/main" w="9525">
            <a:solidFill>
              <a:srgbClr val="EEE4D3"/>
            </a:solidFill>
            <a:prstDash val="solid"/>
          </a:ln>
        </p:spPr>
      </p:sp>
      <p:sp>
        <p:nvSpPr>
          <p:cNvPr id="55" name="">
            <a:extLst xmlns:a="http://schemas.openxmlformats.org/drawingml/2006/main">
              <a:ext uri="{FF2B5EF4-FFF2-40B4-BE49-F238E27FC236}">
                <a16:creationId xmlns:a16="http://schemas.microsoft.com/office/drawing/2014/main" id="{6E4B1DBD-C6D8-4311-9D8F-480A02B21151}"/>
              </a:ext>
            </a:extLst>
          </p:cNvPr>
          <p:cNvSpPr>
            <a:spLocks xmlns:a="http://schemas.openxmlformats.org/drawingml/2006/main" noGrp="1"/>
          </p:cNvSpPr>
          <p:nvPr/>
        </p:nvSpPr>
        <p:spPr>
          <a:xfrm xmlns:a="http://schemas.openxmlformats.org/drawingml/2006/main">
            <a:off x="1123950" y="4324350"/>
            <a:ext cx="4381500" cy="22860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350" b="1">
                <a:solidFill>
                  <a:srgbClr val="223A5E"/>
                </a:solidFill>
              </a:defRPr>
            </a:pPr>
            <a:r>
              <a:t>Pourquoi le passage aux données réelles est crucial</a:t>
            </a:r>
          </a:p>
        </p:txBody>
      </p:sp>
      <p:sp>
        <p:nvSpPr>
          <p:cNvPr id="56" name="">
            <a:extLst xmlns:a="http://schemas.openxmlformats.org/drawingml/2006/main">
              <a:ext uri="{FF2B5EF4-FFF2-40B4-BE49-F238E27FC236}">
                <a16:creationId xmlns:a16="http://schemas.microsoft.com/office/drawing/2014/main" id="{87CBB792-7AA1-4F9C-B60D-C915067C4A4C}"/>
              </a:ext>
            </a:extLst>
          </p:cNvPr>
          <p:cNvSpPr>
            <a:spLocks xmlns:a="http://schemas.openxmlformats.org/drawingml/2006/main" noGrp="1"/>
          </p:cNvSpPr>
          <p:nvPr/>
        </p:nvSpPr>
        <p:spPr>
          <a:xfrm xmlns:a="http://schemas.openxmlformats.org/drawingml/2006/main">
            <a:off x="1123950" y="4686300"/>
            <a:ext cx="4286250" cy="72390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275">
                <a:solidFill>
                  <a:srgbClr val="2F3136"/>
                </a:solidFill>
              </a:defRPr>
            </a:pPr>
            <a:r>
              <a:t>• La crédibilité du projet dépend de la qualité de la vérité terrain. • Le V3 élimine la logique de données simulées dans le chemin principal.</a:t>
            </a:r>
          </a:p>
        </p:txBody>
      </p:sp>
      <p:sp>
        <p:nvSpPr>
          <p:cNvPr id="57" name="">
            <a:extLst xmlns:a="http://schemas.openxmlformats.org/drawingml/2006/main">
              <a:ext uri="{FF2B5EF4-FFF2-40B4-BE49-F238E27FC236}">
                <a16:creationId xmlns:a16="http://schemas.microsoft.com/office/drawing/2014/main" id="{AF695026-0673-4B10-B57E-8551F1829C8F}"/>
              </a:ext>
            </a:extLst>
          </p:cNvPr>
          <p:cNvSpPr>
            <a:spLocks xmlns:a="http://schemas.openxmlformats.org/drawingml/2006/main" noGrp="1"/>
          </p:cNvSpPr>
          <p:nvPr/>
        </p:nvSpPr>
        <p:spPr>
          <a:xfrm xmlns:a="http://schemas.openxmlformats.org/drawingml/2006/main">
            <a:off x="6076950" y="4095750"/>
            <a:ext cx="4953000" cy="1524000"/>
          </a:xfrm>
          <a:prstGeom xmlns:a="http://schemas.openxmlformats.org/drawingml/2006/main" prst="rect">
            <a:avLst/>
          </a:prstGeom>
          <a:solidFill xmlns:a="http://schemas.openxmlformats.org/drawingml/2006/main">
            <a:srgbClr val="FFFFFF"/>
          </a:solidFill>
          <a:ln xmlns:a="http://schemas.openxmlformats.org/drawingml/2006/main" w="9525">
            <a:solidFill>
              <a:srgbClr val="EEE4D3"/>
            </a:solidFill>
            <a:prstDash val="solid"/>
          </a:ln>
        </p:spPr>
      </p:sp>
      <p:sp>
        <p:nvSpPr>
          <p:cNvPr id="58" name="">
            <a:extLst xmlns:a="http://schemas.openxmlformats.org/drawingml/2006/main">
              <a:ext uri="{FF2B5EF4-FFF2-40B4-BE49-F238E27FC236}">
                <a16:creationId xmlns:a16="http://schemas.microsoft.com/office/drawing/2014/main" id="{62058C61-F818-4828-9CF6-97C99654DE69}"/>
              </a:ext>
            </a:extLst>
          </p:cNvPr>
          <p:cNvSpPr>
            <a:spLocks xmlns:a="http://schemas.openxmlformats.org/drawingml/2006/main" noGrp="1"/>
          </p:cNvSpPr>
          <p:nvPr/>
        </p:nvSpPr>
        <p:spPr>
          <a:xfrm xmlns:a="http://schemas.openxmlformats.org/drawingml/2006/main">
            <a:off x="6324600" y="4324350"/>
            <a:ext cx="4286250" cy="22860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350" b="1">
                <a:solidFill>
                  <a:srgbClr val="223A5E"/>
                </a:solidFill>
              </a:defRPr>
            </a:pPr>
            <a:r>
              <a:t>Ce que nous n’avons pas retenu</a:t>
            </a:r>
          </a:p>
        </p:txBody>
      </p:sp>
      <p:sp>
        <p:nvSpPr>
          <p:cNvPr id="59" name="">
            <a:extLst xmlns:a="http://schemas.openxmlformats.org/drawingml/2006/main">
              <a:ext uri="{FF2B5EF4-FFF2-40B4-BE49-F238E27FC236}">
                <a16:creationId xmlns:a16="http://schemas.microsoft.com/office/drawing/2014/main" id="{EDD55581-D35B-45A1-9A9E-BE83296FA5D3}"/>
              </a:ext>
            </a:extLst>
          </p:cNvPr>
          <p:cNvSpPr>
            <a:spLocks xmlns:a="http://schemas.openxmlformats.org/drawingml/2006/main" noGrp="1"/>
          </p:cNvSpPr>
          <p:nvPr/>
        </p:nvSpPr>
        <p:spPr>
          <a:xfrm xmlns:a="http://schemas.openxmlformats.org/drawingml/2006/main">
            <a:off x="6324600" y="4686300"/>
            <a:ext cx="4286250" cy="72390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275">
                <a:solidFill>
                  <a:srgbClr val="2F3136"/>
                </a:solidFill>
              </a:defRPr>
            </a:pPr>
            <a:r>
              <a:t>• Reddit et YouTube ne sont pas utilisés dans la preuve principale. • Ils ont été exclus car leur valeur empirique n’était pas assez propre.</a:t>
            </a:r>
          </a:p>
        </p:txBody>
      </p:sp>
      <p:sp>
        <p:nvSpPr>
          <p:cNvPr id="60" name="">
            <a:extLst xmlns:a="http://schemas.openxmlformats.org/drawingml/2006/main">
              <a:ext uri="{FF2B5EF4-FFF2-40B4-BE49-F238E27FC236}">
                <a16:creationId xmlns:a16="http://schemas.microsoft.com/office/drawing/2014/main" id="{BD9F2B1A-A50F-47D1-8D89-D2159B7B7F9F}"/>
              </a:ext>
            </a:extLst>
          </p:cNvPr>
          <p:cNvSpPr>
            <a:spLocks xmlns:a="http://schemas.openxmlformats.org/drawingml/2006/main" noGrp="1"/>
          </p:cNvSpPr>
          <p:nvPr/>
        </p:nvSpPr>
        <p:spPr>
          <a:xfrm xmlns:a="http://schemas.openxmlformats.org/drawingml/2006/main">
            <a:off x="685800" y="6477000"/>
            <a:ext cx="4762500" cy="1714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825">
                <a:solidFill>
                  <a:srgbClr val="6C6A66"/>
                </a:solidFill>
              </a:defRPr>
            </a:pPr>
            <a:r>
              <a:t>ENSAM Meknes • Données</a:t>
            </a:r>
          </a:p>
        </p:txBody>
      </p:sp>
      <p:sp>
        <p:nvSpPr>
          <p:cNvPr id="61" name="">
            <a:extLst xmlns:a="http://schemas.openxmlformats.org/drawingml/2006/main">
              <a:ext uri="{FF2B5EF4-FFF2-40B4-BE49-F238E27FC236}">
                <a16:creationId xmlns:a16="http://schemas.microsoft.com/office/drawing/2014/main" id="{895C4A52-CF1F-4EEE-9030-C7F171E28D1B}"/>
              </a:ext>
            </a:extLst>
          </p:cNvPr>
          <p:cNvSpPr>
            <a:spLocks xmlns:a="http://schemas.openxmlformats.org/drawingml/2006/main" noGrp="1"/>
          </p:cNvSpPr>
          <p:nvPr/>
        </p:nvSpPr>
        <p:spPr>
          <a:xfrm xmlns:a="http://schemas.openxmlformats.org/drawingml/2006/main">
            <a:off x="11049000" y="6477000"/>
            <a:ext cx="476250" cy="1714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lgn="r">
              <a:defRPr sz="825">
                <a:solidFill>
                  <a:srgbClr val="6C6A66"/>
                </a:solidFill>
              </a:defRPr>
            </a:pPr>
            <a:r>
              <a:t>7</a:t>
            </a:r>
          </a:p>
        </p:txBody>
      </p:sp>
    </p:spTree>
    <p:extLst>
      <p:ext uri="{BB962C8B-B14F-4D97-AF65-F5344CB8AC3E}">
        <p14:creationId xmlns:p14="http://schemas.microsoft.com/office/powerpoint/2010/main" val="864891238"/>
      </p:ext>
    </p:extLst>
  </p:cSld>
</p:sld>
</file>

<file path=ppt/slides/slide8.xml><?xml version="1.0" encoding="utf-8"?>
<p:sld xmlns:p="http://schemas.openxmlformats.org/presentationml/2006/main">
  <p:cSld>
    <p:bg>
      <p:bgPr>
        <a:solidFill xmlns:a="http://schemas.openxmlformats.org/drawingml/2006/main">
          <a:srgbClr val="F6F1E7"/>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584E0C6B-738E-4A7E-8750-DF7D08C8F52F}"/>
              </a:ext>
            </a:extLst>
          </p:cNvPr>
          <p:cNvSpPr>
            <a:spLocks xmlns:a="http://schemas.openxmlformats.org/drawingml/2006/main" noGrp="1"/>
          </p:cNvSpPr>
          <p:nvPr/>
        </p:nvSpPr>
        <p:spPr>
          <a:xfrm xmlns:a="http://schemas.openxmlformats.org/drawingml/2006/main">
            <a:off x="876300" y="704850"/>
            <a:ext cx="9334500" cy="5905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2400" b="1">
                <a:solidFill>
                  <a:srgbClr val="223A5E"/>
                </a:solidFill>
              </a:defRPr>
            </a:pPr>
            <a:r>
              <a:t>Gold dataset final</a:t>
            </a:r>
          </a:p>
        </p:txBody>
      </p:sp>
      <p:sp>
        <p:nvSpPr>
          <p:cNvPr id="2" name="">
            <a:extLst xmlns:a="http://schemas.openxmlformats.org/drawingml/2006/main">
              <a:ext uri="{FF2B5EF4-FFF2-40B4-BE49-F238E27FC236}">
                <a16:creationId xmlns:a16="http://schemas.microsoft.com/office/drawing/2014/main" id="{6744F8C8-F3A7-4F0A-8D9D-EBAC40CD8210}"/>
              </a:ext>
            </a:extLst>
          </p:cNvPr>
          <p:cNvSpPr>
            <a:spLocks xmlns:a="http://schemas.openxmlformats.org/drawingml/2006/main" noGrp="1"/>
          </p:cNvSpPr>
          <p:nvPr/>
        </p:nvSpPr>
        <p:spPr>
          <a:xfrm xmlns:a="http://schemas.openxmlformats.org/drawingml/2006/main">
            <a:off x="876300" y="1295400"/>
            <a:ext cx="9334500" cy="2857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200" b="1">
                <a:solidFill>
                  <a:srgbClr val="C86F4D"/>
                </a:solidFill>
              </a:defRPr>
            </a:pPr>
            <a:r>
              <a:t>Le socle de modélisation et de backtest</a:t>
            </a:r>
          </a:p>
        </p:txBody>
      </p:sp>
      <p:sp>
        <p:nvSpPr>
          <p:cNvPr id="3" name="">
            <a:extLst xmlns:a="http://schemas.openxmlformats.org/drawingml/2006/main">
              <a:ext uri="{FF2B5EF4-FFF2-40B4-BE49-F238E27FC236}">
                <a16:creationId xmlns:a16="http://schemas.microsoft.com/office/drawing/2014/main" id="{5E4F512C-CC0F-4AD3-A4C9-E76C0F2E8757}"/>
              </a:ext>
            </a:extLst>
          </p:cNvPr>
          <p:cNvSpPr>
            <a:spLocks xmlns:a="http://schemas.openxmlformats.org/drawingml/2006/main" noGrp="1"/>
          </p:cNvSpPr>
          <p:nvPr/>
        </p:nvSpPr>
        <p:spPr>
          <a:xfrm xmlns:a="http://schemas.openxmlformats.org/drawingml/2006/main">
            <a:off x="685800" y="6477000"/>
            <a:ext cx="4762500" cy="1714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825">
                <a:solidFill>
                  <a:srgbClr val="6C6A66"/>
                </a:solidFill>
              </a:defRPr>
            </a:pPr>
            <a:r>
              <a:t>ENSAM Meknes • BESI V3</a:t>
            </a:r>
          </a:p>
        </p:txBody>
      </p:sp>
      <p:sp>
        <p:nvSpPr>
          <p:cNvPr id="4" name="">
            <a:extLst xmlns:a="http://schemas.openxmlformats.org/drawingml/2006/main">
              <a:ext uri="{FF2B5EF4-FFF2-40B4-BE49-F238E27FC236}">
                <a16:creationId xmlns:a16="http://schemas.microsoft.com/office/drawing/2014/main" id="{55605F2B-DE16-4815-84C3-647B51EAA5B0}"/>
              </a:ext>
            </a:extLst>
          </p:cNvPr>
          <p:cNvSpPr>
            <a:spLocks xmlns:a="http://schemas.openxmlformats.org/drawingml/2006/main" noGrp="1"/>
          </p:cNvSpPr>
          <p:nvPr/>
        </p:nvSpPr>
        <p:spPr>
          <a:xfrm xmlns:a="http://schemas.openxmlformats.org/drawingml/2006/main">
            <a:off x="11049000" y="6477000"/>
            <a:ext cx="476250" cy="1714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lgn="r">
              <a:defRPr sz="825">
                <a:solidFill>
                  <a:srgbClr val="6C6A66"/>
                </a:solidFill>
              </a:defRPr>
            </a:pPr>
            <a:r>
              <a:t>8</a:t>
            </a:r>
          </a:p>
        </p:txBody>
      </p:sp>
      <p:sp>
        <p:nvSpPr>
          <p:cNvPr id="5" name="">
            <a:extLst xmlns:a="http://schemas.openxmlformats.org/drawingml/2006/main">
              <a:ext uri="{FF2B5EF4-FFF2-40B4-BE49-F238E27FC236}">
                <a16:creationId xmlns:a16="http://schemas.microsoft.com/office/drawing/2014/main" id="{4280DCE5-828A-4992-898E-A3F15EF4E245}"/>
              </a:ext>
            </a:extLst>
          </p:cNvPr>
          <p:cNvSpPr>
            <a:spLocks xmlns:a="http://schemas.openxmlformats.org/drawingml/2006/main" noGrp="1"/>
          </p:cNvSpPr>
          <p:nvPr/>
        </p:nvSpPr>
        <p:spPr>
          <a:xfrm xmlns:a="http://schemas.openxmlformats.org/drawingml/2006/main">
            <a:off x="876300" y="1790700"/>
            <a:ext cx="2381250" cy="1181100"/>
          </a:xfrm>
          <a:prstGeom xmlns:a="http://schemas.openxmlformats.org/drawingml/2006/main" prst="rect">
            <a:avLst/>
          </a:prstGeom>
          <a:solidFill xmlns:a="http://schemas.openxmlformats.org/drawingml/2006/main">
            <a:srgbClr val="FFFFFF"/>
          </a:solidFill>
          <a:ln xmlns:a="http://schemas.openxmlformats.org/drawingml/2006/main" w="9525">
            <a:solidFill>
              <a:srgbClr val="EEE4D3"/>
            </a:solidFill>
            <a:prstDash val="solid"/>
          </a:ln>
        </p:spPr>
      </p:sp>
      <p:sp>
        <p:nvSpPr>
          <p:cNvPr id="6" name="">
            <a:extLst xmlns:a="http://schemas.openxmlformats.org/drawingml/2006/main">
              <a:ext uri="{FF2B5EF4-FFF2-40B4-BE49-F238E27FC236}">
                <a16:creationId xmlns:a16="http://schemas.microsoft.com/office/drawing/2014/main" id="{1F6BD489-A155-444E-A7DC-40F13CC8F865}"/>
              </a:ext>
            </a:extLst>
          </p:cNvPr>
          <p:cNvSpPr>
            <a:spLocks xmlns:a="http://schemas.openxmlformats.org/drawingml/2006/main" noGrp="1"/>
          </p:cNvSpPr>
          <p:nvPr/>
        </p:nvSpPr>
        <p:spPr>
          <a:xfrm xmlns:a="http://schemas.openxmlformats.org/drawingml/2006/main">
            <a:off x="876300" y="1790700"/>
            <a:ext cx="76200" cy="1181100"/>
          </a:xfrm>
          <a:prstGeom xmlns:a="http://schemas.openxmlformats.org/drawingml/2006/main" prst="rect">
            <a:avLst/>
          </a:prstGeom>
          <a:solidFill xmlns:a="http://schemas.openxmlformats.org/drawingml/2006/main">
            <a:srgbClr val="223A5E"/>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5A2E5992-FE65-4B03-8456-59104F9695EB}"/>
              </a:ext>
            </a:extLst>
          </p:cNvPr>
          <p:cNvSpPr>
            <a:spLocks xmlns:a="http://schemas.openxmlformats.org/drawingml/2006/main" noGrp="1"/>
          </p:cNvSpPr>
          <p:nvPr/>
        </p:nvSpPr>
        <p:spPr>
          <a:xfrm xmlns:a="http://schemas.openxmlformats.org/drawingml/2006/main">
            <a:off x="1104900" y="1962150"/>
            <a:ext cx="2000250" cy="19050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975" b="1">
                <a:solidFill>
                  <a:srgbClr val="6C6A66"/>
                </a:solidFill>
              </a:defRPr>
            </a:pPr>
            <a:r>
              <a:t>Taille</a:t>
            </a:r>
          </a:p>
        </p:txBody>
      </p:sp>
      <p:sp>
        <p:nvSpPr>
          <p:cNvPr id="8" name="">
            <a:extLst xmlns:a="http://schemas.openxmlformats.org/drawingml/2006/main">
              <a:ext uri="{FF2B5EF4-FFF2-40B4-BE49-F238E27FC236}">
                <a16:creationId xmlns:a16="http://schemas.microsoft.com/office/drawing/2014/main" id="{7E8A3106-552F-4304-B904-C515FFEF7E05}"/>
              </a:ext>
            </a:extLst>
          </p:cNvPr>
          <p:cNvSpPr>
            <a:spLocks xmlns:a="http://schemas.openxmlformats.org/drawingml/2006/main" noGrp="1"/>
          </p:cNvSpPr>
          <p:nvPr/>
        </p:nvSpPr>
        <p:spPr>
          <a:xfrm xmlns:a="http://schemas.openxmlformats.org/drawingml/2006/main">
            <a:off x="1104900" y="2190750"/>
            <a:ext cx="2000250" cy="38100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2100" b="1">
                <a:solidFill>
                  <a:srgbClr val="223A5E"/>
                </a:solidFill>
              </a:defRPr>
            </a:pPr>
            <a:r>
              <a:t>96 mois</a:t>
            </a:r>
          </a:p>
        </p:txBody>
      </p:sp>
      <p:sp>
        <p:nvSpPr>
          <p:cNvPr id="9" name="">
            <a:extLst xmlns:a="http://schemas.openxmlformats.org/drawingml/2006/main">
              <a:ext uri="{FF2B5EF4-FFF2-40B4-BE49-F238E27FC236}">
                <a16:creationId xmlns:a16="http://schemas.microsoft.com/office/drawing/2014/main" id="{EAB327A2-A466-4AEB-9507-70565825388B}"/>
              </a:ext>
            </a:extLst>
          </p:cNvPr>
          <p:cNvSpPr>
            <a:spLocks xmlns:a="http://schemas.openxmlformats.org/drawingml/2006/main" noGrp="1"/>
          </p:cNvSpPr>
          <p:nvPr/>
        </p:nvSpPr>
        <p:spPr>
          <a:xfrm xmlns:a="http://schemas.openxmlformats.org/drawingml/2006/main">
            <a:off x="1104900" y="2628900"/>
            <a:ext cx="2000250" cy="3238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900">
                <a:solidFill>
                  <a:srgbClr val="2F3136"/>
                </a:solidFill>
              </a:defRPr>
            </a:pPr>
            <a:r>
              <a:t>2017-01 à 2024-12</a:t>
            </a:r>
          </a:p>
        </p:txBody>
      </p:sp>
      <p:sp>
        <p:nvSpPr>
          <p:cNvPr id="10" name="">
            <a:extLst xmlns:a="http://schemas.openxmlformats.org/drawingml/2006/main">
              <a:ext uri="{FF2B5EF4-FFF2-40B4-BE49-F238E27FC236}">
                <a16:creationId xmlns:a16="http://schemas.microsoft.com/office/drawing/2014/main" id="{C5B7BABD-48C9-451A-9FA9-02651315B2E6}"/>
              </a:ext>
            </a:extLst>
          </p:cNvPr>
          <p:cNvSpPr>
            <a:spLocks xmlns:a="http://schemas.openxmlformats.org/drawingml/2006/main" noGrp="1"/>
          </p:cNvSpPr>
          <p:nvPr/>
        </p:nvSpPr>
        <p:spPr>
          <a:xfrm xmlns:a="http://schemas.openxmlformats.org/drawingml/2006/main">
            <a:off x="3467100" y="1790700"/>
            <a:ext cx="2381250" cy="1181100"/>
          </a:xfrm>
          <a:prstGeom xmlns:a="http://schemas.openxmlformats.org/drawingml/2006/main" prst="rect">
            <a:avLst/>
          </a:prstGeom>
          <a:solidFill xmlns:a="http://schemas.openxmlformats.org/drawingml/2006/main">
            <a:srgbClr val="FFFFFF"/>
          </a:solidFill>
          <a:ln xmlns:a="http://schemas.openxmlformats.org/drawingml/2006/main" w="9525">
            <a:solidFill>
              <a:srgbClr val="EEE4D3"/>
            </a:solidFill>
            <a:prstDash val="solid"/>
          </a:ln>
        </p:spPr>
      </p:sp>
      <p:sp>
        <p:nvSpPr>
          <p:cNvPr id="11" name="">
            <a:extLst xmlns:a="http://schemas.openxmlformats.org/drawingml/2006/main">
              <a:ext uri="{FF2B5EF4-FFF2-40B4-BE49-F238E27FC236}">
                <a16:creationId xmlns:a16="http://schemas.microsoft.com/office/drawing/2014/main" id="{F801641E-4975-45CC-A9CE-1B1DE7DD85AE}"/>
              </a:ext>
            </a:extLst>
          </p:cNvPr>
          <p:cNvSpPr>
            <a:spLocks xmlns:a="http://schemas.openxmlformats.org/drawingml/2006/main" noGrp="1"/>
          </p:cNvSpPr>
          <p:nvPr/>
        </p:nvSpPr>
        <p:spPr>
          <a:xfrm xmlns:a="http://schemas.openxmlformats.org/drawingml/2006/main">
            <a:off x="3467100" y="1790700"/>
            <a:ext cx="76200" cy="1181100"/>
          </a:xfrm>
          <a:prstGeom xmlns:a="http://schemas.openxmlformats.org/drawingml/2006/main" prst="rect">
            <a:avLst/>
          </a:prstGeom>
          <a:solidFill xmlns:a="http://schemas.openxmlformats.org/drawingml/2006/main">
            <a:srgbClr val="C86F4D"/>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92C6B701-9C1F-4C90-8DF7-6AE59712F49A}"/>
              </a:ext>
            </a:extLst>
          </p:cNvPr>
          <p:cNvSpPr>
            <a:spLocks xmlns:a="http://schemas.openxmlformats.org/drawingml/2006/main" noGrp="1"/>
          </p:cNvSpPr>
          <p:nvPr/>
        </p:nvSpPr>
        <p:spPr>
          <a:xfrm xmlns:a="http://schemas.openxmlformats.org/drawingml/2006/main">
            <a:off x="3695700" y="1962150"/>
            <a:ext cx="2000250" cy="19050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975" b="1">
                <a:solidFill>
                  <a:srgbClr val="6C6A66"/>
                </a:solidFill>
              </a:defRPr>
            </a:pPr>
            <a:r>
              <a:t>Fréquence</a:t>
            </a:r>
          </a:p>
        </p:txBody>
      </p:sp>
      <p:sp>
        <p:nvSpPr>
          <p:cNvPr id="13" name="">
            <a:extLst xmlns:a="http://schemas.openxmlformats.org/drawingml/2006/main">
              <a:ext uri="{FF2B5EF4-FFF2-40B4-BE49-F238E27FC236}">
                <a16:creationId xmlns:a16="http://schemas.microsoft.com/office/drawing/2014/main" id="{E4AF4A06-A4C6-476B-BE9B-6B78F4B85DA1}"/>
              </a:ext>
            </a:extLst>
          </p:cNvPr>
          <p:cNvSpPr>
            <a:spLocks xmlns:a="http://schemas.openxmlformats.org/drawingml/2006/main" noGrp="1"/>
          </p:cNvSpPr>
          <p:nvPr/>
        </p:nvSpPr>
        <p:spPr>
          <a:xfrm xmlns:a="http://schemas.openxmlformats.org/drawingml/2006/main">
            <a:off x="3695700" y="2190750"/>
            <a:ext cx="2000250" cy="38100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2100" b="1">
                <a:solidFill>
                  <a:srgbClr val="C86F4D"/>
                </a:solidFill>
              </a:defRPr>
            </a:pPr>
            <a:r>
              <a:t>Mensuelle</a:t>
            </a:r>
          </a:p>
        </p:txBody>
      </p:sp>
      <p:sp>
        <p:nvSpPr>
          <p:cNvPr id="14" name="">
            <a:extLst xmlns:a="http://schemas.openxmlformats.org/drawingml/2006/main">
              <a:ext uri="{FF2B5EF4-FFF2-40B4-BE49-F238E27FC236}">
                <a16:creationId xmlns:a16="http://schemas.microsoft.com/office/drawing/2014/main" id="{1043A8F0-55C7-4E08-9F47-589C8DE865A5}"/>
              </a:ext>
            </a:extLst>
          </p:cNvPr>
          <p:cNvSpPr>
            <a:spLocks xmlns:a="http://schemas.openxmlformats.org/drawingml/2006/main" noGrp="1"/>
          </p:cNvSpPr>
          <p:nvPr/>
        </p:nvSpPr>
        <p:spPr>
          <a:xfrm xmlns:a="http://schemas.openxmlformats.org/drawingml/2006/main">
            <a:off x="3695700" y="2628900"/>
            <a:ext cx="2000250" cy="3238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900">
                <a:solidFill>
                  <a:srgbClr val="2F3136"/>
                </a:solidFill>
              </a:defRPr>
            </a:pPr>
            <a:r>
              <a:t>Alignement strict en MS</a:t>
            </a:r>
          </a:p>
        </p:txBody>
      </p:sp>
      <p:sp>
        <p:nvSpPr>
          <p:cNvPr id="15" name="">
            <a:extLst xmlns:a="http://schemas.openxmlformats.org/drawingml/2006/main">
              <a:ext uri="{FF2B5EF4-FFF2-40B4-BE49-F238E27FC236}">
                <a16:creationId xmlns:a16="http://schemas.microsoft.com/office/drawing/2014/main" id="{79A59780-4589-4D81-B127-5C65857E2456}"/>
              </a:ext>
            </a:extLst>
          </p:cNvPr>
          <p:cNvSpPr>
            <a:spLocks xmlns:a="http://schemas.openxmlformats.org/drawingml/2006/main" noGrp="1"/>
          </p:cNvSpPr>
          <p:nvPr/>
        </p:nvSpPr>
        <p:spPr>
          <a:xfrm xmlns:a="http://schemas.openxmlformats.org/drawingml/2006/main">
            <a:off x="6057900" y="1790700"/>
            <a:ext cx="2381250" cy="1181100"/>
          </a:xfrm>
          <a:prstGeom xmlns:a="http://schemas.openxmlformats.org/drawingml/2006/main" prst="rect">
            <a:avLst/>
          </a:prstGeom>
          <a:solidFill xmlns:a="http://schemas.openxmlformats.org/drawingml/2006/main">
            <a:srgbClr val="FFFFFF"/>
          </a:solidFill>
          <a:ln xmlns:a="http://schemas.openxmlformats.org/drawingml/2006/main" w="9525">
            <a:solidFill>
              <a:srgbClr val="EEE4D3"/>
            </a:solidFill>
            <a:prstDash val="solid"/>
          </a:ln>
        </p:spPr>
      </p:sp>
      <p:sp>
        <p:nvSpPr>
          <p:cNvPr id="16" name="">
            <a:extLst xmlns:a="http://schemas.openxmlformats.org/drawingml/2006/main">
              <a:ext uri="{FF2B5EF4-FFF2-40B4-BE49-F238E27FC236}">
                <a16:creationId xmlns:a16="http://schemas.microsoft.com/office/drawing/2014/main" id="{D38C181F-8E88-4F3C-87D5-0FBE8BF9338F}"/>
              </a:ext>
            </a:extLst>
          </p:cNvPr>
          <p:cNvSpPr>
            <a:spLocks xmlns:a="http://schemas.openxmlformats.org/drawingml/2006/main" noGrp="1"/>
          </p:cNvSpPr>
          <p:nvPr/>
        </p:nvSpPr>
        <p:spPr>
          <a:xfrm xmlns:a="http://schemas.openxmlformats.org/drawingml/2006/main">
            <a:off x="6057900" y="1790700"/>
            <a:ext cx="76200" cy="1181100"/>
          </a:xfrm>
          <a:prstGeom xmlns:a="http://schemas.openxmlformats.org/drawingml/2006/main" prst="rect">
            <a:avLst/>
          </a:prstGeom>
          <a:solidFill xmlns:a="http://schemas.openxmlformats.org/drawingml/2006/main">
            <a:srgbClr val="5E7E6A"/>
          </a:solidFill>
          <a:ln xmlns:a="http://schemas.openxmlformats.org/drawingml/2006/main" w="0">
            <a:noFill/>
            <a:prstDash val="solid"/>
          </a:ln>
        </p:spPr>
      </p:sp>
      <p:sp>
        <p:nvSpPr>
          <p:cNvPr id="17" name="">
            <a:extLst xmlns:a="http://schemas.openxmlformats.org/drawingml/2006/main">
              <a:ext uri="{FF2B5EF4-FFF2-40B4-BE49-F238E27FC236}">
                <a16:creationId xmlns:a16="http://schemas.microsoft.com/office/drawing/2014/main" id="{EEB39FC7-EF73-4D55-847B-FB96D5D50E3B}"/>
              </a:ext>
            </a:extLst>
          </p:cNvPr>
          <p:cNvSpPr>
            <a:spLocks xmlns:a="http://schemas.openxmlformats.org/drawingml/2006/main" noGrp="1"/>
          </p:cNvSpPr>
          <p:nvPr/>
        </p:nvSpPr>
        <p:spPr>
          <a:xfrm xmlns:a="http://schemas.openxmlformats.org/drawingml/2006/main">
            <a:off x="6286500" y="1962150"/>
            <a:ext cx="2000250" cy="19050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975" b="1">
                <a:solidFill>
                  <a:srgbClr val="6C6A66"/>
                </a:solidFill>
              </a:defRPr>
            </a:pPr>
            <a:r>
              <a:t>Colonnes</a:t>
            </a:r>
          </a:p>
        </p:txBody>
      </p:sp>
      <p:sp>
        <p:nvSpPr>
          <p:cNvPr id="18" name="">
            <a:extLst xmlns:a="http://schemas.openxmlformats.org/drawingml/2006/main">
              <a:ext uri="{FF2B5EF4-FFF2-40B4-BE49-F238E27FC236}">
                <a16:creationId xmlns:a16="http://schemas.microsoft.com/office/drawing/2014/main" id="{FFF09CC4-1545-4887-8848-A318559C9597}"/>
              </a:ext>
            </a:extLst>
          </p:cNvPr>
          <p:cNvSpPr>
            <a:spLocks xmlns:a="http://schemas.openxmlformats.org/drawingml/2006/main" noGrp="1"/>
          </p:cNvSpPr>
          <p:nvPr/>
        </p:nvSpPr>
        <p:spPr>
          <a:xfrm xmlns:a="http://schemas.openxmlformats.org/drawingml/2006/main">
            <a:off x="6286500" y="2190750"/>
            <a:ext cx="2000250" cy="38100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2100" b="1">
                <a:solidFill>
                  <a:srgbClr val="5E7E6A"/>
                </a:solidFill>
              </a:defRPr>
            </a:pPr>
            <a:r>
              <a:t>45</a:t>
            </a:r>
          </a:p>
        </p:txBody>
      </p:sp>
      <p:sp>
        <p:nvSpPr>
          <p:cNvPr id="19" name="">
            <a:extLst xmlns:a="http://schemas.openxmlformats.org/drawingml/2006/main">
              <a:ext uri="{FF2B5EF4-FFF2-40B4-BE49-F238E27FC236}">
                <a16:creationId xmlns:a16="http://schemas.microsoft.com/office/drawing/2014/main" id="{0ADADD44-EE88-499D-888F-246BCBE9A43A}"/>
              </a:ext>
            </a:extLst>
          </p:cNvPr>
          <p:cNvSpPr>
            <a:spLocks xmlns:a="http://schemas.openxmlformats.org/drawingml/2006/main" noGrp="1"/>
          </p:cNvSpPr>
          <p:nvPr/>
        </p:nvSpPr>
        <p:spPr>
          <a:xfrm xmlns:a="http://schemas.openxmlformats.org/drawingml/2006/main">
            <a:off x="6286500" y="2628900"/>
            <a:ext cx="2000250" cy="3238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900">
                <a:solidFill>
                  <a:srgbClr val="2F3136"/>
                </a:solidFill>
              </a:defRPr>
            </a:pPr>
            <a:r>
              <a:t>features, lags, targets, métadonnées</a:t>
            </a:r>
          </a:p>
        </p:txBody>
      </p:sp>
      <p:sp>
        <p:nvSpPr>
          <p:cNvPr id="20" name="">
            <a:extLst xmlns:a="http://schemas.openxmlformats.org/drawingml/2006/main">
              <a:ext uri="{FF2B5EF4-FFF2-40B4-BE49-F238E27FC236}">
                <a16:creationId xmlns:a16="http://schemas.microsoft.com/office/drawing/2014/main" id="{9908F46F-7A65-49F9-A303-12E02C3B7582}"/>
              </a:ext>
            </a:extLst>
          </p:cNvPr>
          <p:cNvSpPr>
            <a:spLocks xmlns:a="http://schemas.openxmlformats.org/drawingml/2006/main" noGrp="1"/>
          </p:cNvSpPr>
          <p:nvPr/>
        </p:nvSpPr>
        <p:spPr>
          <a:xfrm xmlns:a="http://schemas.openxmlformats.org/drawingml/2006/main">
            <a:off x="8648700" y="1790700"/>
            <a:ext cx="2381250" cy="1181100"/>
          </a:xfrm>
          <a:prstGeom xmlns:a="http://schemas.openxmlformats.org/drawingml/2006/main" prst="rect">
            <a:avLst/>
          </a:prstGeom>
          <a:solidFill xmlns:a="http://schemas.openxmlformats.org/drawingml/2006/main">
            <a:srgbClr val="FFFFFF"/>
          </a:solidFill>
          <a:ln xmlns:a="http://schemas.openxmlformats.org/drawingml/2006/main" w="9525">
            <a:solidFill>
              <a:srgbClr val="EEE4D3"/>
            </a:solidFill>
            <a:prstDash val="solid"/>
          </a:ln>
        </p:spPr>
      </p:sp>
      <p:sp>
        <p:nvSpPr>
          <p:cNvPr id="21" name="">
            <a:extLst xmlns:a="http://schemas.openxmlformats.org/drawingml/2006/main">
              <a:ext uri="{FF2B5EF4-FFF2-40B4-BE49-F238E27FC236}">
                <a16:creationId xmlns:a16="http://schemas.microsoft.com/office/drawing/2014/main" id="{E1F0C04F-B2BD-4C7C-AA43-B2FAE45D29DD}"/>
              </a:ext>
            </a:extLst>
          </p:cNvPr>
          <p:cNvSpPr>
            <a:spLocks xmlns:a="http://schemas.openxmlformats.org/drawingml/2006/main" noGrp="1"/>
          </p:cNvSpPr>
          <p:nvPr/>
        </p:nvSpPr>
        <p:spPr>
          <a:xfrm xmlns:a="http://schemas.openxmlformats.org/drawingml/2006/main">
            <a:off x="8648700" y="1790700"/>
            <a:ext cx="76200" cy="1181100"/>
          </a:xfrm>
          <a:prstGeom xmlns:a="http://schemas.openxmlformats.org/drawingml/2006/main" prst="rect">
            <a:avLst/>
          </a:prstGeom>
          <a:solidFill xmlns:a="http://schemas.openxmlformats.org/drawingml/2006/main">
            <a:srgbClr val="A14B4B"/>
          </a:solidFill>
          <a:ln xmlns:a="http://schemas.openxmlformats.org/drawingml/2006/main" w="0">
            <a:noFill/>
            <a:prstDash val="solid"/>
          </a:ln>
        </p:spPr>
      </p:sp>
      <p:sp>
        <p:nvSpPr>
          <p:cNvPr id="22" name="">
            <a:extLst xmlns:a="http://schemas.openxmlformats.org/drawingml/2006/main">
              <a:ext uri="{FF2B5EF4-FFF2-40B4-BE49-F238E27FC236}">
                <a16:creationId xmlns:a16="http://schemas.microsoft.com/office/drawing/2014/main" id="{38108D50-9F8E-4096-B550-E4BFC507FD99}"/>
              </a:ext>
            </a:extLst>
          </p:cNvPr>
          <p:cNvSpPr>
            <a:spLocks xmlns:a="http://schemas.openxmlformats.org/drawingml/2006/main" noGrp="1"/>
          </p:cNvSpPr>
          <p:nvPr/>
        </p:nvSpPr>
        <p:spPr>
          <a:xfrm xmlns:a="http://schemas.openxmlformats.org/drawingml/2006/main">
            <a:off x="8877300" y="1962150"/>
            <a:ext cx="2000250" cy="19050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975" b="1">
                <a:solidFill>
                  <a:srgbClr val="6C6A66"/>
                </a:solidFill>
              </a:defRPr>
            </a:pPr>
            <a:r>
              <a:t>Principe</a:t>
            </a:r>
          </a:p>
        </p:txBody>
      </p:sp>
      <p:sp>
        <p:nvSpPr>
          <p:cNvPr id="23" name="">
            <a:extLst xmlns:a="http://schemas.openxmlformats.org/drawingml/2006/main">
              <a:ext uri="{FF2B5EF4-FFF2-40B4-BE49-F238E27FC236}">
                <a16:creationId xmlns:a16="http://schemas.microsoft.com/office/drawing/2014/main" id="{5272B31B-F667-452E-A1E7-8FE5135C6D6D}"/>
              </a:ext>
            </a:extLst>
          </p:cNvPr>
          <p:cNvSpPr>
            <a:spLocks xmlns:a="http://schemas.openxmlformats.org/drawingml/2006/main" noGrp="1"/>
          </p:cNvSpPr>
          <p:nvPr/>
        </p:nvSpPr>
        <p:spPr>
          <a:xfrm xmlns:a="http://schemas.openxmlformats.org/drawingml/2006/main">
            <a:off x="8877300" y="2190750"/>
            <a:ext cx="2000250" cy="38100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2100" b="1">
                <a:solidFill>
                  <a:srgbClr val="A14B4B"/>
                </a:solidFill>
              </a:defRPr>
            </a:pPr>
            <a:r>
              <a:t>t+1</a:t>
            </a:r>
          </a:p>
        </p:txBody>
      </p:sp>
      <p:sp>
        <p:nvSpPr>
          <p:cNvPr id="24" name="">
            <a:extLst xmlns:a="http://schemas.openxmlformats.org/drawingml/2006/main">
              <a:ext uri="{FF2B5EF4-FFF2-40B4-BE49-F238E27FC236}">
                <a16:creationId xmlns:a16="http://schemas.microsoft.com/office/drawing/2014/main" id="{816AB007-98C6-4D2D-8B95-7E8D909FC45B}"/>
              </a:ext>
            </a:extLst>
          </p:cNvPr>
          <p:cNvSpPr>
            <a:spLocks xmlns:a="http://schemas.openxmlformats.org/drawingml/2006/main" noGrp="1"/>
          </p:cNvSpPr>
          <p:nvPr/>
        </p:nvSpPr>
        <p:spPr>
          <a:xfrm xmlns:a="http://schemas.openxmlformats.org/drawingml/2006/main">
            <a:off x="8877300" y="2628900"/>
            <a:ext cx="2000250" cy="3238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900">
                <a:solidFill>
                  <a:srgbClr val="2F3136"/>
                </a:solidFill>
              </a:defRPr>
            </a:pPr>
            <a:r>
              <a:t>cibles du mois suivant</a:t>
            </a:r>
          </a:p>
        </p:txBody>
      </p:sp>
      <p:sp>
        <p:nvSpPr>
          <p:cNvPr id="25" name="">
            <a:extLst xmlns:a="http://schemas.openxmlformats.org/drawingml/2006/main">
              <a:ext uri="{FF2B5EF4-FFF2-40B4-BE49-F238E27FC236}">
                <a16:creationId xmlns:a16="http://schemas.microsoft.com/office/drawing/2014/main" id="{92F72E7C-F3DF-4C50-A9A9-A649396B2B44}"/>
              </a:ext>
            </a:extLst>
          </p:cNvPr>
          <p:cNvSpPr>
            <a:spLocks xmlns:a="http://schemas.openxmlformats.org/drawingml/2006/main" noGrp="1"/>
          </p:cNvSpPr>
          <p:nvPr/>
        </p:nvSpPr>
        <p:spPr>
          <a:xfrm xmlns:a="http://schemas.openxmlformats.org/drawingml/2006/main">
            <a:off x="876300" y="3238500"/>
            <a:ext cx="4876800" cy="2457450"/>
          </a:xfrm>
          <a:prstGeom xmlns:a="http://schemas.openxmlformats.org/drawingml/2006/main" prst="rect">
            <a:avLst/>
          </a:prstGeom>
          <a:solidFill xmlns:a="http://schemas.openxmlformats.org/drawingml/2006/main">
            <a:srgbClr val="FFFFFF"/>
          </a:solidFill>
          <a:ln xmlns:a="http://schemas.openxmlformats.org/drawingml/2006/main" w="9525">
            <a:solidFill>
              <a:srgbClr val="EEE4D3"/>
            </a:solidFill>
            <a:prstDash val="solid"/>
          </a:ln>
        </p:spPr>
      </p:sp>
      <p:sp>
        <p:nvSpPr>
          <p:cNvPr id="26" name="">
            <a:extLst xmlns:a="http://schemas.openxmlformats.org/drawingml/2006/main">
              <a:ext uri="{FF2B5EF4-FFF2-40B4-BE49-F238E27FC236}">
                <a16:creationId xmlns:a16="http://schemas.microsoft.com/office/drawing/2014/main" id="{FDCC22CA-977C-4D25-849A-A68F8B5D357B}"/>
              </a:ext>
            </a:extLst>
          </p:cNvPr>
          <p:cNvSpPr>
            <a:spLocks xmlns:a="http://schemas.openxmlformats.org/drawingml/2006/main" noGrp="1"/>
          </p:cNvSpPr>
          <p:nvPr/>
        </p:nvSpPr>
        <p:spPr>
          <a:xfrm xmlns:a="http://schemas.openxmlformats.org/drawingml/2006/main">
            <a:off x="1123950" y="3467100"/>
            <a:ext cx="4000500" cy="2476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350" b="1">
                <a:solidFill>
                  <a:srgbClr val="223A5E"/>
                </a:solidFill>
              </a:defRPr>
            </a:pPr>
            <a:r>
              <a:t>Familles de variables</a:t>
            </a:r>
          </a:p>
        </p:txBody>
      </p:sp>
      <p:sp>
        <p:nvSpPr>
          <p:cNvPr id="27" name="">
            <a:extLst xmlns:a="http://schemas.openxmlformats.org/drawingml/2006/main">
              <a:ext uri="{FF2B5EF4-FFF2-40B4-BE49-F238E27FC236}">
                <a16:creationId xmlns:a16="http://schemas.microsoft.com/office/drawing/2014/main" id="{07249260-F69F-4D05-AC8D-C328C5D71BA0}"/>
              </a:ext>
            </a:extLst>
          </p:cNvPr>
          <p:cNvSpPr>
            <a:spLocks xmlns:a="http://schemas.openxmlformats.org/drawingml/2006/main" noGrp="1"/>
          </p:cNvSpPr>
          <p:nvPr/>
        </p:nvSpPr>
        <p:spPr>
          <a:xfrm xmlns:a="http://schemas.openxmlformats.org/drawingml/2006/main">
            <a:off x="1123950" y="3848100"/>
            <a:ext cx="4191000" cy="16192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275">
                <a:solidFill>
                  <a:srgbClr val="2F3136"/>
                </a:solidFill>
              </a:defRPr>
            </a:pPr>
            <a:r>
              <a:t>• IPC courant comme vérité terrain analytique • Lags explicites de l’IPC et de l’inflation • Sous-indices Google Trends • Signaux macro FAO et FX • Indices BESI pure et hybrid • Targets t+1 pour régression et classification</a:t>
            </a:r>
          </a:p>
        </p:txBody>
      </p:sp>
      <p:sp>
        <p:nvSpPr>
          <p:cNvPr id="28" name="">
            <a:extLst xmlns:a="http://schemas.openxmlformats.org/drawingml/2006/main">
              <a:ext uri="{FF2B5EF4-FFF2-40B4-BE49-F238E27FC236}">
                <a16:creationId xmlns:a16="http://schemas.microsoft.com/office/drawing/2014/main" id="{74BD911C-93AB-48AE-866A-8FBC895819B9}"/>
              </a:ext>
            </a:extLst>
          </p:cNvPr>
          <p:cNvSpPr>
            <a:spLocks xmlns:a="http://schemas.openxmlformats.org/drawingml/2006/main" noGrp="1"/>
          </p:cNvSpPr>
          <p:nvPr/>
        </p:nvSpPr>
        <p:spPr>
          <a:xfrm xmlns:a="http://schemas.openxmlformats.org/drawingml/2006/main">
            <a:off x="5981700" y="3238500"/>
            <a:ext cx="5048250" cy="2457450"/>
          </a:xfrm>
          <a:prstGeom xmlns:a="http://schemas.openxmlformats.org/drawingml/2006/main" prst="rect">
            <a:avLst/>
          </a:prstGeom>
          <a:solidFill xmlns:a="http://schemas.openxmlformats.org/drawingml/2006/main">
            <a:srgbClr val="FFFFFF"/>
          </a:solidFill>
          <a:ln xmlns:a="http://schemas.openxmlformats.org/drawingml/2006/main" w="9525">
            <a:solidFill>
              <a:srgbClr val="EEE4D3"/>
            </a:solidFill>
            <a:prstDash val="solid"/>
          </a:ln>
        </p:spPr>
      </p:sp>
      <p:sp>
        <p:nvSpPr>
          <p:cNvPr id="29" name="">
            <a:extLst xmlns:a="http://schemas.openxmlformats.org/drawingml/2006/main">
              <a:ext uri="{FF2B5EF4-FFF2-40B4-BE49-F238E27FC236}">
                <a16:creationId xmlns:a16="http://schemas.microsoft.com/office/drawing/2014/main" id="{74A0D663-1FEA-4A15-A043-DE44D7B2C593}"/>
              </a:ext>
            </a:extLst>
          </p:cNvPr>
          <p:cNvSpPr>
            <a:spLocks xmlns:a="http://schemas.openxmlformats.org/drawingml/2006/main" noGrp="1"/>
          </p:cNvSpPr>
          <p:nvPr/>
        </p:nvSpPr>
        <p:spPr>
          <a:xfrm xmlns:a="http://schemas.openxmlformats.org/drawingml/2006/main">
            <a:off x="6229350" y="3467100"/>
            <a:ext cx="4286250" cy="2476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350" b="1">
                <a:solidFill>
                  <a:srgbClr val="223A5E"/>
                </a:solidFill>
              </a:defRPr>
            </a:pPr>
            <a:r>
              <a:t>Règle d’intégrité temporelle</a:t>
            </a:r>
          </a:p>
        </p:txBody>
      </p:sp>
      <p:sp>
        <p:nvSpPr>
          <p:cNvPr id="30" name="">
            <a:extLst xmlns:a="http://schemas.openxmlformats.org/drawingml/2006/main">
              <a:ext uri="{FF2B5EF4-FFF2-40B4-BE49-F238E27FC236}">
                <a16:creationId xmlns:a16="http://schemas.microsoft.com/office/drawing/2014/main" id="{3BABCA62-A040-46A9-88ED-B5459DBFDEEC}"/>
              </a:ext>
            </a:extLst>
          </p:cNvPr>
          <p:cNvSpPr>
            <a:spLocks xmlns:a="http://schemas.openxmlformats.org/drawingml/2006/main" noGrp="1"/>
          </p:cNvSpPr>
          <p:nvPr/>
        </p:nvSpPr>
        <p:spPr>
          <a:xfrm xmlns:a="http://schemas.openxmlformats.org/drawingml/2006/main">
            <a:off x="6229350" y="3848100"/>
            <a:ext cx="4286250" cy="152400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275">
                <a:solidFill>
                  <a:srgbClr val="2F3136"/>
                </a:solidFill>
              </a:defRPr>
            </a:pPr>
            <a:r>
              <a:t>• Les colonnes contemporaines IPC existent pour diagnostic et vérité terrain. • Pour prédire t+1, seules les versions laggées de l’IPC sont autorisées comme features. • Cette règle empêche d’utiliser une information trop proche de la cible.</a:t>
            </a:r>
          </a:p>
        </p:txBody>
      </p:sp>
      <p:sp>
        <p:nvSpPr>
          <p:cNvPr id="31" name="">
            <a:extLst xmlns:a="http://schemas.openxmlformats.org/drawingml/2006/main">
              <a:ext uri="{FF2B5EF4-FFF2-40B4-BE49-F238E27FC236}">
                <a16:creationId xmlns:a16="http://schemas.microsoft.com/office/drawing/2014/main" id="{266463DF-0286-4FBB-AA8C-8CBF7449D3B1}"/>
              </a:ext>
            </a:extLst>
          </p:cNvPr>
          <p:cNvSpPr>
            <a:spLocks xmlns:a="http://schemas.openxmlformats.org/drawingml/2006/main" noGrp="1"/>
          </p:cNvSpPr>
          <p:nvPr/>
        </p:nvSpPr>
        <p:spPr>
          <a:xfrm xmlns:a="http://schemas.openxmlformats.org/drawingml/2006/main">
            <a:off x="685800" y="6477000"/>
            <a:ext cx="4762500" cy="1714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825">
                <a:solidFill>
                  <a:srgbClr val="6C6A66"/>
                </a:solidFill>
              </a:defRPr>
            </a:pPr>
            <a:r>
              <a:t>ENSAM Meknes • Gold dataset</a:t>
            </a:r>
          </a:p>
        </p:txBody>
      </p:sp>
      <p:sp>
        <p:nvSpPr>
          <p:cNvPr id="32" name="">
            <a:extLst xmlns:a="http://schemas.openxmlformats.org/drawingml/2006/main">
              <a:ext uri="{FF2B5EF4-FFF2-40B4-BE49-F238E27FC236}">
                <a16:creationId xmlns:a16="http://schemas.microsoft.com/office/drawing/2014/main" id="{789E0A03-91E0-4084-B7B2-9FFEDA315D1A}"/>
              </a:ext>
            </a:extLst>
          </p:cNvPr>
          <p:cNvSpPr>
            <a:spLocks xmlns:a="http://schemas.openxmlformats.org/drawingml/2006/main" noGrp="1"/>
          </p:cNvSpPr>
          <p:nvPr/>
        </p:nvSpPr>
        <p:spPr>
          <a:xfrm xmlns:a="http://schemas.openxmlformats.org/drawingml/2006/main">
            <a:off x="11049000" y="6477000"/>
            <a:ext cx="476250" cy="1714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lgn="r">
              <a:defRPr sz="825">
                <a:solidFill>
                  <a:srgbClr val="6C6A66"/>
                </a:solidFill>
              </a:defRPr>
            </a:pPr>
            <a:r>
              <a:t>8</a:t>
            </a:r>
          </a:p>
        </p:txBody>
      </p:sp>
    </p:spTree>
    <p:extLst>
      <p:ext uri="{BB962C8B-B14F-4D97-AF65-F5344CB8AC3E}">
        <p14:creationId xmlns:p14="http://schemas.microsoft.com/office/powerpoint/2010/main" val="1625134018"/>
      </p:ext>
    </p:extLst>
  </p:cSld>
</p:sld>
</file>

<file path=ppt/slides/slide9.xml><?xml version="1.0" encoding="utf-8"?>
<p:sld xmlns:p="http://schemas.openxmlformats.org/presentationml/2006/main">
  <p:cSld>
    <p:bg>
      <p:bgPr>
        <a:solidFill xmlns:a="http://schemas.openxmlformats.org/drawingml/2006/main">
          <a:srgbClr val="F6F1E7"/>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ECBCB85A-D3A8-4834-928E-EB630C8E5DE5}"/>
              </a:ext>
            </a:extLst>
          </p:cNvPr>
          <p:cNvSpPr>
            <a:spLocks xmlns:a="http://schemas.openxmlformats.org/drawingml/2006/main" noGrp="1"/>
          </p:cNvSpPr>
          <p:nvPr/>
        </p:nvSpPr>
        <p:spPr>
          <a:xfrm xmlns:a="http://schemas.openxmlformats.org/drawingml/2006/main">
            <a:off x="876300" y="704850"/>
            <a:ext cx="9334500" cy="5905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2400" b="1">
                <a:solidFill>
                  <a:srgbClr val="223A5E"/>
                </a:solidFill>
              </a:defRPr>
            </a:pPr>
            <a:r>
              <a:t>Construction des indices BESI</a:t>
            </a:r>
          </a:p>
        </p:txBody>
      </p:sp>
      <p:sp>
        <p:nvSpPr>
          <p:cNvPr id="2" name="">
            <a:extLst xmlns:a="http://schemas.openxmlformats.org/drawingml/2006/main">
              <a:ext uri="{FF2B5EF4-FFF2-40B4-BE49-F238E27FC236}">
                <a16:creationId xmlns:a16="http://schemas.microsoft.com/office/drawing/2014/main" id="{8B325B96-7DCD-47E4-9F55-C03ADE123550}"/>
              </a:ext>
            </a:extLst>
          </p:cNvPr>
          <p:cNvSpPr>
            <a:spLocks xmlns:a="http://schemas.openxmlformats.org/drawingml/2006/main" noGrp="1"/>
          </p:cNvSpPr>
          <p:nvPr/>
        </p:nvSpPr>
        <p:spPr>
          <a:xfrm xmlns:a="http://schemas.openxmlformats.org/drawingml/2006/main">
            <a:off x="876300" y="1295400"/>
            <a:ext cx="9334500" cy="2857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200" b="1">
                <a:solidFill>
                  <a:srgbClr val="C86F4D"/>
                </a:solidFill>
              </a:defRPr>
            </a:pPr>
            <a:r>
              <a:t>Behavioral pur, hybrid macro, et suppression du leakage</a:t>
            </a:r>
          </a:p>
        </p:txBody>
      </p:sp>
      <p:sp>
        <p:nvSpPr>
          <p:cNvPr id="3" name="">
            <a:extLst xmlns:a="http://schemas.openxmlformats.org/drawingml/2006/main">
              <a:ext uri="{FF2B5EF4-FFF2-40B4-BE49-F238E27FC236}">
                <a16:creationId xmlns:a16="http://schemas.microsoft.com/office/drawing/2014/main" id="{B227ECED-BB5F-413F-88A1-21FCD9652216}"/>
              </a:ext>
            </a:extLst>
          </p:cNvPr>
          <p:cNvSpPr>
            <a:spLocks xmlns:a="http://schemas.openxmlformats.org/drawingml/2006/main" noGrp="1"/>
          </p:cNvSpPr>
          <p:nvPr/>
        </p:nvSpPr>
        <p:spPr>
          <a:xfrm xmlns:a="http://schemas.openxmlformats.org/drawingml/2006/main">
            <a:off x="685800" y="6477000"/>
            <a:ext cx="4762500" cy="1714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825">
                <a:solidFill>
                  <a:srgbClr val="6C6A66"/>
                </a:solidFill>
              </a:defRPr>
            </a:pPr>
            <a:r>
              <a:t>ENSAM Meknes • BESI V3</a:t>
            </a:r>
          </a:p>
        </p:txBody>
      </p:sp>
      <p:sp>
        <p:nvSpPr>
          <p:cNvPr id="4" name="">
            <a:extLst xmlns:a="http://schemas.openxmlformats.org/drawingml/2006/main">
              <a:ext uri="{FF2B5EF4-FFF2-40B4-BE49-F238E27FC236}">
                <a16:creationId xmlns:a16="http://schemas.microsoft.com/office/drawing/2014/main" id="{17DDD97E-834D-46E8-9FFA-CD119EED3D3B}"/>
              </a:ext>
            </a:extLst>
          </p:cNvPr>
          <p:cNvSpPr>
            <a:spLocks xmlns:a="http://schemas.openxmlformats.org/drawingml/2006/main" noGrp="1"/>
          </p:cNvSpPr>
          <p:nvPr/>
        </p:nvSpPr>
        <p:spPr>
          <a:xfrm xmlns:a="http://schemas.openxmlformats.org/drawingml/2006/main">
            <a:off x="11049000" y="6477000"/>
            <a:ext cx="476250" cy="1714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lgn="r">
              <a:defRPr sz="825">
                <a:solidFill>
                  <a:srgbClr val="6C6A66"/>
                </a:solidFill>
              </a:defRPr>
            </a:pPr>
            <a:r>
              <a:t>9</a:t>
            </a:r>
          </a:p>
        </p:txBody>
      </p:sp>
      <p:sp>
        <p:nvSpPr>
          <p:cNvPr id="5" name="">
            <a:extLst xmlns:a="http://schemas.openxmlformats.org/drawingml/2006/main">
              <a:ext uri="{FF2B5EF4-FFF2-40B4-BE49-F238E27FC236}">
                <a16:creationId xmlns:a16="http://schemas.microsoft.com/office/drawing/2014/main" id="{987DB716-0398-4A48-A3C2-1B772B7B56F0}"/>
              </a:ext>
            </a:extLst>
          </p:cNvPr>
          <p:cNvSpPr>
            <a:spLocks xmlns:a="http://schemas.openxmlformats.org/drawingml/2006/main" noGrp="1"/>
          </p:cNvSpPr>
          <p:nvPr/>
        </p:nvSpPr>
        <p:spPr>
          <a:xfrm xmlns:a="http://schemas.openxmlformats.org/drawingml/2006/main">
            <a:off x="876300" y="1790700"/>
            <a:ext cx="4762500" cy="3486150"/>
          </a:xfrm>
          <a:prstGeom xmlns:a="http://schemas.openxmlformats.org/drawingml/2006/main" prst="rect">
            <a:avLst/>
          </a:prstGeom>
          <a:solidFill xmlns:a="http://schemas.openxmlformats.org/drawingml/2006/main">
            <a:srgbClr val="FFFFFF"/>
          </a:solidFill>
          <a:ln xmlns:a="http://schemas.openxmlformats.org/drawingml/2006/main" w="9525">
            <a:solidFill>
              <a:srgbClr val="EEE4D3"/>
            </a:solidFill>
            <a:prstDash val="solid"/>
          </a:ln>
        </p:spPr>
      </p:sp>
      <p:sp>
        <p:nvSpPr>
          <p:cNvPr id="6" name="">
            <a:extLst xmlns:a="http://schemas.openxmlformats.org/drawingml/2006/main">
              <a:ext uri="{FF2B5EF4-FFF2-40B4-BE49-F238E27FC236}">
                <a16:creationId xmlns:a16="http://schemas.microsoft.com/office/drawing/2014/main" id="{58EC4F37-EA06-4BAB-9C98-289924BDFF64}"/>
              </a:ext>
            </a:extLst>
          </p:cNvPr>
          <p:cNvSpPr>
            <a:spLocks xmlns:a="http://schemas.openxmlformats.org/drawingml/2006/main" noGrp="1"/>
          </p:cNvSpPr>
          <p:nvPr/>
        </p:nvSpPr>
        <p:spPr>
          <a:xfrm xmlns:a="http://schemas.openxmlformats.org/drawingml/2006/main">
            <a:off x="1123950" y="2038350"/>
            <a:ext cx="4000500" cy="26670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500" b="1">
                <a:solidFill>
                  <a:srgbClr val="223A5E"/>
                </a:solidFill>
              </a:defRPr>
            </a:pPr>
            <a:r>
              <a:t>BESI behavioral (pur)</a:t>
            </a:r>
          </a:p>
        </p:txBody>
      </p:sp>
      <p:sp>
        <p:nvSpPr>
          <p:cNvPr id="7" name="">
            <a:extLst xmlns:a="http://schemas.openxmlformats.org/drawingml/2006/main">
              <a:ext uri="{FF2B5EF4-FFF2-40B4-BE49-F238E27FC236}">
                <a16:creationId xmlns:a16="http://schemas.microsoft.com/office/drawing/2014/main" id="{B7DE3D84-A030-45E8-8C09-6EC06B6A5199}"/>
              </a:ext>
            </a:extLst>
          </p:cNvPr>
          <p:cNvSpPr>
            <a:spLocks xmlns:a="http://schemas.openxmlformats.org/drawingml/2006/main" noGrp="1"/>
          </p:cNvSpPr>
          <p:nvPr/>
        </p:nvSpPr>
        <p:spPr>
          <a:xfrm xmlns:a="http://schemas.openxmlformats.org/drawingml/2006/main">
            <a:off x="1123950" y="2476500"/>
            <a:ext cx="4000500" cy="171450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350">
                <a:solidFill>
                  <a:srgbClr val="2F3136"/>
                </a:solidFill>
              </a:defRPr>
            </a:pPr>
            <a:r>
              <a:t>• Construit uniquement à partir de Google Trends. • Sous-indices : prix alimentaires, inflation, carburant, subvention. • Poids calibrés via LassoCV ou fallback sur colonnes disponibles. • Aucune composante directe IPC dans l’indice.</a:t>
            </a:r>
          </a:p>
        </p:txBody>
      </p:sp>
      <p:sp>
        <p:nvSpPr>
          <p:cNvPr id="8" name="">
            <a:extLst xmlns:a="http://schemas.openxmlformats.org/drawingml/2006/main">
              <a:ext uri="{FF2B5EF4-FFF2-40B4-BE49-F238E27FC236}">
                <a16:creationId xmlns:a16="http://schemas.microsoft.com/office/drawing/2014/main" id="{5BCD1EAB-AE1D-4CE6-937E-34C3C1CB7120}"/>
              </a:ext>
            </a:extLst>
          </p:cNvPr>
          <p:cNvSpPr>
            <a:spLocks xmlns:a="http://schemas.openxmlformats.org/drawingml/2006/main" noGrp="1"/>
          </p:cNvSpPr>
          <p:nvPr/>
        </p:nvSpPr>
        <p:spPr>
          <a:xfrm xmlns:a="http://schemas.openxmlformats.org/drawingml/2006/main">
            <a:off x="1123950" y="4552950"/>
            <a:ext cx="2667000" cy="323850"/>
          </a:xfrm>
          <a:prstGeom xmlns:a="http://schemas.openxmlformats.org/drawingml/2006/main" prst="roundRect">
            <a:avLst>
              <a:gd name="adj" fmla="val 23529"/>
            </a:avLst>
          </a:prstGeom>
          <a:solidFill xmlns:a="http://schemas.openxmlformats.org/drawingml/2006/main">
            <a:srgbClr val="5E7E6A"/>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F62BD32F-5CFE-4271-ADA5-444E92C2EA14}"/>
              </a:ext>
            </a:extLst>
          </p:cNvPr>
          <p:cNvSpPr>
            <a:spLocks xmlns:a="http://schemas.openxmlformats.org/drawingml/2006/main" noGrp="1"/>
          </p:cNvSpPr>
          <p:nvPr/>
        </p:nvSpPr>
        <p:spPr>
          <a:xfrm xmlns:a="http://schemas.openxmlformats.org/drawingml/2006/main">
            <a:off x="1123950" y="4552950"/>
            <a:ext cx="2667000" cy="3238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lgn="ctr">
              <a:defRPr sz="1125" b="1">
                <a:solidFill>
                  <a:srgbClr val="FFFFFF"/>
                </a:solidFill>
              </a:defRPr>
            </a:pPr>
            <a:r>
              <a:t>Zéro leakage IPC</a:t>
            </a:r>
          </a:p>
        </p:txBody>
      </p:sp>
      <p:sp>
        <p:nvSpPr>
          <p:cNvPr id="10" name="">
            <a:extLst xmlns:a="http://schemas.openxmlformats.org/drawingml/2006/main">
              <a:ext uri="{FF2B5EF4-FFF2-40B4-BE49-F238E27FC236}">
                <a16:creationId xmlns:a16="http://schemas.microsoft.com/office/drawing/2014/main" id="{ABE2DFDA-E9B6-4D61-8488-E3F9D56C7A2B}"/>
              </a:ext>
            </a:extLst>
          </p:cNvPr>
          <p:cNvSpPr>
            <a:spLocks xmlns:a="http://schemas.openxmlformats.org/drawingml/2006/main" noGrp="1"/>
          </p:cNvSpPr>
          <p:nvPr/>
        </p:nvSpPr>
        <p:spPr>
          <a:xfrm xmlns:a="http://schemas.openxmlformats.org/drawingml/2006/main">
            <a:off x="5905500" y="1790700"/>
            <a:ext cx="5124450" cy="3486150"/>
          </a:xfrm>
          <a:prstGeom xmlns:a="http://schemas.openxmlformats.org/drawingml/2006/main" prst="rect">
            <a:avLst/>
          </a:prstGeom>
          <a:solidFill xmlns:a="http://schemas.openxmlformats.org/drawingml/2006/main">
            <a:srgbClr val="FFFFFF"/>
          </a:solidFill>
          <a:ln xmlns:a="http://schemas.openxmlformats.org/drawingml/2006/main" w="9525">
            <a:solidFill>
              <a:srgbClr val="EEE4D3"/>
            </a:solidFill>
            <a:prstDash val="solid"/>
          </a:ln>
        </p:spPr>
      </p:sp>
      <p:sp>
        <p:nvSpPr>
          <p:cNvPr id="11" name="">
            <a:extLst xmlns:a="http://schemas.openxmlformats.org/drawingml/2006/main">
              <a:ext uri="{FF2B5EF4-FFF2-40B4-BE49-F238E27FC236}">
                <a16:creationId xmlns:a16="http://schemas.microsoft.com/office/drawing/2014/main" id="{4A5FC9E0-283F-4143-BB4D-E15F165B3D3A}"/>
              </a:ext>
            </a:extLst>
          </p:cNvPr>
          <p:cNvSpPr>
            <a:spLocks xmlns:a="http://schemas.openxmlformats.org/drawingml/2006/main" noGrp="1"/>
          </p:cNvSpPr>
          <p:nvPr/>
        </p:nvSpPr>
        <p:spPr>
          <a:xfrm xmlns:a="http://schemas.openxmlformats.org/drawingml/2006/main">
            <a:off x="6153150" y="2038350"/>
            <a:ext cx="4286250" cy="26670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500" b="1">
                <a:solidFill>
                  <a:srgbClr val="223A5E"/>
                </a:solidFill>
              </a:defRPr>
            </a:pPr>
            <a:r>
              <a:t>Hybrid macro index</a:t>
            </a:r>
          </a:p>
        </p:txBody>
      </p:sp>
      <p:sp>
        <p:nvSpPr>
          <p:cNvPr id="12" name="">
            <a:extLst xmlns:a="http://schemas.openxmlformats.org/drawingml/2006/main">
              <a:ext uri="{FF2B5EF4-FFF2-40B4-BE49-F238E27FC236}">
                <a16:creationId xmlns:a16="http://schemas.microsoft.com/office/drawing/2014/main" id="{E297657F-9B7C-4CC9-9FCC-EBB90CC3A0A8}"/>
              </a:ext>
            </a:extLst>
          </p:cNvPr>
          <p:cNvSpPr>
            <a:spLocks xmlns:a="http://schemas.openxmlformats.org/drawingml/2006/main" noGrp="1"/>
          </p:cNvSpPr>
          <p:nvPr/>
        </p:nvSpPr>
        <p:spPr>
          <a:xfrm xmlns:a="http://schemas.openxmlformats.org/drawingml/2006/main">
            <a:off x="6153150" y="2476500"/>
            <a:ext cx="4286250" cy="171450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350">
                <a:solidFill>
                  <a:srgbClr val="2F3136"/>
                </a:solidFill>
              </a:defRPr>
            </a:pPr>
            <a:r>
              <a:t>• Combine BESI behavioral, FAO Food Price Index et taux MAD/EUR. • Logique économique : alimentation importée et pression externe sur les prix. • Objectif : tester si le macro améliore la détection au-delà du comportemental.</a:t>
            </a:r>
          </a:p>
        </p:txBody>
      </p:sp>
      <p:sp>
        <p:nvSpPr>
          <p:cNvPr id="13" name="">
            <a:extLst xmlns:a="http://schemas.openxmlformats.org/drawingml/2006/main">
              <a:ext uri="{FF2B5EF4-FFF2-40B4-BE49-F238E27FC236}">
                <a16:creationId xmlns:a16="http://schemas.microsoft.com/office/drawing/2014/main" id="{AC26FB93-B83E-4F30-8DA1-EA97549838D1}"/>
              </a:ext>
            </a:extLst>
          </p:cNvPr>
          <p:cNvSpPr>
            <a:spLocks xmlns:a="http://schemas.openxmlformats.org/drawingml/2006/main" noGrp="1"/>
          </p:cNvSpPr>
          <p:nvPr/>
        </p:nvSpPr>
        <p:spPr>
          <a:xfrm xmlns:a="http://schemas.openxmlformats.org/drawingml/2006/main">
            <a:off x="6153150" y="4552950"/>
            <a:ext cx="3028950" cy="323850"/>
          </a:xfrm>
          <a:prstGeom xmlns:a="http://schemas.openxmlformats.org/drawingml/2006/main" prst="roundRect">
            <a:avLst>
              <a:gd name="adj" fmla="val 23529"/>
            </a:avLst>
          </a:prstGeom>
          <a:solidFill xmlns:a="http://schemas.openxmlformats.org/drawingml/2006/main">
            <a:srgbClr val="C86F4D"/>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8C0730A4-3ED4-46E6-9CB9-6402D40276A1}"/>
              </a:ext>
            </a:extLst>
          </p:cNvPr>
          <p:cNvSpPr>
            <a:spLocks xmlns:a="http://schemas.openxmlformats.org/drawingml/2006/main" noGrp="1"/>
          </p:cNvSpPr>
          <p:nvPr/>
        </p:nvSpPr>
        <p:spPr>
          <a:xfrm xmlns:a="http://schemas.openxmlformats.org/drawingml/2006/main">
            <a:off x="6153150" y="4552950"/>
            <a:ext cx="3028950" cy="3238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lgn="ctr">
              <a:defRPr sz="1125" b="1">
                <a:solidFill>
                  <a:srgbClr val="FFFFFF"/>
                </a:solidFill>
              </a:defRPr>
            </a:pPr>
            <a:r>
              <a:t>H2 : signal macro complémentaire ?</a:t>
            </a:r>
          </a:p>
        </p:txBody>
      </p:sp>
      <p:sp>
        <p:nvSpPr>
          <p:cNvPr id="15" name="">
            <a:extLst xmlns:a="http://schemas.openxmlformats.org/drawingml/2006/main">
              <a:ext uri="{FF2B5EF4-FFF2-40B4-BE49-F238E27FC236}">
                <a16:creationId xmlns:a16="http://schemas.microsoft.com/office/drawing/2014/main" id="{7B904BC3-952C-4842-AAD4-63B650D7459B}"/>
              </a:ext>
            </a:extLst>
          </p:cNvPr>
          <p:cNvSpPr>
            <a:spLocks xmlns:a="http://schemas.openxmlformats.org/drawingml/2006/main" noGrp="1"/>
          </p:cNvSpPr>
          <p:nvPr/>
        </p:nvSpPr>
        <p:spPr>
          <a:xfrm xmlns:a="http://schemas.openxmlformats.org/drawingml/2006/main">
            <a:off x="876300" y="5638800"/>
            <a:ext cx="9906000" cy="38100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275">
                <a:solidFill>
                  <a:srgbClr val="2F3136"/>
                </a:solidFill>
              </a:defRPr>
            </a:pPr>
            <a:r>
              <a:t>Correction méthodologique centrale : l’ancienne idée d’ajouter `ipc_change` dans le BESI a été abandonnée, car cela revenait à réinjecter la cible dans le prédicteur.</a:t>
            </a:r>
          </a:p>
        </p:txBody>
      </p:sp>
      <p:sp>
        <p:nvSpPr>
          <p:cNvPr id="16" name="">
            <a:extLst xmlns:a="http://schemas.openxmlformats.org/drawingml/2006/main">
              <a:ext uri="{FF2B5EF4-FFF2-40B4-BE49-F238E27FC236}">
                <a16:creationId xmlns:a16="http://schemas.microsoft.com/office/drawing/2014/main" id="{B16625D1-76B1-40E0-AA98-E07E9C209D44}"/>
              </a:ext>
            </a:extLst>
          </p:cNvPr>
          <p:cNvSpPr>
            <a:spLocks xmlns:a="http://schemas.openxmlformats.org/drawingml/2006/main" noGrp="1"/>
          </p:cNvSpPr>
          <p:nvPr/>
        </p:nvSpPr>
        <p:spPr>
          <a:xfrm xmlns:a="http://schemas.openxmlformats.org/drawingml/2006/main">
            <a:off x="685800" y="6477000"/>
            <a:ext cx="4762500" cy="1714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825">
                <a:solidFill>
                  <a:srgbClr val="6C6A66"/>
                </a:solidFill>
              </a:defRPr>
            </a:pPr>
            <a:r>
              <a:t>ENSAM Meknes • BESI</a:t>
            </a:r>
          </a:p>
        </p:txBody>
      </p:sp>
      <p:sp>
        <p:nvSpPr>
          <p:cNvPr id="17" name="">
            <a:extLst xmlns:a="http://schemas.openxmlformats.org/drawingml/2006/main">
              <a:ext uri="{FF2B5EF4-FFF2-40B4-BE49-F238E27FC236}">
                <a16:creationId xmlns:a16="http://schemas.microsoft.com/office/drawing/2014/main" id="{8152161F-5E04-4F7A-8381-1AA7D90FD22A}"/>
              </a:ext>
            </a:extLst>
          </p:cNvPr>
          <p:cNvSpPr>
            <a:spLocks xmlns:a="http://schemas.openxmlformats.org/drawingml/2006/main" noGrp="1"/>
          </p:cNvSpPr>
          <p:nvPr/>
        </p:nvSpPr>
        <p:spPr>
          <a:xfrm xmlns:a="http://schemas.openxmlformats.org/drawingml/2006/main">
            <a:off x="11049000" y="6477000"/>
            <a:ext cx="476250" cy="1714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lgn="r">
              <a:defRPr sz="825">
                <a:solidFill>
                  <a:srgbClr val="6C6A66"/>
                </a:solidFill>
              </a:defRPr>
            </a:pPr>
            <a:r>
              <a:t>9</a:t>
            </a:r>
          </a:p>
        </p:txBody>
      </p:sp>
    </p:spTree>
    <p:extLst>
      <p:ext uri="{BB962C8B-B14F-4D97-AF65-F5344CB8AC3E}">
        <p14:creationId xmlns:p14="http://schemas.microsoft.com/office/powerpoint/2010/main" val="568954853"/>
      </p:ext>
    </p:extLst>
  </p:cSld>
</p:sld>
</file>

<file path=ppt/slides/slide10.xml><?xml version="1.0" encoding="utf-8"?>
<p:sld xmlns:p="http://schemas.openxmlformats.org/presentationml/2006/main">
  <p:cSld>
    <p:bg>
      <p:bgPr>
        <a:solidFill xmlns:a="http://schemas.openxmlformats.org/drawingml/2006/main">
          <a:srgbClr val="F6F1E7"/>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86D230E3-D770-4FBA-BD31-07BB29D251B1}"/>
              </a:ext>
            </a:extLst>
          </p:cNvPr>
          <p:cNvSpPr>
            <a:spLocks xmlns:a="http://schemas.openxmlformats.org/drawingml/2006/main" noGrp="1"/>
          </p:cNvSpPr>
          <p:nvPr/>
        </p:nvSpPr>
        <p:spPr>
          <a:xfrm xmlns:a="http://schemas.openxmlformats.org/drawingml/2006/main">
            <a:off x="876300" y="704850"/>
            <a:ext cx="9334500" cy="5905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2400" b="1">
                <a:solidFill>
                  <a:srgbClr val="223A5E"/>
                </a:solidFill>
              </a:defRPr>
            </a:pPr>
            <a:r>
              <a:t>Modèles et protocole d’évaluation</a:t>
            </a:r>
          </a:p>
        </p:txBody>
      </p:sp>
      <p:sp>
        <p:nvSpPr>
          <p:cNvPr id="2" name="">
            <a:extLst xmlns:a="http://schemas.openxmlformats.org/drawingml/2006/main">
              <a:ext uri="{FF2B5EF4-FFF2-40B4-BE49-F238E27FC236}">
                <a16:creationId xmlns:a16="http://schemas.microsoft.com/office/drawing/2014/main" id="{FD3ED214-CA0A-4AE8-B2FF-542215B2B3B0}"/>
              </a:ext>
            </a:extLst>
          </p:cNvPr>
          <p:cNvSpPr>
            <a:spLocks xmlns:a="http://schemas.openxmlformats.org/drawingml/2006/main" noGrp="1"/>
          </p:cNvSpPr>
          <p:nvPr/>
        </p:nvSpPr>
        <p:spPr>
          <a:xfrm xmlns:a="http://schemas.openxmlformats.org/drawingml/2006/main">
            <a:off x="876300" y="1295400"/>
            <a:ext cx="9334500" cy="2857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200" b="1">
                <a:solidFill>
                  <a:srgbClr val="C86F4D"/>
                </a:solidFill>
              </a:defRPr>
            </a:pPr>
            <a:r>
              <a:t>Forecasting point par point vs détection de régime</a:t>
            </a:r>
          </a:p>
        </p:txBody>
      </p:sp>
      <p:sp>
        <p:nvSpPr>
          <p:cNvPr id="3" name="">
            <a:extLst xmlns:a="http://schemas.openxmlformats.org/drawingml/2006/main">
              <a:ext uri="{FF2B5EF4-FFF2-40B4-BE49-F238E27FC236}">
                <a16:creationId xmlns:a16="http://schemas.microsoft.com/office/drawing/2014/main" id="{EAA81320-0B77-49FE-9641-46B9ABB1593E}"/>
              </a:ext>
            </a:extLst>
          </p:cNvPr>
          <p:cNvSpPr>
            <a:spLocks xmlns:a="http://schemas.openxmlformats.org/drawingml/2006/main" noGrp="1"/>
          </p:cNvSpPr>
          <p:nvPr/>
        </p:nvSpPr>
        <p:spPr>
          <a:xfrm xmlns:a="http://schemas.openxmlformats.org/drawingml/2006/main">
            <a:off x="685800" y="6477000"/>
            <a:ext cx="4762500" cy="1714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825">
                <a:solidFill>
                  <a:srgbClr val="6C6A66"/>
                </a:solidFill>
              </a:defRPr>
            </a:pPr>
            <a:r>
              <a:t>ENSAM Meknes • BESI V3</a:t>
            </a:r>
          </a:p>
        </p:txBody>
      </p:sp>
      <p:sp>
        <p:nvSpPr>
          <p:cNvPr id="4" name="">
            <a:extLst xmlns:a="http://schemas.openxmlformats.org/drawingml/2006/main">
              <a:ext uri="{FF2B5EF4-FFF2-40B4-BE49-F238E27FC236}">
                <a16:creationId xmlns:a16="http://schemas.microsoft.com/office/drawing/2014/main" id="{AC6E4061-5B98-4223-BF0B-7F080254B4EB}"/>
              </a:ext>
            </a:extLst>
          </p:cNvPr>
          <p:cNvSpPr>
            <a:spLocks xmlns:a="http://schemas.openxmlformats.org/drawingml/2006/main" noGrp="1"/>
          </p:cNvSpPr>
          <p:nvPr/>
        </p:nvSpPr>
        <p:spPr>
          <a:xfrm xmlns:a="http://schemas.openxmlformats.org/drawingml/2006/main">
            <a:off x="11049000" y="6477000"/>
            <a:ext cx="476250" cy="1714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lgn="r">
              <a:defRPr sz="825">
                <a:solidFill>
                  <a:srgbClr val="6C6A66"/>
                </a:solidFill>
              </a:defRPr>
            </a:pPr>
            <a:r>
              <a:t>10</a:t>
            </a:r>
          </a:p>
        </p:txBody>
      </p:sp>
      <p:sp>
        <p:nvSpPr>
          <p:cNvPr id="5" name="">
            <a:extLst xmlns:a="http://schemas.openxmlformats.org/drawingml/2006/main">
              <a:ext uri="{FF2B5EF4-FFF2-40B4-BE49-F238E27FC236}">
                <a16:creationId xmlns:a16="http://schemas.microsoft.com/office/drawing/2014/main" id="{2B9D2D8D-B628-4808-A6F6-DC3992E8240D}"/>
              </a:ext>
            </a:extLst>
          </p:cNvPr>
          <p:cNvSpPr>
            <a:spLocks xmlns:a="http://schemas.openxmlformats.org/drawingml/2006/main" noGrp="1"/>
          </p:cNvSpPr>
          <p:nvPr/>
        </p:nvSpPr>
        <p:spPr>
          <a:xfrm xmlns:a="http://schemas.openxmlformats.org/drawingml/2006/main">
            <a:off x="876300" y="1790700"/>
            <a:ext cx="3048000" cy="3429000"/>
          </a:xfrm>
          <a:prstGeom xmlns:a="http://schemas.openxmlformats.org/drawingml/2006/main" prst="rect">
            <a:avLst/>
          </a:prstGeom>
          <a:solidFill xmlns:a="http://schemas.openxmlformats.org/drawingml/2006/main">
            <a:srgbClr val="FFFFFF"/>
          </a:solidFill>
          <a:ln xmlns:a="http://schemas.openxmlformats.org/drawingml/2006/main" w="9525">
            <a:solidFill>
              <a:srgbClr val="EEE4D3"/>
            </a:solidFill>
            <a:prstDash val="solid"/>
          </a:ln>
        </p:spPr>
      </p:sp>
      <p:sp>
        <p:nvSpPr>
          <p:cNvPr id="6" name="">
            <a:extLst xmlns:a="http://schemas.openxmlformats.org/drawingml/2006/main">
              <a:ext uri="{FF2B5EF4-FFF2-40B4-BE49-F238E27FC236}">
                <a16:creationId xmlns:a16="http://schemas.microsoft.com/office/drawing/2014/main" id="{21601D22-4384-44CC-9F3F-00AEC28EB776}"/>
              </a:ext>
            </a:extLst>
          </p:cNvPr>
          <p:cNvSpPr>
            <a:spLocks xmlns:a="http://schemas.openxmlformats.org/drawingml/2006/main" noGrp="1"/>
          </p:cNvSpPr>
          <p:nvPr/>
        </p:nvSpPr>
        <p:spPr>
          <a:xfrm xmlns:a="http://schemas.openxmlformats.org/drawingml/2006/main">
            <a:off x="1123950" y="2038350"/>
            <a:ext cx="2381250" cy="22860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350" b="1">
                <a:solidFill>
                  <a:srgbClr val="223A5E"/>
                </a:solidFill>
              </a:defRPr>
            </a:pPr>
            <a:r>
              <a:t>Modèles comparés</a:t>
            </a:r>
          </a:p>
        </p:txBody>
      </p:sp>
      <p:sp>
        <p:nvSpPr>
          <p:cNvPr id="7" name="">
            <a:extLst xmlns:a="http://schemas.openxmlformats.org/drawingml/2006/main">
              <a:ext uri="{FF2B5EF4-FFF2-40B4-BE49-F238E27FC236}">
                <a16:creationId xmlns:a16="http://schemas.microsoft.com/office/drawing/2014/main" id="{DF973D5C-0F6B-4B5E-AEEB-3D1722FC2313}"/>
              </a:ext>
            </a:extLst>
          </p:cNvPr>
          <p:cNvSpPr>
            <a:spLocks xmlns:a="http://schemas.openxmlformats.org/drawingml/2006/main" noGrp="1"/>
          </p:cNvSpPr>
          <p:nvPr/>
        </p:nvSpPr>
        <p:spPr>
          <a:xfrm xmlns:a="http://schemas.openxmlformats.org/drawingml/2006/main">
            <a:off x="1123950" y="2419350"/>
            <a:ext cx="2381250" cy="209550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350">
                <a:solidFill>
                  <a:srgbClr val="2F3136"/>
                </a:solidFill>
              </a:defRPr>
            </a:pPr>
            <a:r>
              <a:t>• Naïf (persistance) • SARIMA(1,1,1)(1,0,1)[12] • SARIMAX + BESI behavioral • SARIMAX + Hybrid macro</a:t>
            </a:r>
          </a:p>
        </p:txBody>
      </p:sp>
      <p:sp>
        <p:nvSpPr>
          <p:cNvPr id="8" name="">
            <a:extLst xmlns:a="http://schemas.openxmlformats.org/drawingml/2006/main">
              <a:ext uri="{FF2B5EF4-FFF2-40B4-BE49-F238E27FC236}">
                <a16:creationId xmlns:a16="http://schemas.microsoft.com/office/drawing/2014/main" id="{BAF7631C-BD5D-4403-95C8-19CCEDE22461}"/>
              </a:ext>
            </a:extLst>
          </p:cNvPr>
          <p:cNvSpPr>
            <a:spLocks xmlns:a="http://schemas.openxmlformats.org/drawingml/2006/main" noGrp="1"/>
          </p:cNvSpPr>
          <p:nvPr/>
        </p:nvSpPr>
        <p:spPr>
          <a:xfrm xmlns:a="http://schemas.openxmlformats.org/drawingml/2006/main">
            <a:off x="4267200" y="1790700"/>
            <a:ext cx="3048000" cy="3429000"/>
          </a:xfrm>
          <a:prstGeom xmlns:a="http://schemas.openxmlformats.org/drawingml/2006/main" prst="rect">
            <a:avLst/>
          </a:prstGeom>
          <a:solidFill xmlns:a="http://schemas.openxmlformats.org/drawingml/2006/main">
            <a:srgbClr val="FFFFFF"/>
          </a:solidFill>
          <a:ln xmlns:a="http://schemas.openxmlformats.org/drawingml/2006/main" w="9525">
            <a:solidFill>
              <a:srgbClr val="EEE4D3"/>
            </a:solidFill>
            <a:prstDash val="solid"/>
          </a:ln>
        </p:spPr>
      </p:sp>
      <p:sp>
        <p:nvSpPr>
          <p:cNvPr id="9" name="">
            <a:extLst xmlns:a="http://schemas.openxmlformats.org/drawingml/2006/main">
              <a:ext uri="{FF2B5EF4-FFF2-40B4-BE49-F238E27FC236}">
                <a16:creationId xmlns:a16="http://schemas.microsoft.com/office/drawing/2014/main" id="{5055526A-9247-414B-8A52-48DD53B0DD96}"/>
              </a:ext>
            </a:extLst>
          </p:cNvPr>
          <p:cNvSpPr>
            <a:spLocks xmlns:a="http://schemas.openxmlformats.org/drawingml/2006/main" noGrp="1"/>
          </p:cNvSpPr>
          <p:nvPr/>
        </p:nvSpPr>
        <p:spPr>
          <a:xfrm xmlns:a="http://schemas.openxmlformats.org/drawingml/2006/main">
            <a:off x="4514850" y="2038350"/>
            <a:ext cx="2381250" cy="22860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350" b="1">
                <a:solidFill>
                  <a:srgbClr val="223A5E"/>
                </a:solidFill>
              </a:defRPr>
            </a:pPr>
            <a:r>
              <a:t>Découpage temporel</a:t>
            </a:r>
          </a:p>
        </p:txBody>
      </p:sp>
      <p:sp>
        <p:nvSpPr>
          <p:cNvPr id="10" name="">
            <a:extLst xmlns:a="http://schemas.openxmlformats.org/drawingml/2006/main">
              <a:ext uri="{FF2B5EF4-FFF2-40B4-BE49-F238E27FC236}">
                <a16:creationId xmlns:a16="http://schemas.microsoft.com/office/drawing/2014/main" id="{B055DF75-B7C0-4A92-89D7-2E63C254F5CF}"/>
              </a:ext>
            </a:extLst>
          </p:cNvPr>
          <p:cNvSpPr>
            <a:spLocks xmlns:a="http://schemas.openxmlformats.org/drawingml/2006/main" noGrp="1"/>
          </p:cNvSpPr>
          <p:nvPr/>
        </p:nvSpPr>
        <p:spPr>
          <a:xfrm xmlns:a="http://schemas.openxmlformats.org/drawingml/2006/main">
            <a:off x="4514850" y="2419350"/>
            <a:ext cx="2381250" cy="209550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350">
                <a:solidFill>
                  <a:srgbClr val="2F3136"/>
                </a:solidFill>
              </a:defRPr>
            </a:pPr>
            <a:r>
              <a:t>• Bloc A : 2020–2021 (COVID) • Bloc B : 2022–2024 (choc inflationniste) • Walk-forward expanding window • Calibration train, évaluation test</a:t>
            </a:r>
          </a:p>
        </p:txBody>
      </p:sp>
      <p:sp>
        <p:nvSpPr>
          <p:cNvPr id="11" name="">
            <a:extLst xmlns:a="http://schemas.openxmlformats.org/drawingml/2006/main">
              <a:ext uri="{FF2B5EF4-FFF2-40B4-BE49-F238E27FC236}">
                <a16:creationId xmlns:a16="http://schemas.microsoft.com/office/drawing/2014/main" id="{10CA2FE7-30D8-4218-B6DA-C5B42F3C0F95}"/>
              </a:ext>
            </a:extLst>
          </p:cNvPr>
          <p:cNvSpPr>
            <a:spLocks xmlns:a="http://schemas.openxmlformats.org/drawingml/2006/main" noGrp="1"/>
          </p:cNvSpPr>
          <p:nvPr/>
        </p:nvSpPr>
        <p:spPr>
          <a:xfrm xmlns:a="http://schemas.openxmlformats.org/drawingml/2006/main">
            <a:off x="7658100" y="1790700"/>
            <a:ext cx="3371850" cy="3429000"/>
          </a:xfrm>
          <a:prstGeom xmlns:a="http://schemas.openxmlformats.org/drawingml/2006/main" prst="rect">
            <a:avLst/>
          </a:prstGeom>
          <a:solidFill xmlns:a="http://schemas.openxmlformats.org/drawingml/2006/main">
            <a:srgbClr val="FFFFFF"/>
          </a:solidFill>
          <a:ln xmlns:a="http://schemas.openxmlformats.org/drawingml/2006/main" w="9525">
            <a:solidFill>
              <a:srgbClr val="EEE4D3"/>
            </a:solidFill>
            <a:prstDash val="solid"/>
          </a:ln>
        </p:spPr>
      </p:sp>
      <p:sp>
        <p:nvSpPr>
          <p:cNvPr id="12" name="">
            <a:extLst xmlns:a="http://schemas.openxmlformats.org/drawingml/2006/main">
              <a:ext uri="{FF2B5EF4-FFF2-40B4-BE49-F238E27FC236}">
                <a16:creationId xmlns:a16="http://schemas.microsoft.com/office/drawing/2014/main" id="{4C9759BF-4AAB-4227-AA38-A7585A559C5D}"/>
              </a:ext>
            </a:extLst>
          </p:cNvPr>
          <p:cNvSpPr>
            <a:spLocks xmlns:a="http://schemas.openxmlformats.org/drawingml/2006/main" noGrp="1"/>
          </p:cNvSpPr>
          <p:nvPr/>
        </p:nvSpPr>
        <p:spPr>
          <a:xfrm xmlns:a="http://schemas.openxmlformats.org/drawingml/2006/main">
            <a:off x="7905750" y="2038350"/>
            <a:ext cx="2667000" cy="22860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350" b="1">
                <a:solidFill>
                  <a:srgbClr val="223A5E"/>
                </a:solidFill>
              </a:defRPr>
            </a:pPr>
            <a:r>
              <a:t>Familles de métriques</a:t>
            </a:r>
          </a:p>
        </p:txBody>
      </p:sp>
      <p:sp>
        <p:nvSpPr>
          <p:cNvPr id="13" name="">
            <a:extLst xmlns:a="http://schemas.openxmlformats.org/drawingml/2006/main">
              <a:ext uri="{FF2B5EF4-FFF2-40B4-BE49-F238E27FC236}">
                <a16:creationId xmlns:a16="http://schemas.microsoft.com/office/drawing/2014/main" id="{B13B19EE-6719-49C8-A1A9-639FD6A37081}"/>
              </a:ext>
            </a:extLst>
          </p:cNvPr>
          <p:cNvSpPr>
            <a:spLocks xmlns:a="http://schemas.openxmlformats.org/drawingml/2006/main" noGrp="1"/>
          </p:cNvSpPr>
          <p:nvPr/>
        </p:nvSpPr>
        <p:spPr>
          <a:xfrm xmlns:a="http://schemas.openxmlformats.org/drawingml/2006/main">
            <a:off x="7905750" y="2419350"/>
            <a:ext cx="2667000" cy="209550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350">
                <a:solidFill>
                  <a:srgbClr val="2F3136"/>
                </a:solidFill>
              </a:defRPr>
            </a:pPr>
            <a:r>
              <a:t>• Forecasting : RMSE, MAE, MAPE, AIC • Warning : AUC, F1, Precision, Recall • Principe fort : un bon AIC n’implique pas un meilleur RMSE • Un signal peut être utile pour l’alerte sans battre le naïf en prévision.</a:t>
            </a:r>
          </a:p>
        </p:txBody>
      </p:sp>
      <p:sp>
        <p:nvSpPr>
          <p:cNvPr id="14" name="">
            <a:extLst xmlns:a="http://schemas.openxmlformats.org/drawingml/2006/main">
              <a:ext uri="{FF2B5EF4-FFF2-40B4-BE49-F238E27FC236}">
                <a16:creationId xmlns:a16="http://schemas.microsoft.com/office/drawing/2014/main" id="{B1AF554C-1C18-46D9-8C8F-5C82004CBEA0}"/>
              </a:ext>
            </a:extLst>
          </p:cNvPr>
          <p:cNvSpPr>
            <a:spLocks xmlns:a="http://schemas.openxmlformats.org/drawingml/2006/main" noGrp="1"/>
          </p:cNvSpPr>
          <p:nvPr/>
        </p:nvSpPr>
        <p:spPr>
          <a:xfrm xmlns:a="http://schemas.openxmlformats.org/drawingml/2006/main">
            <a:off x="685800" y="6477000"/>
            <a:ext cx="4762500" cy="1714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825">
                <a:solidFill>
                  <a:srgbClr val="6C6A66"/>
                </a:solidFill>
              </a:defRPr>
            </a:pPr>
            <a:r>
              <a:t>ENSAM Meknes • Méthodologie</a:t>
            </a:r>
          </a:p>
        </p:txBody>
      </p:sp>
      <p:sp>
        <p:nvSpPr>
          <p:cNvPr id="15" name="">
            <a:extLst xmlns:a="http://schemas.openxmlformats.org/drawingml/2006/main">
              <a:ext uri="{FF2B5EF4-FFF2-40B4-BE49-F238E27FC236}">
                <a16:creationId xmlns:a16="http://schemas.microsoft.com/office/drawing/2014/main" id="{9A3DBFCF-A49F-44E0-A589-836A02426B83}"/>
              </a:ext>
            </a:extLst>
          </p:cNvPr>
          <p:cNvSpPr>
            <a:spLocks xmlns:a="http://schemas.openxmlformats.org/drawingml/2006/main" noGrp="1"/>
          </p:cNvSpPr>
          <p:nvPr/>
        </p:nvSpPr>
        <p:spPr>
          <a:xfrm xmlns:a="http://schemas.openxmlformats.org/drawingml/2006/main">
            <a:off x="11049000" y="6477000"/>
            <a:ext cx="476250" cy="1714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lgn="r">
              <a:defRPr sz="825">
                <a:solidFill>
                  <a:srgbClr val="6C6A66"/>
                </a:solidFill>
              </a:defRPr>
            </a:pPr>
            <a:r>
              <a:t>10</a:t>
            </a:r>
          </a:p>
        </p:txBody>
      </p:sp>
    </p:spTree>
    <p:extLst>
      <p:ext uri="{BB962C8B-B14F-4D97-AF65-F5344CB8AC3E}">
        <p14:creationId xmlns:p14="http://schemas.microsoft.com/office/powerpoint/2010/main" val="1544822585"/>
      </p:ext>
    </p:extLst>
  </p:cSld>
</p:sld>
</file>

<file path=ppt/slides/slide11.xml><?xml version="1.0" encoding="utf-8"?>
<p:sld xmlns:p="http://schemas.openxmlformats.org/presentationml/2006/main">
  <p:cSld>
    <p:bg>
      <p:bgPr>
        <a:solidFill xmlns:a="http://schemas.openxmlformats.org/drawingml/2006/main">
          <a:srgbClr val="F6F1E7"/>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0058FB31-1D2C-4377-8151-D0BFA2DE0A30}"/>
              </a:ext>
            </a:extLst>
          </p:cNvPr>
          <p:cNvSpPr>
            <a:spLocks xmlns:a="http://schemas.openxmlformats.org/drawingml/2006/main" noGrp="1"/>
          </p:cNvSpPr>
          <p:nvPr/>
        </p:nvSpPr>
        <p:spPr>
          <a:xfrm xmlns:a="http://schemas.openxmlformats.org/drawingml/2006/main">
            <a:off x="876300" y="704850"/>
            <a:ext cx="9334500" cy="5905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2400" b="1">
                <a:solidFill>
                  <a:srgbClr val="223A5E"/>
                </a:solidFill>
              </a:defRPr>
            </a:pPr>
            <a:r>
              <a:t>Résultats de prévision</a:t>
            </a:r>
          </a:p>
        </p:txBody>
      </p:sp>
      <p:sp>
        <p:nvSpPr>
          <p:cNvPr id="2" name="">
            <a:extLst xmlns:a="http://schemas.openxmlformats.org/drawingml/2006/main">
              <a:ext uri="{FF2B5EF4-FFF2-40B4-BE49-F238E27FC236}">
                <a16:creationId xmlns:a16="http://schemas.microsoft.com/office/drawing/2014/main" id="{E947357C-8EC5-4362-91C4-9C7FFA7EBD53}"/>
              </a:ext>
            </a:extLst>
          </p:cNvPr>
          <p:cNvSpPr>
            <a:spLocks xmlns:a="http://schemas.openxmlformats.org/drawingml/2006/main" noGrp="1"/>
          </p:cNvSpPr>
          <p:nvPr/>
        </p:nvSpPr>
        <p:spPr>
          <a:xfrm xmlns:a="http://schemas.openxmlformats.org/drawingml/2006/main">
            <a:off x="876300" y="1295400"/>
            <a:ext cx="9334500" cy="2857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200" b="1">
                <a:solidFill>
                  <a:srgbClr val="C86F4D"/>
                </a:solidFill>
              </a:defRPr>
            </a:pPr>
            <a:r>
              <a:t>Le behavioral bat SARIMA, mais pas la baseline naïve</a:t>
            </a:r>
          </a:p>
        </p:txBody>
      </p:sp>
      <p:sp>
        <p:nvSpPr>
          <p:cNvPr id="3" name="">
            <a:extLst xmlns:a="http://schemas.openxmlformats.org/drawingml/2006/main">
              <a:ext uri="{FF2B5EF4-FFF2-40B4-BE49-F238E27FC236}">
                <a16:creationId xmlns:a16="http://schemas.microsoft.com/office/drawing/2014/main" id="{DFA3506B-CB2D-49AF-AF8F-F9E68B265E01}"/>
              </a:ext>
            </a:extLst>
          </p:cNvPr>
          <p:cNvSpPr>
            <a:spLocks xmlns:a="http://schemas.openxmlformats.org/drawingml/2006/main" noGrp="1"/>
          </p:cNvSpPr>
          <p:nvPr/>
        </p:nvSpPr>
        <p:spPr>
          <a:xfrm xmlns:a="http://schemas.openxmlformats.org/drawingml/2006/main">
            <a:off x="685800" y="6477000"/>
            <a:ext cx="4762500" cy="1714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825">
                <a:solidFill>
                  <a:srgbClr val="6C6A66"/>
                </a:solidFill>
              </a:defRPr>
            </a:pPr>
            <a:r>
              <a:t>ENSAM Meknes • BESI V3</a:t>
            </a:r>
          </a:p>
        </p:txBody>
      </p:sp>
      <p:sp>
        <p:nvSpPr>
          <p:cNvPr id="4" name="">
            <a:extLst xmlns:a="http://schemas.openxmlformats.org/drawingml/2006/main">
              <a:ext uri="{FF2B5EF4-FFF2-40B4-BE49-F238E27FC236}">
                <a16:creationId xmlns:a16="http://schemas.microsoft.com/office/drawing/2014/main" id="{804C77D6-5CCA-4A5E-8CD2-08017C599D86}"/>
              </a:ext>
            </a:extLst>
          </p:cNvPr>
          <p:cNvSpPr>
            <a:spLocks xmlns:a="http://schemas.openxmlformats.org/drawingml/2006/main" noGrp="1"/>
          </p:cNvSpPr>
          <p:nvPr/>
        </p:nvSpPr>
        <p:spPr>
          <a:xfrm xmlns:a="http://schemas.openxmlformats.org/drawingml/2006/main">
            <a:off x="11049000" y="6477000"/>
            <a:ext cx="476250" cy="1714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lgn="r">
              <a:defRPr sz="825">
                <a:solidFill>
                  <a:srgbClr val="6C6A66"/>
                </a:solidFill>
              </a:defRPr>
            </a:pPr>
            <a:r>
              <a:t>11</a:t>
            </a:r>
          </a:p>
        </p:txBody>
      </p:sp>
      <p:sp>
        <p:nvSpPr>
          <p:cNvPr id="5" name="">
            <a:extLst xmlns:a="http://schemas.openxmlformats.org/drawingml/2006/main">
              <a:ext uri="{FF2B5EF4-FFF2-40B4-BE49-F238E27FC236}">
                <a16:creationId xmlns:a16="http://schemas.microsoft.com/office/drawing/2014/main" id="{47B2DF81-31F3-463A-9788-34758FDE2C8C}"/>
              </a:ext>
            </a:extLst>
          </p:cNvPr>
          <p:cNvSpPr>
            <a:spLocks xmlns:a="http://schemas.openxmlformats.org/drawingml/2006/main" noGrp="1"/>
          </p:cNvSpPr>
          <p:nvPr/>
        </p:nvSpPr>
        <p:spPr>
          <a:xfrm xmlns:a="http://schemas.openxmlformats.org/drawingml/2006/main">
            <a:off x="876300" y="1790700"/>
            <a:ext cx="9525000" cy="1619250"/>
          </a:xfrm>
          <a:prstGeom xmlns:a="http://schemas.openxmlformats.org/drawingml/2006/main" prst="rect">
            <a:avLst/>
          </a:prstGeom>
          <a:solidFill xmlns:a="http://schemas.openxmlformats.org/drawingml/2006/main">
            <a:srgbClr val="FFFFFF"/>
          </a:solidFill>
          <a:ln xmlns:a="http://schemas.openxmlformats.org/drawingml/2006/main" w="9525">
            <a:solidFill>
              <a:srgbClr val="EEE4D3"/>
            </a:solidFill>
            <a:prstDash val="solid"/>
          </a:ln>
        </p:spPr>
      </p:sp>
      <p:sp>
        <p:nvSpPr>
          <p:cNvPr id="6" name="">
            <a:extLst xmlns:a="http://schemas.openxmlformats.org/drawingml/2006/main">
              <a:ext uri="{FF2B5EF4-FFF2-40B4-BE49-F238E27FC236}">
                <a16:creationId xmlns:a16="http://schemas.microsoft.com/office/drawing/2014/main" id="{50DE6A8C-AC3C-4028-AE24-AEA9EAC05CE0}"/>
              </a:ext>
            </a:extLst>
          </p:cNvPr>
          <p:cNvSpPr>
            <a:spLocks xmlns:a="http://schemas.openxmlformats.org/drawingml/2006/main" noGrp="1"/>
          </p:cNvSpPr>
          <p:nvPr/>
        </p:nvSpPr>
        <p:spPr>
          <a:xfrm xmlns:a="http://schemas.openxmlformats.org/drawingml/2006/main">
            <a:off x="876300" y="1790700"/>
            <a:ext cx="3238500" cy="323850"/>
          </a:xfrm>
          <a:prstGeom xmlns:a="http://schemas.openxmlformats.org/drawingml/2006/main" prst="rect">
            <a:avLst/>
          </a:prstGeom>
          <a:solidFill xmlns:a="http://schemas.openxmlformats.org/drawingml/2006/main">
            <a:srgbClr val="223A5E"/>
          </a:solidFill>
          <a:ln xmlns:a="http://schemas.openxmlformats.org/drawingml/2006/main" w="9525">
            <a:solidFill>
              <a:srgbClr val="223A5E"/>
            </a:solidFill>
            <a:prstDash val="solid"/>
          </a:ln>
        </p:spPr>
      </p:sp>
      <p:sp>
        <p:nvSpPr>
          <p:cNvPr id="7" name="">
            <a:extLst xmlns:a="http://schemas.openxmlformats.org/drawingml/2006/main">
              <a:ext uri="{FF2B5EF4-FFF2-40B4-BE49-F238E27FC236}">
                <a16:creationId xmlns:a16="http://schemas.microsoft.com/office/drawing/2014/main" id="{03A69DBD-9488-4611-BC10-124A2B93BBE2}"/>
              </a:ext>
            </a:extLst>
          </p:cNvPr>
          <p:cNvSpPr>
            <a:spLocks xmlns:a="http://schemas.openxmlformats.org/drawingml/2006/main" noGrp="1"/>
          </p:cNvSpPr>
          <p:nvPr/>
        </p:nvSpPr>
        <p:spPr>
          <a:xfrm xmlns:a="http://schemas.openxmlformats.org/drawingml/2006/main">
            <a:off x="952500" y="1857375"/>
            <a:ext cx="3086100" cy="19050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lgn="ctr">
              <a:defRPr sz="975" b="1">
                <a:solidFill>
                  <a:srgbClr val="FFFFFF"/>
                </a:solidFill>
              </a:defRPr>
            </a:pPr>
            <a:r>
              <a:t>Modèle</a:t>
            </a:r>
          </a:p>
        </p:txBody>
      </p:sp>
      <p:sp>
        <p:nvSpPr>
          <p:cNvPr id="8" name="">
            <a:extLst xmlns:a="http://schemas.openxmlformats.org/drawingml/2006/main">
              <a:ext uri="{FF2B5EF4-FFF2-40B4-BE49-F238E27FC236}">
                <a16:creationId xmlns:a16="http://schemas.microsoft.com/office/drawing/2014/main" id="{3D988BF9-0EB0-482A-8ECB-11A64FA9A1BE}"/>
              </a:ext>
            </a:extLst>
          </p:cNvPr>
          <p:cNvSpPr>
            <a:spLocks xmlns:a="http://schemas.openxmlformats.org/drawingml/2006/main" noGrp="1"/>
          </p:cNvSpPr>
          <p:nvPr/>
        </p:nvSpPr>
        <p:spPr>
          <a:xfrm xmlns:a="http://schemas.openxmlformats.org/drawingml/2006/main">
            <a:off x="4114800" y="1790700"/>
            <a:ext cx="1524000" cy="323850"/>
          </a:xfrm>
          <a:prstGeom xmlns:a="http://schemas.openxmlformats.org/drawingml/2006/main" prst="rect">
            <a:avLst/>
          </a:prstGeom>
          <a:solidFill xmlns:a="http://schemas.openxmlformats.org/drawingml/2006/main">
            <a:srgbClr val="223A5E"/>
          </a:solidFill>
          <a:ln xmlns:a="http://schemas.openxmlformats.org/drawingml/2006/main" w="9525">
            <a:solidFill>
              <a:srgbClr val="223A5E"/>
            </a:solidFill>
            <a:prstDash val="solid"/>
          </a:ln>
        </p:spPr>
      </p:sp>
      <p:sp>
        <p:nvSpPr>
          <p:cNvPr id="9" name="">
            <a:extLst xmlns:a="http://schemas.openxmlformats.org/drawingml/2006/main">
              <a:ext uri="{FF2B5EF4-FFF2-40B4-BE49-F238E27FC236}">
                <a16:creationId xmlns:a16="http://schemas.microsoft.com/office/drawing/2014/main" id="{707DE08B-0A92-4B63-9D91-2541F4EF4610}"/>
              </a:ext>
            </a:extLst>
          </p:cNvPr>
          <p:cNvSpPr>
            <a:spLocks xmlns:a="http://schemas.openxmlformats.org/drawingml/2006/main" noGrp="1"/>
          </p:cNvSpPr>
          <p:nvPr/>
        </p:nvSpPr>
        <p:spPr>
          <a:xfrm xmlns:a="http://schemas.openxmlformats.org/drawingml/2006/main">
            <a:off x="4191000" y="1857375"/>
            <a:ext cx="1371600" cy="19050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lgn="ctr">
              <a:defRPr sz="975" b="1">
                <a:solidFill>
                  <a:srgbClr val="FFFFFF"/>
                </a:solidFill>
              </a:defRPr>
            </a:pPr>
            <a:r>
              <a:t>RMSE</a:t>
            </a:r>
          </a:p>
        </p:txBody>
      </p:sp>
      <p:sp>
        <p:nvSpPr>
          <p:cNvPr id="10" name="">
            <a:extLst xmlns:a="http://schemas.openxmlformats.org/drawingml/2006/main">
              <a:ext uri="{FF2B5EF4-FFF2-40B4-BE49-F238E27FC236}">
                <a16:creationId xmlns:a16="http://schemas.microsoft.com/office/drawing/2014/main" id="{CDD02C02-7358-40D8-B3D4-89E68124B3FC}"/>
              </a:ext>
            </a:extLst>
          </p:cNvPr>
          <p:cNvSpPr>
            <a:spLocks xmlns:a="http://schemas.openxmlformats.org/drawingml/2006/main" noGrp="1"/>
          </p:cNvSpPr>
          <p:nvPr/>
        </p:nvSpPr>
        <p:spPr>
          <a:xfrm xmlns:a="http://schemas.openxmlformats.org/drawingml/2006/main">
            <a:off x="5638800" y="1790700"/>
            <a:ext cx="1524000" cy="323850"/>
          </a:xfrm>
          <a:prstGeom xmlns:a="http://schemas.openxmlformats.org/drawingml/2006/main" prst="rect">
            <a:avLst/>
          </a:prstGeom>
          <a:solidFill xmlns:a="http://schemas.openxmlformats.org/drawingml/2006/main">
            <a:srgbClr val="223A5E"/>
          </a:solidFill>
          <a:ln xmlns:a="http://schemas.openxmlformats.org/drawingml/2006/main" w="9525">
            <a:solidFill>
              <a:srgbClr val="223A5E"/>
            </a:solidFill>
            <a:prstDash val="solid"/>
          </a:ln>
        </p:spPr>
      </p:sp>
      <p:sp>
        <p:nvSpPr>
          <p:cNvPr id="11" name="">
            <a:extLst xmlns:a="http://schemas.openxmlformats.org/drawingml/2006/main">
              <a:ext uri="{FF2B5EF4-FFF2-40B4-BE49-F238E27FC236}">
                <a16:creationId xmlns:a16="http://schemas.microsoft.com/office/drawing/2014/main" id="{335DB0B0-BC27-46B3-944C-96274B915C68}"/>
              </a:ext>
            </a:extLst>
          </p:cNvPr>
          <p:cNvSpPr>
            <a:spLocks xmlns:a="http://schemas.openxmlformats.org/drawingml/2006/main" noGrp="1"/>
          </p:cNvSpPr>
          <p:nvPr/>
        </p:nvSpPr>
        <p:spPr>
          <a:xfrm xmlns:a="http://schemas.openxmlformats.org/drawingml/2006/main">
            <a:off x="5715000" y="1857375"/>
            <a:ext cx="1371600" cy="19050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lgn="ctr">
              <a:defRPr sz="975" b="1">
                <a:solidFill>
                  <a:srgbClr val="FFFFFF"/>
                </a:solidFill>
              </a:defRPr>
            </a:pPr>
            <a:r>
              <a:t>MAE</a:t>
            </a:r>
          </a:p>
        </p:txBody>
      </p:sp>
      <p:sp>
        <p:nvSpPr>
          <p:cNvPr id="12" name="">
            <a:extLst xmlns:a="http://schemas.openxmlformats.org/drawingml/2006/main">
              <a:ext uri="{FF2B5EF4-FFF2-40B4-BE49-F238E27FC236}">
                <a16:creationId xmlns:a16="http://schemas.microsoft.com/office/drawing/2014/main" id="{7E071B5B-8112-4FF7-8690-CAC74DFCFE1B}"/>
              </a:ext>
            </a:extLst>
          </p:cNvPr>
          <p:cNvSpPr>
            <a:spLocks xmlns:a="http://schemas.openxmlformats.org/drawingml/2006/main" noGrp="1"/>
          </p:cNvSpPr>
          <p:nvPr/>
        </p:nvSpPr>
        <p:spPr>
          <a:xfrm xmlns:a="http://schemas.openxmlformats.org/drawingml/2006/main">
            <a:off x="7162800" y="1790700"/>
            <a:ext cx="1524000" cy="323850"/>
          </a:xfrm>
          <a:prstGeom xmlns:a="http://schemas.openxmlformats.org/drawingml/2006/main" prst="rect">
            <a:avLst/>
          </a:prstGeom>
          <a:solidFill xmlns:a="http://schemas.openxmlformats.org/drawingml/2006/main">
            <a:srgbClr val="223A5E"/>
          </a:solidFill>
          <a:ln xmlns:a="http://schemas.openxmlformats.org/drawingml/2006/main" w="9525">
            <a:solidFill>
              <a:srgbClr val="223A5E"/>
            </a:solidFill>
            <a:prstDash val="solid"/>
          </a:ln>
        </p:spPr>
      </p:sp>
      <p:sp>
        <p:nvSpPr>
          <p:cNvPr id="13" name="">
            <a:extLst xmlns:a="http://schemas.openxmlformats.org/drawingml/2006/main">
              <a:ext uri="{FF2B5EF4-FFF2-40B4-BE49-F238E27FC236}">
                <a16:creationId xmlns:a16="http://schemas.microsoft.com/office/drawing/2014/main" id="{3F914ED3-0454-40FD-B224-5AA6F429869F}"/>
              </a:ext>
            </a:extLst>
          </p:cNvPr>
          <p:cNvSpPr>
            <a:spLocks xmlns:a="http://schemas.openxmlformats.org/drawingml/2006/main" noGrp="1"/>
          </p:cNvSpPr>
          <p:nvPr/>
        </p:nvSpPr>
        <p:spPr>
          <a:xfrm xmlns:a="http://schemas.openxmlformats.org/drawingml/2006/main">
            <a:off x="7239000" y="1857375"/>
            <a:ext cx="1371600" cy="19050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lgn="ctr">
              <a:defRPr sz="975" b="1">
                <a:solidFill>
                  <a:srgbClr val="FFFFFF"/>
                </a:solidFill>
              </a:defRPr>
            </a:pPr>
            <a:r>
              <a:t>MAPE</a:t>
            </a:r>
          </a:p>
        </p:txBody>
      </p:sp>
      <p:sp>
        <p:nvSpPr>
          <p:cNvPr id="14" name="">
            <a:extLst xmlns:a="http://schemas.openxmlformats.org/drawingml/2006/main">
              <a:ext uri="{FF2B5EF4-FFF2-40B4-BE49-F238E27FC236}">
                <a16:creationId xmlns:a16="http://schemas.microsoft.com/office/drawing/2014/main" id="{046A03D8-687C-4D1A-A861-C543BD5C20AF}"/>
              </a:ext>
            </a:extLst>
          </p:cNvPr>
          <p:cNvSpPr>
            <a:spLocks xmlns:a="http://schemas.openxmlformats.org/drawingml/2006/main" noGrp="1"/>
          </p:cNvSpPr>
          <p:nvPr/>
        </p:nvSpPr>
        <p:spPr>
          <a:xfrm xmlns:a="http://schemas.openxmlformats.org/drawingml/2006/main">
            <a:off x="8686800" y="1790700"/>
            <a:ext cx="1714500" cy="323850"/>
          </a:xfrm>
          <a:prstGeom xmlns:a="http://schemas.openxmlformats.org/drawingml/2006/main" prst="rect">
            <a:avLst/>
          </a:prstGeom>
          <a:solidFill xmlns:a="http://schemas.openxmlformats.org/drawingml/2006/main">
            <a:srgbClr val="223A5E"/>
          </a:solidFill>
          <a:ln xmlns:a="http://schemas.openxmlformats.org/drawingml/2006/main" w="9525">
            <a:solidFill>
              <a:srgbClr val="223A5E"/>
            </a:solidFill>
            <a:prstDash val="solid"/>
          </a:ln>
        </p:spPr>
      </p:sp>
      <p:sp>
        <p:nvSpPr>
          <p:cNvPr id="15" name="">
            <a:extLst xmlns:a="http://schemas.openxmlformats.org/drawingml/2006/main">
              <a:ext uri="{FF2B5EF4-FFF2-40B4-BE49-F238E27FC236}">
                <a16:creationId xmlns:a16="http://schemas.microsoft.com/office/drawing/2014/main" id="{21468FDA-30A6-45FA-A516-194B99117306}"/>
              </a:ext>
            </a:extLst>
          </p:cNvPr>
          <p:cNvSpPr>
            <a:spLocks xmlns:a="http://schemas.openxmlformats.org/drawingml/2006/main" noGrp="1"/>
          </p:cNvSpPr>
          <p:nvPr/>
        </p:nvSpPr>
        <p:spPr>
          <a:xfrm xmlns:a="http://schemas.openxmlformats.org/drawingml/2006/main">
            <a:off x="8763000" y="1857375"/>
            <a:ext cx="1562100" cy="19050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lgn="ctr">
              <a:defRPr sz="975" b="1">
                <a:solidFill>
                  <a:srgbClr val="FFFFFF"/>
                </a:solidFill>
              </a:defRPr>
            </a:pPr>
            <a:r>
              <a:t>Lecture</a:t>
            </a:r>
          </a:p>
        </p:txBody>
      </p:sp>
      <p:sp>
        <p:nvSpPr>
          <p:cNvPr id="16" name="">
            <a:extLst xmlns:a="http://schemas.openxmlformats.org/drawingml/2006/main">
              <a:ext uri="{FF2B5EF4-FFF2-40B4-BE49-F238E27FC236}">
                <a16:creationId xmlns:a16="http://schemas.microsoft.com/office/drawing/2014/main" id="{C0A581E4-F978-459A-A682-9CA970A2159B}"/>
              </a:ext>
            </a:extLst>
          </p:cNvPr>
          <p:cNvSpPr>
            <a:spLocks xmlns:a="http://schemas.openxmlformats.org/drawingml/2006/main" noGrp="1"/>
          </p:cNvSpPr>
          <p:nvPr/>
        </p:nvSpPr>
        <p:spPr>
          <a:xfrm xmlns:a="http://schemas.openxmlformats.org/drawingml/2006/main">
            <a:off x="876300" y="2114550"/>
            <a:ext cx="3238500" cy="323850"/>
          </a:xfrm>
          <a:prstGeom xmlns:a="http://schemas.openxmlformats.org/drawingml/2006/main" prst="rect">
            <a:avLst/>
          </a:prstGeom>
          <a:solidFill xmlns:a="http://schemas.openxmlformats.org/drawingml/2006/main">
            <a:srgbClr val="FBF8F2"/>
          </a:solidFill>
          <a:ln xmlns:a="http://schemas.openxmlformats.org/drawingml/2006/main" w="9525">
            <a:solidFill>
              <a:srgbClr val="EEE4D3"/>
            </a:solidFill>
            <a:prstDash val="solid"/>
          </a:ln>
        </p:spPr>
      </p:sp>
      <p:sp>
        <p:nvSpPr>
          <p:cNvPr id="17" name="">
            <a:extLst xmlns:a="http://schemas.openxmlformats.org/drawingml/2006/main">
              <a:ext uri="{FF2B5EF4-FFF2-40B4-BE49-F238E27FC236}">
                <a16:creationId xmlns:a16="http://schemas.microsoft.com/office/drawing/2014/main" id="{D79ECC16-079D-4F5E-89ED-23E3F3BC4078}"/>
              </a:ext>
            </a:extLst>
          </p:cNvPr>
          <p:cNvSpPr>
            <a:spLocks xmlns:a="http://schemas.openxmlformats.org/drawingml/2006/main" noGrp="1"/>
          </p:cNvSpPr>
          <p:nvPr/>
        </p:nvSpPr>
        <p:spPr>
          <a:xfrm xmlns:a="http://schemas.openxmlformats.org/drawingml/2006/main">
            <a:off x="952500" y="2181225"/>
            <a:ext cx="3086100" cy="19050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lgn="l">
              <a:defRPr sz="900">
                <a:solidFill>
                  <a:srgbClr val="2F3136"/>
                </a:solidFill>
              </a:defRPr>
            </a:pPr>
            <a:r>
              <a:t>Naïf</a:t>
            </a:r>
          </a:p>
        </p:txBody>
      </p:sp>
      <p:sp>
        <p:nvSpPr>
          <p:cNvPr id="18" name="">
            <a:extLst xmlns:a="http://schemas.openxmlformats.org/drawingml/2006/main">
              <a:ext uri="{FF2B5EF4-FFF2-40B4-BE49-F238E27FC236}">
                <a16:creationId xmlns:a16="http://schemas.microsoft.com/office/drawing/2014/main" id="{C225647B-E5C3-423D-B83E-13BB4B6E42E6}"/>
              </a:ext>
            </a:extLst>
          </p:cNvPr>
          <p:cNvSpPr>
            <a:spLocks xmlns:a="http://schemas.openxmlformats.org/drawingml/2006/main" noGrp="1"/>
          </p:cNvSpPr>
          <p:nvPr/>
        </p:nvSpPr>
        <p:spPr>
          <a:xfrm xmlns:a="http://schemas.openxmlformats.org/drawingml/2006/main">
            <a:off x="4114800" y="2114550"/>
            <a:ext cx="1524000" cy="323850"/>
          </a:xfrm>
          <a:prstGeom xmlns:a="http://schemas.openxmlformats.org/drawingml/2006/main" prst="rect">
            <a:avLst/>
          </a:prstGeom>
          <a:solidFill xmlns:a="http://schemas.openxmlformats.org/drawingml/2006/main">
            <a:srgbClr val="FBF8F2"/>
          </a:solidFill>
          <a:ln xmlns:a="http://schemas.openxmlformats.org/drawingml/2006/main" w="9525">
            <a:solidFill>
              <a:srgbClr val="EEE4D3"/>
            </a:solidFill>
            <a:prstDash val="solid"/>
          </a:ln>
        </p:spPr>
      </p:sp>
      <p:sp>
        <p:nvSpPr>
          <p:cNvPr id="19" name="">
            <a:extLst xmlns:a="http://schemas.openxmlformats.org/drawingml/2006/main">
              <a:ext uri="{FF2B5EF4-FFF2-40B4-BE49-F238E27FC236}">
                <a16:creationId xmlns:a16="http://schemas.microsoft.com/office/drawing/2014/main" id="{9E621335-3306-493C-8A8C-73237B97C0F0}"/>
              </a:ext>
            </a:extLst>
          </p:cNvPr>
          <p:cNvSpPr>
            <a:spLocks xmlns:a="http://schemas.openxmlformats.org/drawingml/2006/main" noGrp="1"/>
          </p:cNvSpPr>
          <p:nvPr/>
        </p:nvSpPr>
        <p:spPr>
          <a:xfrm xmlns:a="http://schemas.openxmlformats.org/drawingml/2006/main">
            <a:off x="4191000" y="2181225"/>
            <a:ext cx="1371600" cy="19050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lgn="ctr">
              <a:defRPr sz="900">
                <a:solidFill>
                  <a:srgbClr val="2F3136"/>
                </a:solidFill>
              </a:defRPr>
            </a:pPr>
            <a:r>
              <a:t>1.609</a:t>
            </a:r>
          </a:p>
        </p:txBody>
      </p:sp>
      <p:sp>
        <p:nvSpPr>
          <p:cNvPr id="20" name="">
            <a:extLst xmlns:a="http://schemas.openxmlformats.org/drawingml/2006/main">
              <a:ext uri="{FF2B5EF4-FFF2-40B4-BE49-F238E27FC236}">
                <a16:creationId xmlns:a16="http://schemas.microsoft.com/office/drawing/2014/main" id="{C487E2B3-9E69-406B-A80C-DC2EF7F39EAB}"/>
              </a:ext>
            </a:extLst>
          </p:cNvPr>
          <p:cNvSpPr>
            <a:spLocks xmlns:a="http://schemas.openxmlformats.org/drawingml/2006/main" noGrp="1"/>
          </p:cNvSpPr>
          <p:nvPr/>
        </p:nvSpPr>
        <p:spPr>
          <a:xfrm xmlns:a="http://schemas.openxmlformats.org/drawingml/2006/main">
            <a:off x="5638800" y="2114550"/>
            <a:ext cx="1524000" cy="323850"/>
          </a:xfrm>
          <a:prstGeom xmlns:a="http://schemas.openxmlformats.org/drawingml/2006/main" prst="rect">
            <a:avLst/>
          </a:prstGeom>
          <a:solidFill xmlns:a="http://schemas.openxmlformats.org/drawingml/2006/main">
            <a:srgbClr val="FBF8F2"/>
          </a:solidFill>
          <a:ln xmlns:a="http://schemas.openxmlformats.org/drawingml/2006/main" w="9525">
            <a:solidFill>
              <a:srgbClr val="EEE4D3"/>
            </a:solidFill>
            <a:prstDash val="solid"/>
          </a:ln>
        </p:spPr>
      </p:sp>
      <p:sp>
        <p:nvSpPr>
          <p:cNvPr id="21" name="">
            <a:extLst xmlns:a="http://schemas.openxmlformats.org/drawingml/2006/main">
              <a:ext uri="{FF2B5EF4-FFF2-40B4-BE49-F238E27FC236}">
                <a16:creationId xmlns:a16="http://schemas.microsoft.com/office/drawing/2014/main" id="{AD1D8EDE-6D43-4658-870C-A5D122929557}"/>
              </a:ext>
            </a:extLst>
          </p:cNvPr>
          <p:cNvSpPr>
            <a:spLocks xmlns:a="http://schemas.openxmlformats.org/drawingml/2006/main" noGrp="1"/>
          </p:cNvSpPr>
          <p:nvPr/>
        </p:nvSpPr>
        <p:spPr>
          <a:xfrm xmlns:a="http://schemas.openxmlformats.org/drawingml/2006/main">
            <a:off x="5715000" y="2181225"/>
            <a:ext cx="1371600" cy="19050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lgn="ctr">
              <a:defRPr sz="900">
                <a:solidFill>
                  <a:srgbClr val="2F3136"/>
                </a:solidFill>
              </a:defRPr>
            </a:pPr>
            <a:r>
              <a:t>1.200</a:t>
            </a:r>
          </a:p>
        </p:txBody>
      </p:sp>
      <p:sp>
        <p:nvSpPr>
          <p:cNvPr id="22" name="">
            <a:extLst xmlns:a="http://schemas.openxmlformats.org/drawingml/2006/main">
              <a:ext uri="{FF2B5EF4-FFF2-40B4-BE49-F238E27FC236}">
                <a16:creationId xmlns:a16="http://schemas.microsoft.com/office/drawing/2014/main" id="{B44FF984-B01D-4591-BD3E-2F89C68F153D}"/>
              </a:ext>
            </a:extLst>
          </p:cNvPr>
          <p:cNvSpPr>
            <a:spLocks xmlns:a="http://schemas.openxmlformats.org/drawingml/2006/main" noGrp="1"/>
          </p:cNvSpPr>
          <p:nvPr/>
        </p:nvSpPr>
        <p:spPr>
          <a:xfrm xmlns:a="http://schemas.openxmlformats.org/drawingml/2006/main">
            <a:off x="7162800" y="2114550"/>
            <a:ext cx="1524000" cy="323850"/>
          </a:xfrm>
          <a:prstGeom xmlns:a="http://schemas.openxmlformats.org/drawingml/2006/main" prst="rect">
            <a:avLst/>
          </a:prstGeom>
          <a:solidFill xmlns:a="http://schemas.openxmlformats.org/drawingml/2006/main">
            <a:srgbClr val="FBF8F2"/>
          </a:solidFill>
          <a:ln xmlns:a="http://schemas.openxmlformats.org/drawingml/2006/main" w="9525">
            <a:solidFill>
              <a:srgbClr val="EEE4D3"/>
            </a:solidFill>
            <a:prstDash val="solid"/>
          </a:ln>
        </p:spPr>
      </p:sp>
      <p:sp>
        <p:nvSpPr>
          <p:cNvPr id="23" name="">
            <a:extLst xmlns:a="http://schemas.openxmlformats.org/drawingml/2006/main">
              <a:ext uri="{FF2B5EF4-FFF2-40B4-BE49-F238E27FC236}">
                <a16:creationId xmlns:a16="http://schemas.microsoft.com/office/drawing/2014/main" id="{EC7BFABB-95B6-40C9-96F3-CBE4C6DC74EC}"/>
              </a:ext>
            </a:extLst>
          </p:cNvPr>
          <p:cNvSpPr>
            <a:spLocks xmlns:a="http://schemas.openxmlformats.org/drawingml/2006/main" noGrp="1"/>
          </p:cNvSpPr>
          <p:nvPr/>
        </p:nvSpPr>
        <p:spPr>
          <a:xfrm xmlns:a="http://schemas.openxmlformats.org/drawingml/2006/main">
            <a:off x="7239000" y="2181225"/>
            <a:ext cx="1371600" cy="19050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lgn="ctr">
              <a:defRPr sz="900">
                <a:solidFill>
                  <a:srgbClr val="2F3136"/>
                </a:solidFill>
              </a:defRPr>
            </a:pPr>
            <a:r>
              <a:t>1.06%</a:t>
            </a:r>
          </a:p>
        </p:txBody>
      </p:sp>
      <p:sp>
        <p:nvSpPr>
          <p:cNvPr id="24" name="">
            <a:extLst xmlns:a="http://schemas.openxmlformats.org/drawingml/2006/main">
              <a:ext uri="{FF2B5EF4-FFF2-40B4-BE49-F238E27FC236}">
                <a16:creationId xmlns:a16="http://schemas.microsoft.com/office/drawing/2014/main" id="{378DC024-2DF3-46BE-BC3B-B8E4F523983D}"/>
              </a:ext>
            </a:extLst>
          </p:cNvPr>
          <p:cNvSpPr>
            <a:spLocks xmlns:a="http://schemas.openxmlformats.org/drawingml/2006/main" noGrp="1"/>
          </p:cNvSpPr>
          <p:nvPr/>
        </p:nvSpPr>
        <p:spPr>
          <a:xfrm xmlns:a="http://schemas.openxmlformats.org/drawingml/2006/main">
            <a:off x="8686800" y="2114550"/>
            <a:ext cx="1714500" cy="323850"/>
          </a:xfrm>
          <a:prstGeom xmlns:a="http://schemas.openxmlformats.org/drawingml/2006/main" prst="rect">
            <a:avLst/>
          </a:prstGeom>
          <a:solidFill xmlns:a="http://schemas.openxmlformats.org/drawingml/2006/main">
            <a:srgbClr val="FBF8F2"/>
          </a:solidFill>
          <a:ln xmlns:a="http://schemas.openxmlformats.org/drawingml/2006/main" w="9525">
            <a:solidFill>
              <a:srgbClr val="EEE4D3"/>
            </a:solidFill>
            <a:prstDash val="solid"/>
          </a:ln>
        </p:spPr>
      </p:sp>
      <p:sp>
        <p:nvSpPr>
          <p:cNvPr id="25" name="">
            <a:extLst xmlns:a="http://schemas.openxmlformats.org/drawingml/2006/main">
              <a:ext uri="{FF2B5EF4-FFF2-40B4-BE49-F238E27FC236}">
                <a16:creationId xmlns:a16="http://schemas.microsoft.com/office/drawing/2014/main" id="{C1181DBE-731E-463C-AB19-1934F5350E9E}"/>
              </a:ext>
            </a:extLst>
          </p:cNvPr>
          <p:cNvSpPr>
            <a:spLocks xmlns:a="http://schemas.openxmlformats.org/drawingml/2006/main" noGrp="1"/>
          </p:cNvSpPr>
          <p:nvPr/>
        </p:nvSpPr>
        <p:spPr>
          <a:xfrm xmlns:a="http://schemas.openxmlformats.org/drawingml/2006/main">
            <a:off x="8763000" y="2181225"/>
            <a:ext cx="1562100" cy="19050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lgn="ctr">
              <a:defRPr sz="900">
                <a:solidFill>
                  <a:srgbClr val="2F3136"/>
                </a:solidFill>
              </a:defRPr>
            </a:pPr>
            <a:r>
              <a:t>Meilleur RMSE global</a:t>
            </a:r>
          </a:p>
        </p:txBody>
      </p:sp>
      <p:sp>
        <p:nvSpPr>
          <p:cNvPr id="26" name="">
            <a:extLst xmlns:a="http://schemas.openxmlformats.org/drawingml/2006/main">
              <a:ext uri="{FF2B5EF4-FFF2-40B4-BE49-F238E27FC236}">
                <a16:creationId xmlns:a16="http://schemas.microsoft.com/office/drawing/2014/main" id="{205A7FA8-0B76-441C-A182-641D869CECCE}"/>
              </a:ext>
            </a:extLst>
          </p:cNvPr>
          <p:cNvSpPr>
            <a:spLocks xmlns:a="http://schemas.openxmlformats.org/drawingml/2006/main" noGrp="1"/>
          </p:cNvSpPr>
          <p:nvPr/>
        </p:nvSpPr>
        <p:spPr>
          <a:xfrm xmlns:a="http://schemas.openxmlformats.org/drawingml/2006/main">
            <a:off x="876300" y="2438400"/>
            <a:ext cx="3238500" cy="323850"/>
          </a:xfrm>
          <a:prstGeom xmlns:a="http://schemas.openxmlformats.org/drawingml/2006/main" prst="rect">
            <a:avLst/>
          </a:prstGeom>
          <a:solidFill xmlns:a="http://schemas.openxmlformats.org/drawingml/2006/main">
            <a:srgbClr val="FFFFFF"/>
          </a:solidFill>
          <a:ln xmlns:a="http://schemas.openxmlformats.org/drawingml/2006/main" w="9525">
            <a:solidFill>
              <a:srgbClr val="EEE4D3"/>
            </a:solidFill>
            <a:prstDash val="solid"/>
          </a:ln>
        </p:spPr>
      </p:sp>
      <p:sp>
        <p:nvSpPr>
          <p:cNvPr id="27" name="">
            <a:extLst xmlns:a="http://schemas.openxmlformats.org/drawingml/2006/main">
              <a:ext uri="{FF2B5EF4-FFF2-40B4-BE49-F238E27FC236}">
                <a16:creationId xmlns:a16="http://schemas.microsoft.com/office/drawing/2014/main" id="{9B8CFD3A-435A-4333-9BED-39B771CA6AB2}"/>
              </a:ext>
            </a:extLst>
          </p:cNvPr>
          <p:cNvSpPr>
            <a:spLocks xmlns:a="http://schemas.openxmlformats.org/drawingml/2006/main" noGrp="1"/>
          </p:cNvSpPr>
          <p:nvPr/>
        </p:nvSpPr>
        <p:spPr>
          <a:xfrm xmlns:a="http://schemas.openxmlformats.org/drawingml/2006/main">
            <a:off x="952500" y="2505075"/>
            <a:ext cx="3086100" cy="19050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lgn="l">
              <a:defRPr sz="900">
                <a:solidFill>
                  <a:srgbClr val="2F3136"/>
                </a:solidFill>
              </a:defRPr>
            </a:pPr>
            <a:r>
              <a:t>SARIMA</a:t>
            </a:r>
          </a:p>
        </p:txBody>
      </p:sp>
      <p:sp>
        <p:nvSpPr>
          <p:cNvPr id="28" name="">
            <a:extLst xmlns:a="http://schemas.openxmlformats.org/drawingml/2006/main">
              <a:ext uri="{FF2B5EF4-FFF2-40B4-BE49-F238E27FC236}">
                <a16:creationId xmlns:a16="http://schemas.microsoft.com/office/drawing/2014/main" id="{D819C31B-C3C8-459F-B16A-591A50744300}"/>
              </a:ext>
            </a:extLst>
          </p:cNvPr>
          <p:cNvSpPr>
            <a:spLocks xmlns:a="http://schemas.openxmlformats.org/drawingml/2006/main" noGrp="1"/>
          </p:cNvSpPr>
          <p:nvPr/>
        </p:nvSpPr>
        <p:spPr>
          <a:xfrm xmlns:a="http://schemas.openxmlformats.org/drawingml/2006/main">
            <a:off x="4114800" y="2438400"/>
            <a:ext cx="1524000" cy="323850"/>
          </a:xfrm>
          <a:prstGeom xmlns:a="http://schemas.openxmlformats.org/drawingml/2006/main" prst="rect">
            <a:avLst/>
          </a:prstGeom>
          <a:solidFill xmlns:a="http://schemas.openxmlformats.org/drawingml/2006/main">
            <a:srgbClr val="FFFFFF"/>
          </a:solidFill>
          <a:ln xmlns:a="http://schemas.openxmlformats.org/drawingml/2006/main" w="9525">
            <a:solidFill>
              <a:srgbClr val="EEE4D3"/>
            </a:solidFill>
            <a:prstDash val="solid"/>
          </a:ln>
        </p:spPr>
      </p:sp>
      <p:sp>
        <p:nvSpPr>
          <p:cNvPr id="29" name="">
            <a:extLst xmlns:a="http://schemas.openxmlformats.org/drawingml/2006/main">
              <a:ext uri="{FF2B5EF4-FFF2-40B4-BE49-F238E27FC236}">
                <a16:creationId xmlns:a16="http://schemas.microsoft.com/office/drawing/2014/main" id="{EB1D5159-09D0-4828-8ED9-ACD7E3AD8444}"/>
              </a:ext>
            </a:extLst>
          </p:cNvPr>
          <p:cNvSpPr>
            <a:spLocks xmlns:a="http://schemas.openxmlformats.org/drawingml/2006/main" noGrp="1"/>
          </p:cNvSpPr>
          <p:nvPr/>
        </p:nvSpPr>
        <p:spPr>
          <a:xfrm xmlns:a="http://schemas.openxmlformats.org/drawingml/2006/main">
            <a:off x="4191000" y="2505075"/>
            <a:ext cx="1371600" cy="19050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lgn="ctr">
              <a:defRPr sz="900">
                <a:solidFill>
                  <a:srgbClr val="2F3136"/>
                </a:solidFill>
              </a:defRPr>
            </a:pPr>
            <a:r>
              <a:t>1.923</a:t>
            </a:r>
          </a:p>
        </p:txBody>
      </p:sp>
      <p:sp>
        <p:nvSpPr>
          <p:cNvPr id="30" name="">
            <a:extLst xmlns:a="http://schemas.openxmlformats.org/drawingml/2006/main">
              <a:ext uri="{FF2B5EF4-FFF2-40B4-BE49-F238E27FC236}">
                <a16:creationId xmlns:a16="http://schemas.microsoft.com/office/drawing/2014/main" id="{3599C303-A36D-447F-B63A-777800A6DC87}"/>
              </a:ext>
            </a:extLst>
          </p:cNvPr>
          <p:cNvSpPr>
            <a:spLocks xmlns:a="http://schemas.openxmlformats.org/drawingml/2006/main" noGrp="1"/>
          </p:cNvSpPr>
          <p:nvPr/>
        </p:nvSpPr>
        <p:spPr>
          <a:xfrm xmlns:a="http://schemas.openxmlformats.org/drawingml/2006/main">
            <a:off x="5638800" y="2438400"/>
            <a:ext cx="1524000" cy="323850"/>
          </a:xfrm>
          <a:prstGeom xmlns:a="http://schemas.openxmlformats.org/drawingml/2006/main" prst="rect">
            <a:avLst/>
          </a:prstGeom>
          <a:solidFill xmlns:a="http://schemas.openxmlformats.org/drawingml/2006/main">
            <a:srgbClr val="FFFFFF"/>
          </a:solidFill>
          <a:ln xmlns:a="http://schemas.openxmlformats.org/drawingml/2006/main" w="9525">
            <a:solidFill>
              <a:srgbClr val="EEE4D3"/>
            </a:solidFill>
            <a:prstDash val="solid"/>
          </a:ln>
        </p:spPr>
      </p:sp>
      <p:sp>
        <p:nvSpPr>
          <p:cNvPr id="31" name="">
            <a:extLst xmlns:a="http://schemas.openxmlformats.org/drawingml/2006/main">
              <a:ext uri="{FF2B5EF4-FFF2-40B4-BE49-F238E27FC236}">
                <a16:creationId xmlns:a16="http://schemas.microsoft.com/office/drawing/2014/main" id="{3EB590AB-1CED-434F-86C2-D2A0C24055DE}"/>
              </a:ext>
            </a:extLst>
          </p:cNvPr>
          <p:cNvSpPr>
            <a:spLocks xmlns:a="http://schemas.openxmlformats.org/drawingml/2006/main" noGrp="1"/>
          </p:cNvSpPr>
          <p:nvPr/>
        </p:nvSpPr>
        <p:spPr>
          <a:xfrm xmlns:a="http://schemas.openxmlformats.org/drawingml/2006/main">
            <a:off x="5715000" y="2505075"/>
            <a:ext cx="1371600" cy="19050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lgn="ctr">
              <a:defRPr sz="900">
                <a:solidFill>
                  <a:srgbClr val="2F3136"/>
                </a:solidFill>
              </a:defRPr>
            </a:pPr>
            <a:r>
              <a:t>1.537</a:t>
            </a:r>
          </a:p>
        </p:txBody>
      </p:sp>
      <p:sp>
        <p:nvSpPr>
          <p:cNvPr id="32" name="">
            <a:extLst xmlns:a="http://schemas.openxmlformats.org/drawingml/2006/main">
              <a:ext uri="{FF2B5EF4-FFF2-40B4-BE49-F238E27FC236}">
                <a16:creationId xmlns:a16="http://schemas.microsoft.com/office/drawing/2014/main" id="{2E2765F0-EDC5-46A9-A525-2B64F28A1664}"/>
              </a:ext>
            </a:extLst>
          </p:cNvPr>
          <p:cNvSpPr>
            <a:spLocks xmlns:a="http://schemas.openxmlformats.org/drawingml/2006/main" noGrp="1"/>
          </p:cNvSpPr>
          <p:nvPr/>
        </p:nvSpPr>
        <p:spPr>
          <a:xfrm xmlns:a="http://schemas.openxmlformats.org/drawingml/2006/main">
            <a:off x="7162800" y="2438400"/>
            <a:ext cx="1524000" cy="323850"/>
          </a:xfrm>
          <a:prstGeom xmlns:a="http://schemas.openxmlformats.org/drawingml/2006/main" prst="rect">
            <a:avLst/>
          </a:prstGeom>
          <a:solidFill xmlns:a="http://schemas.openxmlformats.org/drawingml/2006/main">
            <a:srgbClr val="FFFFFF"/>
          </a:solidFill>
          <a:ln xmlns:a="http://schemas.openxmlformats.org/drawingml/2006/main" w="9525">
            <a:solidFill>
              <a:srgbClr val="EEE4D3"/>
            </a:solidFill>
            <a:prstDash val="solid"/>
          </a:ln>
        </p:spPr>
      </p:sp>
      <p:sp>
        <p:nvSpPr>
          <p:cNvPr id="33" name="">
            <a:extLst xmlns:a="http://schemas.openxmlformats.org/drawingml/2006/main">
              <a:ext uri="{FF2B5EF4-FFF2-40B4-BE49-F238E27FC236}">
                <a16:creationId xmlns:a16="http://schemas.microsoft.com/office/drawing/2014/main" id="{664D9C4C-A55C-4AA8-8200-FD835584340F}"/>
              </a:ext>
            </a:extLst>
          </p:cNvPr>
          <p:cNvSpPr>
            <a:spLocks xmlns:a="http://schemas.openxmlformats.org/drawingml/2006/main" noGrp="1"/>
          </p:cNvSpPr>
          <p:nvPr/>
        </p:nvSpPr>
        <p:spPr>
          <a:xfrm xmlns:a="http://schemas.openxmlformats.org/drawingml/2006/main">
            <a:off x="7239000" y="2505075"/>
            <a:ext cx="1371600" cy="19050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lgn="ctr">
              <a:defRPr sz="900">
                <a:solidFill>
                  <a:srgbClr val="2F3136"/>
                </a:solidFill>
              </a:defRPr>
            </a:pPr>
            <a:r>
              <a:t>1.38%</a:t>
            </a:r>
          </a:p>
        </p:txBody>
      </p:sp>
      <p:sp>
        <p:nvSpPr>
          <p:cNvPr id="34" name="">
            <a:extLst xmlns:a="http://schemas.openxmlformats.org/drawingml/2006/main">
              <a:ext uri="{FF2B5EF4-FFF2-40B4-BE49-F238E27FC236}">
                <a16:creationId xmlns:a16="http://schemas.microsoft.com/office/drawing/2014/main" id="{FF3F511A-7319-4A62-98BE-0F51A6892AF9}"/>
              </a:ext>
            </a:extLst>
          </p:cNvPr>
          <p:cNvSpPr>
            <a:spLocks xmlns:a="http://schemas.openxmlformats.org/drawingml/2006/main" noGrp="1"/>
          </p:cNvSpPr>
          <p:nvPr/>
        </p:nvSpPr>
        <p:spPr>
          <a:xfrm xmlns:a="http://schemas.openxmlformats.org/drawingml/2006/main">
            <a:off x="8686800" y="2438400"/>
            <a:ext cx="1714500" cy="323850"/>
          </a:xfrm>
          <a:prstGeom xmlns:a="http://schemas.openxmlformats.org/drawingml/2006/main" prst="rect">
            <a:avLst/>
          </a:prstGeom>
          <a:solidFill xmlns:a="http://schemas.openxmlformats.org/drawingml/2006/main">
            <a:srgbClr val="FFFFFF"/>
          </a:solidFill>
          <a:ln xmlns:a="http://schemas.openxmlformats.org/drawingml/2006/main" w="9525">
            <a:solidFill>
              <a:srgbClr val="EEE4D3"/>
            </a:solidFill>
            <a:prstDash val="solid"/>
          </a:ln>
        </p:spPr>
      </p:sp>
      <p:sp>
        <p:nvSpPr>
          <p:cNvPr id="35" name="">
            <a:extLst xmlns:a="http://schemas.openxmlformats.org/drawingml/2006/main">
              <a:ext uri="{FF2B5EF4-FFF2-40B4-BE49-F238E27FC236}">
                <a16:creationId xmlns:a16="http://schemas.microsoft.com/office/drawing/2014/main" id="{72F52266-5A4A-413A-9330-8080A66ADEED}"/>
              </a:ext>
            </a:extLst>
          </p:cNvPr>
          <p:cNvSpPr>
            <a:spLocks xmlns:a="http://schemas.openxmlformats.org/drawingml/2006/main" noGrp="1"/>
          </p:cNvSpPr>
          <p:nvPr/>
        </p:nvSpPr>
        <p:spPr>
          <a:xfrm xmlns:a="http://schemas.openxmlformats.org/drawingml/2006/main">
            <a:off x="8763000" y="2505075"/>
            <a:ext cx="1562100" cy="19050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lgn="ctr">
              <a:defRPr sz="900">
                <a:solidFill>
                  <a:srgbClr val="2F3136"/>
                </a:solidFill>
              </a:defRPr>
            </a:pPr>
            <a:r>
              <a:t>Référence ARIMA</a:t>
            </a:r>
          </a:p>
        </p:txBody>
      </p:sp>
      <p:sp>
        <p:nvSpPr>
          <p:cNvPr id="36" name="">
            <a:extLst xmlns:a="http://schemas.openxmlformats.org/drawingml/2006/main">
              <a:ext uri="{FF2B5EF4-FFF2-40B4-BE49-F238E27FC236}">
                <a16:creationId xmlns:a16="http://schemas.microsoft.com/office/drawing/2014/main" id="{D34D5524-77BD-4FF1-BEC0-2EE90E78E7E6}"/>
              </a:ext>
            </a:extLst>
          </p:cNvPr>
          <p:cNvSpPr>
            <a:spLocks xmlns:a="http://schemas.openxmlformats.org/drawingml/2006/main" noGrp="1"/>
          </p:cNvSpPr>
          <p:nvPr/>
        </p:nvSpPr>
        <p:spPr>
          <a:xfrm xmlns:a="http://schemas.openxmlformats.org/drawingml/2006/main">
            <a:off x="876300" y="2762250"/>
            <a:ext cx="3238500" cy="323850"/>
          </a:xfrm>
          <a:prstGeom xmlns:a="http://schemas.openxmlformats.org/drawingml/2006/main" prst="rect">
            <a:avLst/>
          </a:prstGeom>
          <a:solidFill xmlns:a="http://schemas.openxmlformats.org/drawingml/2006/main">
            <a:srgbClr val="FBF8F2"/>
          </a:solidFill>
          <a:ln xmlns:a="http://schemas.openxmlformats.org/drawingml/2006/main" w="9525">
            <a:solidFill>
              <a:srgbClr val="EEE4D3"/>
            </a:solidFill>
            <a:prstDash val="solid"/>
          </a:ln>
        </p:spPr>
      </p:sp>
      <p:sp>
        <p:nvSpPr>
          <p:cNvPr id="37" name="">
            <a:extLst xmlns:a="http://schemas.openxmlformats.org/drawingml/2006/main">
              <a:ext uri="{FF2B5EF4-FFF2-40B4-BE49-F238E27FC236}">
                <a16:creationId xmlns:a16="http://schemas.microsoft.com/office/drawing/2014/main" id="{20B68FF0-FC68-40D3-A37C-2B226E597B09}"/>
              </a:ext>
            </a:extLst>
          </p:cNvPr>
          <p:cNvSpPr>
            <a:spLocks xmlns:a="http://schemas.openxmlformats.org/drawingml/2006/main" noGrp="1"/>
          </p:cNvSpPr>
          <p:nvPr/>
        </p:nvSpPr>
        <p:spPr>
          <a:xfrm xmlns:a="http://schemas.openxmlformats.org/drawingml/2006/main">
            <a:off x="952500" y="2828925"/>
            <a:ext cx="3086100" cy="19050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lgn="l">
              <a:defRPr sz="900">
                <a:solidFill>
                  <a:srgbClr val="2F3136"/>
                </a:solidFill>
              </a:defRPr>
            </a:pPr>
            <a:r>
              <a:t>SARIMAX + BESI behavioral</a:t>
            </a:r>
          </a:p>
        </p:txBody>
      </p:sp>
      <p:sp>
        <p:nvSpPr>
          <p:cNvPr id="38" name="">
            <a:extLst xmlns:a="http://schemas.openxmlformats.org/drawingml/2006/main">
              <a:ext uri="{FF2B5EF4-FFF2-40B4-BE49-F238E27FC236}">
                <a16:creationId xmlns:a16="http://schemas.microsoft.com/office/drawing/2014/main" id="{FECBC7EB-1399-4F01-AD09-A99ED6C4D7AD}"/>
              </a:ext>
            </a:extLst>
          </p:cNvPr>
          <p:cNvSpPr>
            <a:spLocks xmlns:a="http://schemas.openxmlformats.org/drawingml/2006/main" noGrp="1"/>
          </p:cNvSpPr>
          <p:nvPr/>
        </p:nvSpPr>
        <p:spPr>
          <a:xfrm xmlns:a="http://schemas.openxmlformats.org/drawingml/2006/main">
            <a:off x="4114800" y="2762250"/>
            <a:ext cx="1524000" cy="323850"/>
          </a:xfrm>
          <a:prstGeom xmlns:a="http://schemas.openxmlformats.org/drawingml/2006/main" prst="rect">
            <a:avLst/>
          </a:prstGeom>
          <a:solidFill xmlns:a="http://schemas.openxmlformats.org/drawingml/2006/main">
            <a:srgbClr val="FBF8F2"/>
          </a:solidFill>
          <a:ln xmlns:a="http://schemas.openxmlformats.org/drawingml/2006/main" w="9525">
            <a:solidFill>
              <a:srgbClr val="EEE4D3"/>
            </a:solidFill>
            <a:prstDash val="solid"/>
          </a:ln>
        </p:spPr>
      </p:sp>
      <p:sp>
        <p:nvSpPr>
          <p:cNvPr id="39" name="">
            <a:extLst xmlns:a="http://schemas.openxmlformats.org/drawingml/2006/main">
              <a:ext uri="{FF2B5EF4-FFF2-40B4-BE49-F238E27FC236}">
                <a16:creationId xmlns:a16="http://schemas.microsoft.com/office/drawing/2014/main" id="{C24C9788-C6C1-4C96-BB9A-1B1AE91785B9}"/>
              </a:ext>
            </a:extLst>
          </p:cNvPr>
          <p:cNvSpPr>
            <a:spLocks xmlns:a="http://schemas.openxmlformats.org/drawingml/2006/main" noGrp="1"/>
          </p:cNvSpPr>
          <p:nvPr/>
        </p:nvSpPr>
        <p:spPr>
          <a:xfrm xmlns:a="http://schemas.openxmlformats.org/drawingml/2006/main">
            <a:off x="4191000" y="2828925"/>
            <a:ext cx="1371600" cy="19050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lgn="ctr">
              <a:defRPr sz="900">
                <a:solidFill>
                  <a:srgbClr val="2F3136"/>
                </a:solidFill>
              </a:defRPr>
            </a:pPr>
            <a:r>
              <a:t>1.891</a:t>
            </a:r>
          </a:p>
        </p:txBody>
      </p:sp>
      <p:sp>
        <p:nvSpPr>
          <p:cNvPr id="40" name="">
            <a:extLst xmlns:a="http://schemas.openxmlformats.org/drawingml/2006/main">
              <a:ext uri="{FF2B5EF4-FFF2-40B4-BE49-F238E27FC236}">
                <a16:creationId xmlns:a16="http://schemas.microsoft.com/office/drawing/2014/main" id="{2F2301D1-31AF-4CDE-9863-8184C0FBC562}"/>
              </a:ext>
            </a:extLst>
          </p:cNvPr>
          <p:cNvSpPr>
            <a:spLocks xmlns:a="http://schemas.openxmlformats.org/drawingml/2006/main" noGrp="1"/>
          </p:cNvSpPr>
          <p:nvPr/>
        </p:nvSpPr>
        <p:spPr>
          <a:xfrm xmlns:a="http://schemas.openxmlformats.org/drawingml/2006/main">
            <a:off x="5638800" y="2762250"/>
            <a:ext cx="1524000" cy="323850"/>
          </a:xfrm>
          <a:prstGeom xmlns:a="http://schemas.openxmlformats.org/drawingml/2006/main" prst="rect">
            <a:avLst/>
          </a:prstGeom>
          <a:solidFill xmlns:a="http://schemas.openxmlformats.org/drawingml/2006/main">
            <a:srgbClr val="FBF8F2"/>
          </a:solidFill>
          <a:ln xmlns:a="http://schemas.openxmlformats.org/drawingml/2006/main" w="9525">
            <a:solidFill>
              <a:srgbClr val="EEE4D3"/>
            </a:solidFill>
            <a:prstDash val="solid"/>
          </a:ln>
        </p:spPr>
      </p:sp>
      <p:sp>
        <p:nvSpPr>
          <p:cNvPr id="41" name="">
            <a:extLst xmlns:a="http://schemas.openxmlformats.org/drawingml/2006/main">
              <a:ext uri="{FF2B5EF4-FFF2-40B4-BE49-F238E27FC236}">
                <a16:creationId xmlns:a16="http://schemas.microsoft.com/office/drawing/2014/main" id="{CB9FC931-B03E-4ECB-AE99-F62580C4F54F}"/>
              </a:ext>
            </a:extLst>
          </p:cNvPr>
          <p:cNvSpPr>
            <a:spLocks xmlns:a="http://schemas.openxmlformats.org/drawingml/2006/main" noGrp="1"/>
          </p:cNvSpPr>
          <p:nvPr/>
        </p:nvSpPr>
        <p:spPr>
          <a:xfrm xmlns:a="http://schemas.openxmlformats.org/drawingml/2006/main">
            <a:off x="5715000" y="2828925"/>
            <a:ext cx="1371600" cy="19050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lgn="ctr">
              <a:defRPr sz="900">
                <a:solidFill>
                  <a:srgbClr val="2F3136"/>
                </a:solidFill>
              </a:defRPr>
            </a:pPr>
            <a:r>
              <a:t>1.522</a:t>
            </a:r>
          </a:p>
        </p:txBody>
      </p:sp>
      <p:sp>
        <p:nvSpPr>
          <p:cNvPr id="42" name="">
            <a:extLst xmlns:a="http://schemas.openxmlformats.org/drawingml/2006/main">
              <a:ext uri="{FF2B5EF4-FFF2-40B4-BE49-F238E27FC236}">
                <a16:creationId xmlns:a16="http://schemas.microsoft.com/office/drawing/2014/main" id="{B4CB20C5-FEC9-47AF-98C3-C11A28B11914}"/>
              </a:ext>
            </a:extLst>
          </p:cNvPr>
          <p:cNvSpPr>
            <a:spLocks xmlns:a="http://schemas.openxmlformats.org/drawingml/2006/main" noGrp="1"/>
          </p:cNvSpPr>
          <p:nvPr/>
        </p:nvSpPr>
        <p:spPr>
          <a:xfrm xmlns:a="http://schemas.openxmlformats.org/drawingml/2006/main">
            <a:off x="7162800" y="2762250"/>
            <a:ext cx="1524000" cy="323850"/>
          </a:xfrm>
          <a:prstGeom xmlns:a="http://schemas.openxmlformats.org/drawingml/2006/main" prst="rect">
            <a:avLst/>
          </a:prstGeom>
          <a:solidFill xmlns:a="http://schemas.openxmlformats.org/drawingml/2006/main">
            <a:srgbClr val="FBF8F2"/>
          </a:solidFill>
          <a:ln xmlns:a="http://schemas.openxmlformats.org/drawingml/2006/main" w="9525">
            <a:solidFill>
              <a:srgbClr val="EEE4D3"/>
            </a:solidFill>
            <a:prstDash val="solid"/>
          </a:ln>
        </p:spPr>
      </p:sp>
      <p:sp>
        <p:nvSpPr>
          <p:cNvPr id="43" name="">
            <a:extLst xmlns:a="http://schemas.openxmlformats.org/drawingml/2006/main">
              <a:ext uri="{FF2B5EF4-FFF2-40B4-BE49-F238E27FC236}">
                <a16:creationId xmlns:a16="http://schemas.microsoft.com/office/drawing/2014/main" id="{30312B35-6F49-4B13-A9AA-7BC4C656975E}"/>
              </a:ext>
            </a:extLst>
          </p:cNvPr>
          <p:cNvSpPr>
            <a:spLocks xmlns:a="http://schemas.openxmlformats.org/drawingml/2006/main" noGrp="1"/>
          </p:cNvSpPr>
          <p:nvPr/>
        </p:nvSpPr>
        <p:spPr>
          <a:xfrm xmlns:a="http://schemas.openxmlformats.org/drawingml/2006/main">
            <a:off x="7239000" y="2828925"/>
            <a:ext cx="1371600" cy="19050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lgn="ctr">
              <a:defRPr sz="900">
                <a:solidFill>
                  <a:srgbClr val="2F3136"/>
                </a:solidFill>
              </a:defRPr>
            </a:pPr>
            <a:r>
              <a:t>1.36%</a:t>
            </a:r>
          </a:p>
        </p:txBody>
      </p:sp>
      <p:sp>
        <p:nvSpPr>
          <p:cNvPr id="44" name="">
            <a:extLst xmlns:a="http://schemas.openxmlformats.org/drawingml/2006/main">
              <a:ext uri="{FF2B5EF4-FFF2-40B4-BE49-F238E27FC236}">
                <a16:creationId xmlns:a16="http://schemas.microsoft.com/office/drawing/2014/main" id="{D2DBD639-100B-422E-A816-8E279A0C61AB}"/>
              </a:ext>
            </a:extLst>
          </p:cNvPr>
          <p:cNvSpPr>
            <a:spLocks xmlns:a="http://schemas.openxmlformats.org/drawingml/2006/main" noGrp="1"/>
          </p:cNvSpPr>
          <p:nvPr/>
        </p:nvSpPr>
        <p:spPr>
          <a:xfrm xmlns:a="http://schemas.openxmlformats.org/drawingml/2006/main">
            <a:off x="8686800" y="2762250"/>
            <a:ext cx="1714500" cy="323850"/>
          </a:xfrm>
          <a:prstGeom xmlns:a="http://schemas.openxmlformats.org/drawingml/2006/main" prst="rect">
            <a:avLst/>
          </a:prstGeom>
          <a:solidFill xmlns:a="http://schemas.openxmlformats.org/drawingml/2006/main">
            <a:srgbClr val="FBF8F2"/>
          </a:solidFill>
          <a:ln xmlns:a="http://schemas.openxmlformats.org/drawingml/2006/main" w="9525">
            <a:solidFill>
              <a:srgbClr val="EEE4D3"/>
            </a:solidFill>
            <a:prstDash val="solid"/>
          </a:ln>
        </p:spPr>
      </p:sp>
      <p:sp>
        <p:nvSpPr>
          <p:cNvPr id="45" name="">
            <a:extLst xmlns:a="http://schemas.openxmlformats.org/drawingml/2006/main">
              <a:ext uri="{FF2B5EF4-FFF2-40B4-BE49-F238E27FC236}">
                <a16:creationId xmlns:a16="http://schemas.microsoft.com/office/drawing/2014/main" id="{CC1F2BF4-B8E0-4CA7-8E2C-A7F3F094D705}"/>
              </a:ext>
            </a:extLst>
          </p:cNvPr>
          <p:cNvSpPr>
            <a:spLocks xmlns:a="http://schemas.openxmlformats.org/drawingml/2006/main" noGrp="1"/>
          </p:cNvSpPr>
          <p:nvPr/>
        </p:nvSpPr>
        <p:spPr>
          <a:xfrm xmlns:a="http://schemas.openxmlformats.org/drawingml/2006/main">
            <a:off x="8763000" y="2828925"/>
            <a:ext cx="1562100" cy="19050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lgn="ctr">
              <a:defRPr sz="900">
                <a:solidFill>
                  <a:srgbClr val="2F3136"/>
                </a:solidFill>
              </a:defRPr>
            </a:pPr>
            <a:r>
              <a:t>Améliore SARIMA</a:t>
            </a:r>
          </a:p>
        </p:txBody>
      </p:sp>
      <p:sp>
        <p:nvSpPr>
          <p:cNvPr id="46" name="">
            <a:extLst xmlns:a="http://schemas.openxmlformats.org/drawingml/2006/main">
              <a:ext uri="{FF2B5EF4-FFF2-40B4-BE49-F238E27FC236}">
                <a16:creationId xmlns:a16="http://schemas.microsoft.com/office/drawing/2014/main" id="{1AA1C381-493B-4D40-8332-30B505683009}"/>
              </a:ext>
            </a:extLst>
          </p:cNvPr>
          <p:cNvSpPr>
            <a:spLocks xmlns:a="http://schemas.openxmlformats.org/drawingml/2006/main" noGrp="1"/>
          </p:cNvSpPr>
          <p:nvPr/>
        </p:nvSpPr>
        <p:spPr>
          <a:xfrm xmlns:a="http://schemas.openxmlformats.org/drawingml/2006/main">
            <a:off x="876300" y="3086100"/>
            <a:ext cx="3238500" cy="323850"/>
          </a:xfrm>
          <a:prstGeom xmlns:a="http://schemas.openxmlformats.org/drawingml/2006/main" prst="rect">
            <a:avLst/>
          </a:prstGeom>
          <a:solidFill xmlns:a="http://schemas.openxmlformats.org/drawingml/2006/main">
            <a:srgbClr val="FFFFFF"/>
          </a:solidFill>
          <a:ln xmlns:a="http://schemas.openxmlformats.org/drawingml/2006/main" w="9525">
            <a:solidFill>
              <a:srgbClr val="EEE4D3"/>
            </a:solidFill>
            <a:prstDash val="solid"/>
          </a:ln>
        </p:spPr>
      </p:sp>
      <p:sp>
        <p:nvSpPr>
          <p:cNvPr id="47" name="">
            <a:extLst xmlns:a="http://schemas.openxmlformats.org/drawingml/2006/main">
              <a:ext uri="{FF2B5EF4-FFF2-40B4-BE49-F238E27FC236}">
                <a16:creationId xmlns:a16="http://schemas.microsoft.com/office/drawing/2014/main" id="{449DD6BE-F05E-4894-8BF6-EBE4F3BE54D0}"/>
              </a:ext>
            </a:extLst>
          </p:cNvPr>
          <p:cNvSpPr>
            <a:spLocks xmlns:a="http://schemas.openxmlformats.org/drawingml/2006/main" noGrp="1"/>
          </p:cNvSpPr>
          <p:nvPr/>
        </p:nvSpPr>
        <p:spPr>
          <a:xfrm xmlns:a="http://schemas.openxmlformats.org/drawingml/2006/main">
            <a:off x="952500" y="3152775"/>
            <a:ext cx="3086100" cy="19050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lgn="l">
              <a:defRPr sz="900">
                <a:solidFill>
                  <a:srgbClr val="2F3136"/>
                </a:solidFill>
              </a:defRPr>
            </a:pPr>
            <a:r>
              <a:t>SARIMAX + Hybrid macro</a:t>
            </a:r>
          </a:p>
        </p:txBody>
      </p:sp>
      <p:sp>
        <p:nvSpPr>
          <p:cNvPr id="48" name="">
            <a:extLst xmlns:a="http://schemas.openxmlformats.org/drawingml/2006/main">
              <a:ext uri="{FF2B5EF4-FFF2-40B4-BE49-F238E27FC236}">
                <a16:creationId xmlns:a16="http://schemas.microsoft.com/office/drawing/2014/main" id="{3DCC5A6C-BE7C-4A39-8660-F0FB9B4C0C33}"/>
              </a:ext>
            </a:extLst>
          </p:cNvPr>
          <p:cNvSpPr>
            <a:spLocks xmlns:a="http://schemas.openxmlformats.org/drawingml/2006/main" noGrp="1"/>
          </p:cNvSpPr>
          <p:nvPr/>
        </p:nvSpPr>
        <p:spPr>
          <a:xfrm xmlns:a="http://schemas.openxmlformats.org/drawingml/2006/main">
            <a:off x="4114800" y="3086100"/>
            <a:ext cx="1524000" cy="323850"/>
          </a:xfrm>
          <a:prstGeom xmlns:a="http://schemas.openxmlformats.org/drawingml/2006/main" prst="rect">
            <a:avLst/>
          </a:prstGeom>
          <a:solidFill xmlns:a="http://schemas.openxmlformats.org/drawingml/2006/main">
            <a:srgbClr val="FFFFFF"/>
          </a:solidFill>
          <a:ln xmlns:a="http://schemas.openxmlformats.org/drawingml/2006/main" w="9525">
            <a:solidFill>
              <a:srgbClr val="EEE4D3"/>
            </a:solidFill>
            <a:prstDash val="solid"/>
          </a:ln>
        </p:spPr>
      </p:sp>
      <p:sp>
        <p:nvSpPr>
          <p:cNvPr id="49" name="">
            <a:extLst xmlns:a="http://schemas.openxmlformats.org/drawingml/2006/main">
              <a:ext uri="{FF2B5EF4-FFF2-40B4-BE49-F238E27FC236}">
                <a16:creationId xmlns:a16="http://schemas.microsoft.com/office/drawing/2014/main" id="{396DEE48-9DF9-4886-A769-6E32EEDB51B6}"/>
              </a:ext>
            </a:extLst>
          </p:cNvPr>
          <p:cNvSpPr>
            <a:spLocks xmlns:a="http://schemas.openxmlformats.org/drawingml/2006/main" noGrp="1"/>
          </p:cNvSpPr>
          <p:nvPr/>
        </p:nvSpPr>
        <p:spPr>
          <a:xfrm xmlns:a="http://schemas.openxmlformats.org/drawingml/2006/main">
            <a:off x="4191000" y="3152775"/>
            <a:ext cx="1371600" cy="19050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lgn="ctr">
              <a:defRPr sz="900">
                <a:solidFill>
                  <a:srgbClr val="2F3136"/>
                </a:solidFill>
              </a:defRPr>
            </a:pPr>
            <a:r>
              <a:t>1.997</a:t>
            </a:r>
          </a:p>
        </p:txBody>
      </p:sp>
      <p:sp>
        <p:nvSpPr>
          <p:cNvPr id="50" name="">
            <a:extLst xmlns:a="http://schemas.openxmlformats.org/drawingml/2006/main">
              <a:ext uri="{FF2B5EF4-FFF2-40B4-BE49-F238E27FC236}">
                <a16:creationId xmlns:a16="http://schemas.microsoft.com/office/drawing/2014/main" id="{7B963749-6761-4C9E-BCA0-A35DAEF60FB7}"/>
              </a:ext>
            </a:extLst>
          </p:cNvPr>
          <p:cNvSpPr>
            <a:spLocks xmlns:a="http://schemas.openxmlformats.org/drawingml/2006/main" noGrp="1"/>
          </p:cNvSpPr>
          <p:nvPr/>
        </p:nvSpPr>
        <p:spPr>
          <a:xfrm xmlns:a="http://schemas.openxmlformats.org/drawingml/2006/main">
            <a:off x="5638800" y="3086100"/>
            <a:ext cx="1524000" cy="323850"/>
          </a:xfrm>
          <a:prstGeom xmlns:a="http://schemas.openxmlformats.org/drawingml/2006/main" prst="rect">
            <a:avLst/>
          </a:prstGeom>
          <a:solidFill xmlns:a="http://schemas.openxmlformats.org/drawingml/2006/main">
            <a:srgbClr val="FFFFFF"/>
          </a:solidFill>
          <a:ln xmlns:a="http://schemas.openxmlformats.org/drawingml/2006/main" w="9525">
            <a:solidFill>
              <a:srgbClr val="EEE4D3"/>
            </a:solidFill>
            <a:prstDash val="solid"/>
          </a:ln>
        </p:spPr>
      </p:sp>
      <p:sp>
        <p:nvSpPr>
          <p:cNvPr id="51" name="">
            <a:extLst xmlns:a="http://schemas.openxmlformats.org/drawingml/2006/main">
              <a:ext uri="{FF2B5EF4-FFF2-40B4-BE49-F238E27FC236}">
                <a16:creationId xmlns:a16="http://schemas.microsoft.com/office/drawing/2014/main" id="{484E4F4C-16E2-4230-B948-5173C599DD3B}"/>
              </a:ext>
            </a:extLst>
          </p:cNvPr>
          <p:cNvSpPr>
            <a:spLocks xmlns:a="http://schemas.openxmlformats.org/drawingml/2006/main" noGrp="1"/>
          </p:cNvSpPr>
          <p:nvPr/>
        </p:nvSpPr>
        <p:spPr>
          <a:xfrm xmlns:a="http://schemas.openxmlformats.org/drawingml/2006/main">
            <a:off x="5715000" y="3152775"/>
            <a:ext cx="1371600" cy="19050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lgn="ctr">
              <a:defRPr sz="900">
                <a:solidFill>
                  <a:srgbClr val="2F3136"/>
                </a:solidFill>
              </a:defRPr>
            </a:pPr>
            <a:r>
              <a:t>1.576</a:t>
            </a:r>
          </a:p>
        </p:txBody>
      </p:sp>
      <p:sp>
        <p:nvSpPr>
          <p:cNvPr id="52" name="">
            <a:extLst xmlns:a="http://schemas.openxmlformats.org/drawingml/2006/main">
              <a:ext uri="{FF2B5EF4-FFF2-40B4-BE49-F238E27FC236}">
                <a16:creationId xmlns:a16="http://schemas.microsoft.com/office/drawing/2014/main" id="{B5E24AF6-709F-4152-8B1F-13E8506BE7B9}"/>
              </a:ext>
            </a:extLst>
          </p:cNvPr>
          <p:cNvSpPr>
            <a:spLocks xmlns:a="http://schemas.openxmlformats.org/drawingml/2006/main" noGrp="1"/>
          </p:cNvSpPr>
          <p:nvPr/>
        </p:nvSpPr>
        <p:spPr>
          <a:xfrm xmlns:a="http://schemas.openxmlformats.org/drawingml/2006/main">
            <a:off x="7162800" y="3086100"/>
            <a:ext cx="1524000" cy="323850"/>
          </a:xfrm>
          <a:prstGeom xmlns:a="http://schemas.openxmlformats.org/drawingml/2006/main" prst="rect">
            <a:avLst/>
          </a:prstGeom>
          <a:solidFill xmlns:a="http://schemas.openxmlformats.org/drawingml/2006/main">
            <a:srgbClr val="FFFFFF"/>
          </a:solidFill>
          <a:ln xmlns:a="http://schemas.openxmlformats.org/drawingml/2006/main" w="9525">
            <a:solidFill>
              <a:srgbClr val="EEE4D3"/>
            </a:solidFill>
            <a:prstDash val="solid"/>
          </a:ln>
        </p:spPr>
      </p:sp>
      <p:sp>
        <p:nvSpPr>
          <p:cNvPr id="53" name="">
            <a:extLst xmlns:a="http://schemas.openxmlformats.org/drawingml/2006/main">
              <a:ext uri="{FF2B5EF4-FFF2-40B4-BE49-F238E27FC236}">
                <a16:creationId xmlns:a16="http://schemas.microsoft.com/office/drawing/2014/main" id="{21D8C7B9-916C-4368-A479-5FECB826514E}"/>
              </a:ext>
            </a:extLst>
          </p:cNvPr>
          <p:cNvSpPr>
            <a:spLocks xmlns:a="http://schemas.openxmlformats.org/drawingml/2006/main" noGrp="1"/>
          </p:cNvSpPr>
          <p:nvPr/>
        </p:nvSpPr>
        <p:spPr>
          <a:xfrm xmlns:a="http://schemas.openxmlformats.org/drawingml/2006/main">
            <a:off x="7239000" y="3152775"/>
            <a:ext cx="1371600" cy="19050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lgn="ctr">
              <a:defRPr sz="900">
                <a:solidFill>
                  <a:srgbClr val="2F3136"/>
                </a:solidFill>
              </a:defRPr>
            </a:pPr>
            <a:r>
              <a:t>1.42%</a:t>
            </a:r>
          </a:p>
        </p:txBody>
      </p:sp>
      <p:sp>
        <p:nvSpPr>
          <p:cNvPr id="54" name="">
            <a:extLst xmlns:a="http://schemas.openxmlformats.org/drawingml/2006/main">
              <a:ext uri="{FF2B5EF4-FFF2-40B4-BE49-F238E27FC236}">
                <a16:creationId xmlns:a16="http://schemas.microsoft.com/office/drawing/2014/main" id="{97D33765-3B94-43B2-B1C8-B752E32D6158}"/>
              </a:ext>
            </a:extLst>
          </p:cNvPr>
          <p:cNvSpPr>
            <a:spLocks xmlns:a="http://schemas.openxmlformats.org/drawingml/2006/main" noGrp="1"/>
          </p:cNvSpPr>
          <p:nvPr/>
        </p:nvSpPr>
        <p:spPr>
          <a:xfrm xmlns:a="http://schemas.openxmlformats.org/drawingml/2006/main">
            <a:off x="8686800" y="3086100"/>
            <a:ext cx="1714500" cy="323850"/>
          </a:xfrm>
          <a:prstGeom xmlns:a="http://schemas.openxmlformats.org/drawingml/2006/main" prst="rect">
            <a:avLst/>
          </a:prstGeom>
          <a:solidFill xmlns:a="http://schemas.openxmlformats.org/drawingml/2006/main">
            <a:srgbClr val="FFFFFF"/>
          </a:solidFill>
          <a:ln xmlns:a="http://schemas.openxmlformats.org/drawingml/2006/main" w="9525">
            <a:solidFill>
              <a:srgbClr val="EEE4D3"/>
            </a:solidFill>
            <a:prstDash val="solid"/>
          </a:ln>
        </p:spPr>
      </p:sp>
      <p:sp>
        <p:nvSpPr>
          <p:cNvPr id="55" name="">
            <a:extLst xmlns:a="http://schemas.openxmlformats.org/drawingml/2006/main">
              <a:ext uri="{FF2B5EF4-FFF2-40B4-BE49-F238E27FC236}">
                <a16:creationId xmlns:a16="http://schemas.microsoft.com/office/drawing/2014/main" id="{D910F895-314A-4548-8017-5DCE10F1C993}"/>
              </a:ext>
            </a:extLst>
          </p:cNvPr>
          <p:cNvSpPr>
            <a:spLocks xmlns:a="http://schemas.openxmlformats.org/drawingml/2006/main" noGrp="1"/>
          </p:cNvSpPr>
          <p:nvPr/>
        </p:nvSpPr>
        <p:spPr>
          <a:xfrm xmlns:a="http://schemas.openxmlformats.org/drawingml/2006/main">
            <a:off x="8763000" y="3152775"/>
            <a:ext cx="1562100" cy="19050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lgn="ctr">
              <a:defRPr sz="900">
                <a:solidFill>
                  <a:srgbClr val="2F3136"/>
                </a:solidFill>
              </a:defRPr>
            </a:pPr>
            <a:r>
              <a:t>Dégrade la précision</a:t>
            </a:r>
          </a:p>
        </p:txBody>
      </p:sp>
      <p:sp>
        <p:nvSpPr>
          <p:cNvPr id="56" name="">
            <a:extLst xmlns:a="http://schemas.openxmlformats.org/drawingml/2006/main">
              <a:ext uri="{FF2B5EF4-FFF2-40B4-BE49-F238E27FC236}">
                <a16:creationId xmlns:a16="http://schemas.microsoft.com/office/drawing/2014/main" id="{AEDE370D-9492-456B-BD7B-6676FF62381C}"/>
              </a:ext>
            </a:extLst>
          </p:cNvPr>
          <p:cNvSpPr>
            <a:spLocks xmlns:a="http://schemas.openxmlformats.org/drawingml/2006/main" noGrp="1"/>
          </p:cNvSpPr>
          <p:nvPr/>
        </p:nvSpPr>
        <p:spPr>
          <a:xfrm xmlns:a="http://schemas.openxmlformats.org/drawingml/2006/main">
            <a:off x="876300" y="3619500"/>
            <a:ext cx="4953000" cy="2209800"/>
          </a:xfrm>
          <a:prstGeom xmlns:a="http://schemas.openxmlformats.org/drawingml/2006/main" prst="rect">
            <a:avLst/>
          </a:prstGeom>
          <a:solidFill xmlns:a="http://schemas.openxmlformats.org/drawingml/2006/main">
            <a:srgbClr val="FFFFFF"/>
          </a:solidFill>
          <a:ln xmlns:a="http://schemas.openxmlformats.org/drawingml/2006/main" w="9525">
            <a:solidFill>
              <a:srgbClr val="EEE4D3"/>
            </a:solidFill>
            <a:prstDash val="solid"/>
          </a:ln>
        </p:spPr>
      </p:sp>
      <p:sp>
        <p:nvSpPr>
          <p:cNvPr id="57" name="">
            <a:extLst xmlns:a="http://schemas.openxmlformats.org/drawingml/2006/main">
              <a:ext uri="{FF2B5EF4-FFF2-40B4-BE49-F238E27FC236}">
                <a16:creationId xmlns:a16="http://schemas.microsoft.com/office/drawing/2014/main" id="{62FE6665-B67D-45F7-B001-2C7F75FED61D}"/>
              </a:ext>
            </a:extLst>
          </p:cNvPr>
          <p:cNvSpPr>
            <a:spLocks xmlns:a="http://schemas.openxmlformats.org/drawingml/2006/main" noGrp="1"/>
          </p:cNvSpPr>
          <p:nvPr/>
        </p:nvSpPr>
        <p:spPr>
          <a:xfrm xmlns:a="http://schemas.openxmlformats.org/drawingml/2006/main">
            <a:off x="1123950" y="3848100"/>
            <a:ext cx="4191000" cy="22860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350" b="1">
                <a:solidFill>
                  <a:srgbClr val="223A5E"/>
                </a:solidFill>
              </a:defRPr>
            </a:pPr>
            <a:r>
              <a:t>Comparaison visuelle RMSE</a:t>
            </a:r>
          </a:p>
        </p:txBody>
      </p:sp>
      <p:sp>
        <p:nvSpPr>
          <p:cNvPr id="58" name="">
            <a:extLst xmlns:a="http://schemas.openxmlformats.org/drawingml/2006/main">
              <a:ext uri="{FF2B5EF4-FFF2-40B4-BE49-F238E27FC236}">
                <a16:creationId xmlns:a16="http://schemas.microsoft.com/office/drawing/2014/main" id="{088EFEAE-1610-4613-9964-D306C2397CFF}"/>
              </a:ext>
            </a:extLst>
          </p:cNvPr>
          <p:cNvSpPr>
            <a:spLocks xmlns:a="http://schemas.openxmlformats.org/drawingml/2006/main" noGrp="1"/>
          </p:cNvSpPr>
          <p:nvPr/>
        </p:nvSpPr>
        <p:spPr>
          <a:xfrm xmlns:a="http://schemas.openxmlformats.org/drawingml/2006/main">
            <a:off x="1123950" y="4229100"/>
            <a:ext cx="1714500" cy="22860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125">
                <a:solidFill>
                  <a:srgbClr val="2F3136"/>
                </a:solidFill>
              </a:defRPr>
            </a:pPr>
            <a:r>
              <a:t>Naïf</a:t>
            </a:r>
          </a:p>
        </p:txBody>
      </p:sp>
      <p:sp>
        <p:nvSpPr>
          <p:cNvPr id="59" name="">
            <a:extLst xmlns:a="http://schemas.openxmlformats.org/drawingml/2006/main">
              <a:ext uri="{FF2B5EF4-FFF2-40B4-BE49-F238E27FC236}">
                <a16:creationId xmlns:a16="http://schemas.microsoft.com/office/drawing/2014/main" id="{46E15FF3-A931-475A-A7DE-7E40595ED53F}"/>
              </a:ext>
            </a:extLst>
          </p:cNvPr>
          <p:cNvSpPr>
            <a:spLocks xmlns:a="http://schemas.openxmlformats.org/drawingml/2006/main" noGrp="1"/>
          </p:cNvSpPr>
          <p:nvPr/>
        </p:nvSpPr>
        <p:spPr>
          <a:xfrm xmlns:a="http://schemas.openxmlformats.org/drawingml/2006/main">
            <a:off x="2933700" y="4267200"/>
            <a:ext cx="2000250" cy="152400"/>
          </a:xfrm>
          <a:prstGeom xmlns:a="http://schemas.openxmlformats.org/drawingml/2006/main" prst="rect">
            <a:avLst/>
          </a:prstGeom>
          <a:solidFill xmlns:a="http://schemas.openxmlformats.org/drawingml/2006/main">
            <a:srgbClr val="E7DED0"/>
          </a:solidFill>
          <a:ln xmlns:a="http://schemas.openxmlformats.org/drawingml/2006/main" w="0">
            <a:noFill/>
            <a:prstDash val="solid"/>
          </a:ln>
        </p:spPr>
      </p:sp>
      <p:sp>
        <p:nvSpPr>
          <p:cNvPr id="60" name="">
            <a:extLst xmlns:a="http://schemas.openxmlformats.org/drawingml/2006/main">
              <a:ext uri="{FF2B5EF4-FFF2-40B4-BE49-F238E27FC236}">
                <a16:creationId xmlns:a16="http://schemas.microsoft.com/office/drawing/2014/main" id="{2F514E7A-F298-41DF-9F92-22CC031E70DD}"/>
              </a:ext>
            </a:extLst>
          </p:cNvPr>
          <p:cNvSpPr>
            <a:spLocks xmlns:a="http://schemas.openxmlformats.org/drawingml/2006/main" noGrp="1"/>
          </p:cNvSpPr>
          <p:nvPr/>
        </p:nvSpPr>
        <p:spPr>
          <a:xfrm xmlns:a="http://schemas.openxmlformats.org/drawingml/2006/main">
            <a:off x="2933700" y="4267200"/>
            <a:ext cx="1532573" cy="152400"/>
          </a:xfrm>
          <a:prstGeom xmlns:a="http://schemas.openxmlformats.org/drawingml/2006/main" prst="rect">
            <a:avLst/>
          </a:prstGeom>
          <a:solidFill xmlns:a="http://schemas.openxmlformats.org/drawingml/2006/main">
            <a:srgbClr val="C86F4D"/>
          </a:solidFill>
          <a:ln xmlns:a="http://schemas.openxmlformats.org/drawingml/2006/main" w="0">
            <a:noFill/>
            <a:prstDash val="solid"/>
          </a:ln>
        </p:spPr>
      </p:sp>
      <p:sp>
        <p:nvSpPr>
          <p:cNvPr id="61" name="">
            <a:extLst xmlns:a="http://schemas.openxmlformats.org/drawingml/2006/main">
              <a:ext uri="{FF2B5EF4-FFF2-40B4-BE49-F238E27FC236}">
                <a16:creationId xmlns:a16="http://schemas.microsoft.com/office/drawing/2014/main" id="{D6D72F1C-8FCC-4509-9BE1-A03132071446}"/>
              </a:ext>
            </a:extLst>
          </p:cNvPr>
          <p:cNvSpPr>
            <a:spLocks xmlns:a="http://schemas.openxmlformats.org/drawingml/2006/main" noGrp="1"/>
          </p:cNvSpPr>
          <p:nvPr/>
        </p:nvSpPr>
        <p:spPr>
          <a:xfrm xmlns:a="http://schemas.openxmlformats.org/drawingml/2006/main">
            <a:off x="4838700" y="4229100"/>
            <a:ext cx="381000" cy="22860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lgn="r">
              <a:defRPr sz="1050" b="1">
                <a:solidFill>
                  <a:srgbClr val="223A5E"/>
                </a:solidFill>
              </a:defRPr>
            </a:pPr>
            <a:r>
              <a:t>1.609</a:t>
            </a:r>
          </a:p>
        </p:txBody>
      </p:sp>
      <p:sp>
        <p:nvSpPr>
          <p:cNvPr id="62" name="">
            <a:extLst xmlns:a="http://schemas.openxmlformats.org/drawingml/2006/main">
              <a:ext uri="{FF2B5EF4-FFF2-40B4-BE49-F238E27FC236}">
                <a16:creationId xmlns:a16="http://schemas.microsoft.com/office/drawing/2014/main" id="{D12B63D3-7749-45F7-AFF7-EFDFE9CB4D39}"/>
              </a:ext>
            </a:extLst>
          </p:cNvPr>
          <p:cNvSpPr>
            <a:spLocks xmlns:a="http://schemas.openxmlformats.org/drawingml/2006/main" noGrp="1"/>
          </p:cNvSpPr>
          <p:nvPr/>
        </p:nvSpPr>
        <p:spPr>
          <a:xfrm xmlns:a="http://schemas.openxmlformats.org/drawingml/2006/main">
            <a:off x="1123950" y="4686300"/>
            <a:ext cx="1714500" cy="22860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125">
                <a:solidFill>
                  <a:srgbClr val="2F3136"/>
                </a:solidFill>
              </a:defRPr>
            </a:pPr>
            <a:r>
              <a:t>SARIMA</a:t>
            </a:r>
          </a:p>
        </p:txBody>
      </p:sp>
      <p:sp>
        <p:nvSpPr>
          <p:cNvPr id="63" name="">
            <a:extLst xmlns:a="http://schemas.openxmlformats.org/drawingml/2006/main">
              <a:ext uri="{FF2B5EF4-FFF2-40B4-BE49-F238E27FC236}">
                <a16:creationId xmlns:a16="http://schemas.microsoft.com/office/drawing/2014/main" id="{E90A3262-8C31-4487-BEC3-75FDE57C6CA8}"/>
              </a:ext>
            </a:extLst>
          </p:cNvPr>
          <p:cNvSpPr>
            <a:spLocks xmlns:a="http://schemas.openxmlformats.org/drawingml/2006/main" noGrp="1"/>
          </p:cNvSpPr>
          <p:nvPr/>
        </p:nvSpPr>
        <p:spPr>
          <a:xfrm xmlns:a="http://schemas.openxmlformats.org/drawingml/2006/main">
            <a:off x="2933700" y="4724400"/>
            <a:ext cx="2000250" cy="152400"/>
          </a:xfrm>
          <a:prstGeom xmlns:a="http://schemas.openxmlformats.org/drawingml/2006/main" prst="rect">
            <a:avLst/>
          </a:prstGeom>
          <a:solidFill xmlns:a="http://schemas.openxmlformats.org/drawingml/2006/main">
            <a:srgbClr val="E7DED0"/>
          </a:solidFill>
          <a:ln xmlns:a="http://schemas.openxmlformats.org/drawingml/2006/main" w="0">
            <a:noFill/>
            <a:prstDash val="solid"/>
          </a:ln>
        </p:spPr>
      </p:sp>
      <p:sp>
        <p:nvSpPr>
          <p:cNvPr id="64" name="">
            <a:extLst xmlns:a="http://schemas.openxmlformats.org/drawingml/2006/main">
              <a:ext uri="{FF2B5EF4-FFF2-40B4-BE49-F238E27FC236}">
                <a16:creationId xmlns:a16="http://schemas.microsoft.com/office/drawing/2014/main" id="{93A1BD94-C184-4290-AC45-F92BCBC5F3F0}"/>
              </a:ext>
            </a:extLst>
          </p:cNvPr>
          <p:cNvSpPr>
            <a:spLocks xmlns:a="http://schemas.openxmlformats.org/drawingml/2006/main" noGrp="1"/>
          </p:cNvSpPr>
          <p:nvPr/>
        </p:nvSpPr>
        <p:spPr>
          <a:xfrm xmlns:a="http://schemas.openxmlformats.org/drawingml/2006/main">
            <a:off x="2933700" y="4724400"/>
            <a:ext cx="1831658" cy="152400"/>
          </a:xfrm>
          <a:prstGeom xmlns:a="http://schemas.openxmlformats.org/drawingml/2006/main" prst="rect">
            <a:avLst/>
          </a:prstGeom>
          <a:solidFill xmlns:a="http://schemas.openxmlformats.org/drawingml/2006/main">
            <a:srgbClr val="C86F4D"/>
          </a:solidFill>
          <a:ln xmlns:a="http://schemas.openxmlformats.org/drawingml/2006/main" w="0">
            <a:noFill/>
            <a:prstDash val="solid"/>
          </a:ln>
        </p:spPr>
      </p:sp>
      <p:sp>
        <p:nvSpPr>
          <p:cNvPr id="65" name="">
            <a:extLst xmlns:a="http://schemas.openxmlformats.org/drawingml/2006/main">
              <a:ext uri="{FF2B5EF4-FFF2-40B4-BE49-F238E27FC236}">
                <a16:creationId xmlns:a16="http://schemas.microsoft.com/office/drawing/2014/main" id="{0DB46C8B-BE7C-40AA-AEC4-93BC795B3ED4}"/>
              </a:ext>
            </a:extLst>
          </p:cNvPr>
          <p:cNvSpPr>
            <a:spLocks xmlns:a="http://schemas.openxmlformats.org/drawingml/2006/main" noGrp="1"/>
          </p:cNvSpPr>
          <p:nvPr/>
        </p:nvSpPr>
        <p:spPr>
          <a:xfrm xmlns:a="http://schemas.openxmlformats.org/drawingml/2006/main">
            <a:off x="4838700" y="4686300"/>
            <a:ext cx="381000" cy="22860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lgn="r">
              <a:defRPr sz="1050" b="1">
                <a:solidFill>
                  <a:srgbClr val="223A5E"/>
                </a:solidFill>
              </a:defRPr>
            </a:pPr>
            <a:r>
              <a:t>1.923</a:t>
            </a:r>
          </a:p>
        </p:txBody>
      </p:sp>
      <p:sp>
        <p:nvSpPr>
          <p:cNvPr id="66" name="">
            <a:extLst xmlns:a="http://schemas.openxmlformats.org/drawingml/2006/main">
              <a:ext uri="{FF2B5EF4-FFF2-40B4-BE49-F238E27FC236}">
                <a16:creationId xmlns:a16="http://schemas.microsoft.com/office/drawing/2014/main" id="{9AFA9AE6-D751-4E2B-86EA-048DDC30A2D8}"/>
              </a:ext>
            </a:extLst>
          </p:cNvPr>
          <p:cNvSpPr>
            <a:spLocks xmlns:a="http://schemas.openxmlformats.org/drawingml/2006/main" noGrp="1"/>
          </p:cNvSpPr>
          <p:nvPr/>
        </p:nvSpPr>
        <p:spPr>
          <a:xfrm xmlns:a="http://schemas.openxmlformats.org/drawingml/2006/main">
            <a:off x="1123950" y="5143500"/>
            <a:ext cx="1714500" cy="22860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125">
                <a:solidFill>
                  <a:srgbClr val="2F3136"/>
                </a:solidFill>
              </a:defRPr>
            </a:pPr>
            <a:r>
              <a:t>SARIMAX Behavioral</a:t>
            </a:r>
          </a:p>
        </p:txBody>
      </p:sp>
      <p:sp>
        <p:nvSpPr>
          <p:cNvPr id="67" name="">
            <a:extLst xmlns:a="http://schemas.openxmlformats.org/drawingml/2006/main">
              <a:ext uri="{FF2B5EF4-FFF2-40B4-BE49-F238E27FC236}">
                <a16:creationId xmlns:a16="http://schemas.microsoft.com/office/drawing/2014/main" id="{61320C30-BE42-4FC1-818D-4C945F9BD0BC}"/>
              </a:ext>
            </a:extLst>
          </p:cNvPr>
          <p:cNvSpPr>
            <a:spLocks xmlns:a="http://schemas.openxmlformats.org/drawingml/2006/main" noGrp="1"/>
          </p:cNvSpPr>
          <p:nvPr/>
        </p:nvSpPr>
        <p:spPr>
          <a:xfrm xmlns:a="http://schemas.openxmlformats.org/drawingml/2006/main">
            <a:off x="2933700" y="5181600"/>
            <a:ext cx="2000250" cy="152400"/>
          </a:xfrm>
          <a:prstGeom xmlns:a="http://schemas.openxmlformats.org/drawingml/2006/main" prst="rect">
            <a:avLst/>
          </a:prstGeom>
          <a:solidFill xmlns:a="http://schemas.openxmlformats.org/drawingml/2006/main">
            <a:srgbClr val="E7DED0"/>
          </a:solidFill>
          <a:ln xmlns:a="http://schemas.openxmlformats.org/drawingml/2006/main" w="0">
            <a:noFill/>
            <a:prstDash val="solid"/>
          </a:ln>
        </p:spPr>
      </p:sp>
      <p:sp>
        <p:nvSpPr>
          <p:cNvPr id="68" name="">
            <a:extLst xmlns:a="http://schemas.openxmlformats.org/drawingml/2006/main">
              <a:ext uri="{FF2B5EF4-FFF2-40B4-BE49-F238E27FC236}">
                <a16:creationId xmlns:a16="http://schemas.microsoft.com/office/drawing/2014/main" id="{D052F564-6B1F-40D6-8BF3-EEF65D318EB4}"/>
              </a:ext>
            </a:extLst>
          </p:cNvPr>
          <p:cNvSpPr>
            <a:spLocks xmlns:a="http://schemas.openxmlformats.org/drawingml/2006/main" noGrp="1"/>
          </p:cNvSpPr>
          <p:nvPr/>
        </p:nvSpPr>
        <p:spPr>
          <a:xfrm xmlns:a="http://schemas.openxmlformats.org/drawingml/2006/main">
            <a:off x="2933700" y="5181600"/>
            <a:ext cx="1801178" cy="152400"/>
          </a:xfrm>
          <a:prstGeom xmlns:a="http://schemas.openxmlformats.org/drawingml/2006/main" prst="rect">
            <a:avLst/>
          </a:prstGeom>
          <a:solidFill xmlns:a="http://schemas.openxmlformats.org/drawingml/2006/main">
            <a:srgbClr val="C86F4D"/>
          </a:solidFill>
          <a:ln xmlns:a="http://schemas.openxmlformats.org/drawingml/2006/main" w="0">
            <a:noFill/>
            <a:prstDash val="solid"/>
          </a:ln>
        </p:spPr>
      </p:sp>
      <p:sp>
        <p:nvSpPr>
          <p:cNvPr id="69" name="">
            <a:extLst xmlns:a="http://schemas.openxmlformats.org/drawingml/2006/main">
              <a:ext uri="{FF2B5EF4-FFF2-40B4-BE49-F238E27FC236}">
                <a16:creationId xmlns:a16="http://schemas.microsoft.com/office/drawing/2014/main" id="{56AA9218-B1D0-49CF-BE01-E1C0447342ED}"/>
              </a:ext>
            </a:extLst>
          </p:cNvPr>
          <p:cNvSpPr>
            <a:spLocks xmlns:a="http://schemas.openxmlformats.org/drawingml/2006/main" noGrp="1"/>
          </p:cNvSpPr>
          <p:nvPr/>
        </p:nvSpPr>
        <p:spPr>
          <a:xfrm xmlns:a="http://schemas.openxmlformats.org/drawingml/2006/main">
            <a:off x="4838700" y="5143500"/>
            <a:ext cx="381000" cy="22860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lgn="r">
              <a:defRPr sz="1050" b="1">
                <a:solidFill>
                  <a:srgbClr val="223A5E"/>
                </a:solidFill>
              </a:defRPr>
            </a:pPr>
            <a:r>
              <a:t>1.891</a:t>
            </a:r>
          </a:p>
        </p:txBody>
      </p:sp>
      <p:sp>
        <p:nvSpPr>
          <p:cNvPr id="70" name="">
            <a:extLst xmlns:a="http://schemas.openxmlformats.org/drawingml/2006/main">
              <a:ext uri="{FF2B5EF4-FFF2-40B4-BE49-F238E27FC236}">
                <a16:creationId xmlns:a16="http://schemas.microsoft.com/office/drawing/2014/main" id="{CAF022B1-2FCE-45B0-8875-0B4BAE7DF4D1}"/>
              </a:ext>
            </a:extLst>
          </p:cNvPr>
          <p:cNvSpPr>
            <a:spLocks xmlns:a="http://schemas.openxmlformats.org/drawingml/2006/main" noGrp="1"/>
          </p:cNvSpPr>
          <p:nvPr/>
        </p:nvSpPr>
        <p:spPr>
          <a:xfrm xmlns:a="http://schemas.openxmlformats.org/drawingml/2006/main">
            <a:off x="1123950" y="5600700"/>
            <a:ext cx="1714500" cy="22860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125">
                <a:solidFill>
                  <a:srgbClr val="2F3136"/>
                </a:solidFill>
              </a:defRPr>
            </a:pPr>
            <a:r>
              <a:t>SARIMAX Hybrid</a:t>
            </a:r>
          </a:p>
        </p:txBody>
      </p:sp>
      <p:sp>
        <p:nvSpPr>
          <p:cNvPr id="71" name="">
            <a:extLst xmlns:a="http://schemas.openxmlformats.org/drawingml/2006/main">
              <a:ext uri="{FF2B5EF4-FFF2-40B4-BE49-F238E27FC236}">
                <a16:creationId xmlns:a16="http://schemas.microsoft.com/office/drawing/2014/main" id="{86C90654-E919-4A21-A1E9-26766DAF40EC}"/>
              </a:ext>
            </a:extLst>
          </p:cNvPr>
          <p:cNvSpPr>
            <a:spLocks xmlns:a="http://schemas.openxmlformats.org/drawingml/2006/main" noGrp="1"/>
          </p:cNvSpPr>
          <p:nvPr/>
        </p:nvSpPr>
        <p:spPr>
          <a:xfrm xmlns:a="http://schemas.openxmlformats.org/drawingml/2006/main">
            <a:off x="2933700" y="5638800"/>
            <a:ext cx="2000250" cy="152400"/>
          </a:xfrm>
          <a:prstGeom xmlns:a="http://schemas.openxmlformats.org/drawingml/2006/main" prst="rect">
            <a:avLst/>
          </a:prstGeom>
          <a:solidFill xmlns:a="http://schemas.openxmlformats.org/drawingml/2006/main">
            <a:srgbClr val="E7DED0"/>
          </a:solidFill>
          <a:ln xmlns:a="http://schemas.openxmlformats.org/drawingml/2006/main" w="0">
            <a:noFill/>
            <a:prstDash val="solid"/>
          </a:ln>
        </p:spPr>
      </p:sp>
      <p:sp>
        <p:nvSpPr>
          <p:cNvPr id="72" name="">
            <a:extLst xmlns:a="http://schemas.openxmlformats.org/drawingml/2006/main">
              <a:ext uri="{FF2B5EF4-FFF2-40B4-BE49-F238E27FC236}">
                <a16:creationId xmlns:a16="http://schemas.microsoft.com/office/drawing/2014/main" id="{BCA41215-3BA6-4307-B266-6624FC944AC9}"/>
              </a:ext>
            </a:extLst>
          </p:cNvPr>
          <p:cNvSpPr>
            <a:spLocks xmlns:a="http://schemas.openxmlformats.org/drawingml/2006/main" noGrp="1"/>
          </p:cNvSpPr>
          <p:nvPr/>
        </p:nvSpPr>
        <p:spPr>
          <a:xfrm xmlns:a="http://schemas.openxmlformats.org/drawingml/2006/main">
            <a:off x="2933700" y="5638800"/>
            <a:ext cx="1902143" cy="152400"/>
          </a:xfrm>
          <a:prstGeom xmlns:a="http://schemas.openxmlformats.org/drawingml/2006/main" prst="rect">
            <a:avLst/>
          </a:prstGeom>
          <a:solidFill xmlns:a="http://schemas.openxmlformats.org/drawingml/2006/main">
            <a:srgbClr val="C86F4D"/>
          </a:solidFill>
          <a:ln xmlns:a="http://schemas.openxmlformats.org/drawingml/2006/main" w="0">
            <a:noFill/>
            <a:prstDash val="solid"/>
          </a:ln>
        </p:spPr>
      </p:sp>
      <p:sp>
        <p:nvSpPr>
          <p:cNvPr id="73" name="">
            <a:extLst xmlns:a="http://schemas.openxmlformats.org/drawingml/2006/main">
              <a:ext uri="{FF2B5EF4-FFF2-40B4-BE49-F238E27FC236}">
                <a16:creationId xmlns:a16="http://schemas.microsoft.com/office/drawing/2014/main" id="{6203736E-9D99-4D3C-AAE1-261F1559413E}"/>
              </a:ext>
            </a:extLst>
          </p:cNvPr>
          <p:cNvSpPr>
            <a:spLocks xmlns:a="http://schemas.openxmlformats.org/drawingml/2006/main" noGrp="1"/>
          </p:cNvSpPr>
          <p:nvPr/>
        </p:nvSpPr>
        <p:spPr>
          <a:xfrm xmlns:a="http://schemas.openxmlformats.org/drawingml/2006/main">
            <a:off x="4838700" y="5600700"/>
            <a:ext cx="381000" cy="22860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lgn="r">
              <a:defRPr sz="1050" b="1">
                <a:solidFill>
                  <a:srgbClr val="223A5E"/>
                </a:solidFill>
              </a:defRPr>
            </a:pPr>
            <a:r>
              <a:t>1.997</a:t>
            </a:r>
          </a:p>
        </p:txBody>
      </p:sp>
      <p:sp>
        <p:nvSpPr>
          <p:cNvPr id="74" name="">
            <a:extLst xmlns:a="http://schemas.openxmlformats.org/drawingml/2006/main">
              <a:ext uri="{FF2B5EF4-FFF2-40B4-BE49-F238E27FC236}">
                <a16:creationId xmlns:a16="http://schemas.microsoft.com/office/drawing/2014/main" id="{6A305BDD-DF96-40A4-BCF6-CA190E79D27B}"/>
              </a:ext>
            </a:extLst>
          </p:cNvPr>
          <p:cNvSpPr>
            <a:spLocks xmlns:a="http://schemas.openxmlformats.org/drawingml/2006/main" noGrp="1"/>
          </p:cNvSpPr>
          <p:nvPr/>
        </p:nvSpPr>
        <p:spPr>
          <a:xfrm xmlns:a="http://schemas.openxmlformats.org/drawingml/2006/main">
            <a:off x="6076950" y="3619500"/>
            <a:ext cx="4953000" cy="2209800"/>
          </a:xfrm>
          <a:prstGeom xmlns:a="http://schemas.openxmlformats.org/drawingml/2006/main" prst="rect">
            <a:avLst/>
          </a:prstGeom>
          <a:solidFill xmlns:a="http://schemas.openxmlformats.org/drawingml/2006/main">
            <a:srgbClr val="FFFFFF"/>
          </a:solidFill>
          <a:ln xmlns:a="http://schemas.openxmlformats.org/drawingml/2006/main" w="9525">
            <a:solidFill>
              <a:srgbClr val="EEE4D3"/>
            </a:solidFill>
            <a:prstDash val="solid"/>
          </a:ln>
        </p:spPr>
      </p:sp>
      <p:sp>
        <p:nvSpPr>
          <p:cNvPr id="75" name="">
            <a:extLst xmlns:a="http://schemas.openxmlformats.org/drawingml/2006/main">
              <a:ext uri="{FF2B5EF4-FFF2-40B4-BE49-F238E27FC236}">
                <a16:creationId xmlns:a16="http://schemas.microsoft.com/office/drawing/2014/main" id="{930222BC-BAE9-4CE4-B99A-32C8E440EE9D}"/>
              </a:ext>
            </a:extLst>
          </p:cNvPr>
          <p:cNvSpPr>
            <a:spLocks xmlns:a="http://schemas.openxmlformats.org/drawingml/2006/main" noGrp="1"/>
          </p:cNvSpPr>
          <p:nvPr/>
        </p:nvSpPr>
        <p:spPr>
          <a:xfrm xmlns:a="http://schemas.openxmlformats.org/drawingml/2006/main">
            <a:off x="6324600" y="3848100"/>
            <a:ext cx="4095750" cy="22860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350" b="1">
                <a:solidFill>
                  <a:srgbClr val="223A5E"/>
                </a:solidFill>
              </a:defRPr>
            </a:pPr>
            <a:r>
              <a:t>Interprétation honnête</a:t>
            </a:r>
          </a:p>
        </p:txBody>
      </p:sp>
      <p:sp>
        <p:nvSpPr>
          <p:cNvPr id="76" name="">
            <a:extLst xmlns:a="http://schemas.openxmlformats.org/drawingml/2006/main">
              <a:ext uri="{FF2B5EF4-FFF2-40B4-BE49-F238E27FC236}">
                <a16:creationId xmlns:a16="http://schemas.microsoft.com/office/drawing/2014/main" id="{DC882ADA-5082-44EF-A2D0-7C692F67FECB}"/>
              </a:ext>
            </a:extLst>
          </p:cNvPr>
          <p:cNvSpPr>
            <a:spLocks xmlns:a="http://schemas.openxmlformats.org/drawingml/2006/main" noGrp="1"/>
          </p:cNvSpPr>
          <p:nvPr/>
        </p:nvSpPr>
        <p:spPr>
          <a:xfrm xmlns:a="http://schemas.openxmlformats.org/drawingml/2006/main">
            <a:off x="6324600" y="4248150"/>
            <a:ext cx="4095750" cy="133350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275">
                <a:solidFill>
                  <a:srgbClr val="2F3136"/>
                </a:solidFill>
              </a:defRPr>
            </a:pPr>
            <a:r>
              <a:t>• Le modèle naïf reste la référence la plus difficile à battre car l’IPC est très persistant. • Le BESI behavioral améliore bien SARIMA pur, donc le signal n’est pas vide. • Le hybrid macro n’apporte pas de gain et semble surcharger le modèle.</a:t>
            </a:r>
          </a:p>
        </p:txBody>
      </p:sp>
      <p:sp>
        <p:nvSpPr>
          <p:cNvPr id="77" name="">
            <a:extLst xmlns:a="http://schemas.openxmlformats.org/drawingml/2006/main">
              <a:ext uri="{FF2B5EF4-FFF2-40B4-BE49-F238E27FC236}">
                <a16:creationId xmlns:a16="http://schemas.microsoft.com/office/drawing/2014/main" id="{D5AF567E-4B38-4420-9FC8-0D1C3CE3F2F8}"/>
              </a:ext>
            </a:extLst>
          </p:cNvPr>
          <p:cNvSpPr>
            <a:spLocks xmlns:a="http://schemas.openxmlformats.org/drawingml/2006/main" noGrp="1"/>
          </p:cNvSpPr>
          <p:nvPr/>
        </p:nvSpPr>
        <p:spPr>
          <a:xfrm xmlns:a="http://schemas.openxmlformats.org/drawingml/2006/main">
            <a:off x="685800" y="6477000"/>
            <a:ext cx="4762500" cy="1714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825">
                <a:solidFill>
                  <a:srgbClr val="6C6A66"/>
                </a:solidFill>
              </a:defRPr>
            </a:pPr>
            <a:r>
              <a:t>ENSAM Meknes • Forecasting</a:t>
            </a:r>
          </a:p>
        </p:txBody>
      </p:sp>
      <p:sp>
        <p:nvSpPr>
          <p:cNvPr id="78" name="">
            <a:extLst xmlns:a="http://schemas.openxmlformats.org/drawingml/2006/main">
              <a:ext uri="{FF2B5EF4-FFF2-40B4-BE49-F238E27FC236}">
                <a16:creationId xmlns:a16="http://schemas.microsoft.com/office/drawing/2014/main" id="{F232F73D-5B2C-4A87-8278-87B594E9BC19}"/>
              </a:ext>
            </a:extLst>
          </p:cNvPr>
          <p:cNvSpPr>
            <a:spLocks xmlns:a="http://schemas.openxmlformats.org/drawingml/2006/main" noGrp="1"/>
          </p:cNvSpPr>
          <p:nvPr/>
        </p:nvSpPr>
        <p:spPr>
          <a:xfrm xmlns:a="http://schemas.openxmlformats.org/drawingml/2006/main">
            <a:off x="11049000" y="6477000"/>
            <a:ext cx="476250" cy="1714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lgn="r">
              <a:defRPr sz="825">
                <a:solidFill>
                  <a:srgbClr val="6C6A66"/>
                </a:solidFill>
              </a:defRPr>
            </a:pPr>
            <a:r>
              <a:t>11</a:t>
            </a:r>
          </a:p>
        </p:txBody>
      </p:sp>
    </p:spTree>
    <p:extLst>
      <p:ext uri="{BB962C8B-B14F-4D97-AF65-F5344CB8AC3E}">
        <p14:creationId xmlns:p14="http://schemas.microsoft.com/office/powerpoint/2010/main" val="1984915222"/>
      </p:ext>
    </p:extLst>
  </p:cSld>
</p:sld>
</file>

<file path=ppt/slides/slide12.xml><?xml version="1.0" encoding="utf-8"?>
<p:sld xmlns:p="http://schemas.openxmlformats.org/presentationml/2006/main">
  <p:cSld>
    <p:bg>
      <p:bgPr>
        <a:solidFill xmlns:a="http://schemas.openxmlformats.org/drawingml/2006/main">
          <a:srgbClr val="F6F1E7"/>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3BB4E52F-3179-4EFE-B570-2CE510C1DA6B}"/>
              </a:ext>
            </a:extLst>
          </p:cNvPr>
          <p:cNvSpPr>
            <a:spLocks xmlns:a="http://schemas.openxmlformats.org/drawingml/2006/main" noGrp="1"/>
          </p:cNvSpPr>
          <p:nvPr/>
        </p:nvSpPr>
        <p:spPr>
          <a:xfrm xmlns:a="http://schemas.openxmlformats.org/drawingml/2006/main">
            <a:off x="876300" y="704850"/>
            <a:ext cx="9334500" cy="5905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2400" b="1">
                <a:solidFill>
                  <a:srgbClr val="223A5E"/>
                </a:solidFill>
              </a:defRPr>
            </a:pPr>
            <a:r>
              <a:t>Rupture structurelle de 2022</a:t>
            </a:r>
          </a:p>
        </p:txBody>
      </p:sp>
      <p:sp>
        <p:nvSpPr>
          <p:cNvPr id="2" name="">
            <a:extLst xmlns:a="http://schemas.openxmlformats.org/drawingml/2006/main">
              <a:ext uri="{FF2B5EF4-FFF2-40B4-BE49-F238E27FC236}">
                <a16:creationId xmlns:a16="http://schemas.microsoft.com/office/drawing/2014/main" id="{9EA7676C-FE21-4C6C-BB6E-F1F4D80D4DFD}"/>
              </a:ext>
            </a:extLst>
          </p:cNvPr>
          <p:cNvSpPr>
            <a:spLocks xmlns:a="http://schemas.openxmlformats.org/drawingml/2006/main" noGrp="1"/>
          </p:cNvSpPr>
          <p:nvPr/>
        </p:nvSpPr>
        <p:spPr>
          <a:xfrm xmlns:a="http://schemas.openxmlformats.org/drawingml/2006/main">
            <a:off x="876300" y="1295400"/>
            <a:ext cx="9334500" cy="2857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200" b="1">
                <a:solidFill>
                  <a:srgbClr val="C86F4D"/>
                </a:solidFill>
              </a:defRPr>
            </a:pPr>
            <a:r>
              <a:t>Pourquoi le projet doit raisonner en régimes</a:t>
            </a:r>
          </a:p>
        </p:txBody>
      </p:sp>
      <p:sp>
        <p:nvSpPr>
          <p:cNvPr id="3" name="">
            <a:extLst xmlns:a="http://schemas.openxmlformats.org/drawingml/2006/main">
              <a:ext uri="{FF2B5EF4-FFF2-40B4-BE49-F238E27FC236}">
                <a16:creationId xmlns:a16="http://schemas.microsoft.com/office/drawing/2014/main" id="{4F524866-CB7E-42AD-9900-C0F6F8B32468}"/>
              </a:ext>
            </a:extLst>
          </p:cNvPr>
          <p:cNvSpPr>
            <a:spLocks xmlns:a="http://schemas.openxmlformats.org/drawingml/2006/main" noGrp="1"/>
          </p:cNvSpPr>
          <p:nvPr/>
        </p:nvSpPr>
        <p:spPr>
          <a:xfrm xmlns:a="http://schemas.openxmlformats.org/drawingml/2006/main">
            <a:off x="685800" y="6477000"/>
            <a:ext cx="4762500" cy="1714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825">
                <a:solidFill>
                  <a:srgbClr val="6C6A66"/>
                </a:solidFill>
              </a:defRPr>
            </a:pPr>
            <a:r>
              <a:t>ENSAM Meknes • BESI V3</a:t>
            </a:r>
          </a:p>
        </p:txBody>
      </p:sp>
      <p:sp>
        <p:nvSpPr>
          <p:cNvPr id="4" name="">
            <a:extLst xmlns:a="http://schemas.openxmlformats.org/drawingml/2006/main">
              <a:ext uri="{FF2B5EF4-FFF2-40B4-BE49-F238E27FC236}">
                <a16:creationId xmlns:a16="http://schemas.microsoft.com/office/drawing/2014/main" id="{BDC05070-4D58-4D2B-B5DF-A8D5E26C67E1}"/>
              </a:ext>
            </a:extLst>
          </p:cNvPr>
          <p:cNvSpPr>
            <a:spLocks xmlns:a="http://schemas.openxmlformats.org/drawingml/2006/main" noGrp="1"/>
          </p:cNvSpPr>
          <p:nvPr/>
        </p:nvSpPr>
        <p:spPr>
          <a:xfrm xmlns:a="http://schemas.openxmlformats.org/drawingml/2006/main">
            <a:off x="11049000" y="6477000"/>
            <a:ext cx="476250" cy="1714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lgn="r">
              <a:defRPr sz="825">
                <a:solidFill>
                  <a:srgbClr val="6C6A66"/>
                </a:solidFill>
              </a:defRPr>
            </a:pPr>
            <a:r>
              <a:t>12</a:t>
            </a:r>
          </a:p>
        </p:txBody>
      </p:sp>
      <p:sp>
        <p:nvSpPr>
          <p:cNvPr id="5" name="">
            <a:extLst xmlns:a="http://schemas.openxmlformats.org/drawingml/2006/main">
              <a:ext uri="{FF2B5EF4-FFF2-40B4-BE49-F238E27FC236}">
                <a16:creationId xmlns:a16="http://schemas.microsoft.com/office/drawing/2014/main" id="{CAB3EF0F-AA39-4A60-8344-56AB89A049E5}"/>
              </a:ext>
            </a:extLst>
          </p:cNvPr>
          <p:cNvSpPr>
            <a:spLocks xmlns:a="http://schemas.openxmlformats.org/drawingml/2006/main" noGrp="1"/>
          </p:cNvSpPr>
          <p:nvPr/>
        </p:nvSpPr>
        <p:spPr>
          <a:xfrm xmlns:a="http://schemas.openxmlformats.org/drawingml/2006/main">
            <a:off x="876300" y="1790700"/>
            <a:ext cx="2381250" cy="1200150"/>
          </a:xfrm>
          <a:prstGeom xmlns:a="http://schemas.openxmlformats.org/drawingml/2006/main" prst="rect">
            <a:avLst/>
          </a:prstGeom>
          <a:solidFill xmlns:a="http://schemas.openxmlformats.org/drawingml/2006/main">
            <a:srgbClr val="FFFFFF"/>
          </a:solidFill>
          <a:ln xmlns:a="http://schemas.openxmlformats.org/drawingml/2006/main" w="9525">
            <a:solidFill>
              <a:srgbClr val="EEE4D3"/>
            </a:solidFill>
            <a:prstDash val="solid"/>
          </a:ln>
        </p:spPr>
      </p:sp>
      <p:sp>
        <p:nvSpPr>
          <p:cNvPr id="6" name="">
            <a:extLst xmlns:a="http://schemas.openxmlformats.org/drawingml/2006/main">
              <a:ext uri="{FF2B5EF4-FFF2-40B4-BE49-F238E27FC236}">
                <a16:creationId xmlns:a16="http://schemas.microsoft.com/office/drawing/2014/main" id="{9737942E-7357-40F6-9650-4DA21406EFDE}"/>
              </a:ext>
            </a:extLst>
          </p:cNvPr>
          <p:cNvSpPr>
            <a:spLocks xmlns:a="http://schemas.openxmlformats.org/drawingml/2006/main" noGrp="1"/>
          </p:cNvSpPr>
          <p:nvPr/>
        </p:nvSpPr>
        <p:spPr>
          <a:xfrm xmlns:a="http://schemas.openxmlformats.org/drawingml/2006/main">
            <a:off x="876300" y="1790700"/>
            <a:ext cx="76200" cy="1200150"/>
          </a:xfrm>
          <a:prstGeom xmlns:a="http://schemas.openxmlformats.org/drawingml/2006/main" prst="rect">
            <a:avLst/>
          </a:prstGeom>
          <a:solidFill xmlns:a="http://schemas.openxmlformats.org/drawingml/2006/main">
            <a:srgbClr val="223A5E"/>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194A637C-5561-493E-9AA5-CE238737A53D}"/>
              </a:ext>
            </a:extLst>
          </p:cNvPr>
          <p:cNvSpPr>
            <a:spLocks xmlns:a="http://schemas.openxmlformats.org/drawingml/2006/main" noGrp="1"/>
          </p:cNvSpPr>
          <p:nvPr/>
        </p:nvSpPr>
        <p:spPr>
          <a:xfrm xmlns:a="http://schemas.openxmlformats.org/drawingml/2006/main">
            <a:off x="1104900" y="1962150"/>
            <a:ext cx="2000250" cy="19050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975" b="1">
                <a:solidFill>
                  <a:srgbClr val="6C6A66"/>
                </a:solidFill>
              </a:defRPr>
            </a:pPr>
            <a:r>
              <a:t>Pré-2022</a:t>
            </a:r>
          </a:p>
        </p:txBody>
      </p:sp>
      <p:sp>
        <p:nvSpPr>
          <p:cNvPr id="8" name="">
            <a:extLst xmlns:a="http://schemas.openxmlformats.org/drawingml/2006/main">
              <a:ext uri="{FF2B5EF4-FFF2-40B4-BE49-F238E27FC236}">
                <a16:creationId xmlns:a16="http://schemas.microsoft.com/office/drawing/2014/main" id="{762CACC7-4FF0-4B61-BC38-BE5746575962}"/>
              </a:ext>
            </a:extLst>
          </p:cNvPr>
          <p:cNvSpPr>
            <a:spLocks xmlns:a="http://schemas.openxmlformats.org/drawingml/2006/main" noGrp="1"/>
          </p:cNvSpPr>
          <p:nvPr/>
        </p:nvSpPr>
        <p:spPr>
          <a:xfrm xmlns:a="http://schemas.openxmlformats.org/drawingml/2006/main">
            <a:off x="1104900" y="2190750"/>
            <a:ext cx="2000250" cy="38100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2100" b="1">
                <a:solidFill>
                  <a:srgbClr val="223A5E"/>
                </a:solidFill>
              </a:defRPr>
            </a:pPr>
            <a:r>
              <a:t>+0.74% YoY</a:t>
            </a:r>
          </a:p>
        </p:txBody>
      </p:sp>
      <p:sp>
        <p:nvSpPr>
          <p:cNvPr id="9" name="">
            <a:extLst xmlns:a="http://schemas.openxmlformats.org/drawingml/2006/main">
              <a:ext uri="{FF2B5EF4-FFF2-40B4-BE49-F238E27FC236}">
                <a16:creationId xmlns:a16="http://schemas.microsoft.com/office/drawing/2014/main" id="{9029EFBF-6921-47D4-9BE7-B467710BC15F}"/>
              </a:ext>
            </a:extLst>
          </p:cNvPr>
          <p:cNvSpPr>
            <a:spLocks xmlns:a="http://schemas.openxmlformats.org/drawingml/2006/main" noGrp="1"/>
          </p:cNvSpPr>
          <p:nvPr/>
        </p:nvSpPr>
        <p:spPr>
          <a:xfrm xmlns:a="http://schemas.openxmlformats.org/drawingml/2006/main">
            <a:off x="1104900" y="2628900"/>
            <a:ext cx="2000250" cy="3238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900">
                <a:solidFill>
                  <a:srgbClr val="2F3136"/>
                </a:solidFill>
              </a:defRPr>
            </a:pPr>
            <a:r>
              <a:t>Inflation moyenne avant la rupture</a:t>
            </a:r>
          </a:p>
        </p:txBody>
      </p:sp>
      <p:sp>
        <p:nvSpPr>
          <p:cNvPr id="10" name="">
            <a:extLst xmlns:a="http://schemas.openxmlformats.org/drawingml/2006/main">
              <a:ext uri="{FF2B5EF4-FFF2-40B4-BE49-F238E27FC236}">
                <a16:creationId xmlns:a16="http://schemas.microsoft.com/office/drawing/2014/main" id="{ACCC1688-E407-47F9-8349-921A18CA6C79}"/>
              </a:ext>
            </a:extLst>
          </p:cNvPr>
          <p:cNvSpPr>
            <a:spLocks xmlns:a="http://schemas.openxmlformats.org/drawingml/2006/main" noGrp="1"/>
          </p:cNvSpPr>
          <p:nvPr/>
        </p:nvSpPr>
        <p:spPr>
          <a:xfrm xmlns:a="http://schemas.openxmlformats.org/drawingml/2006/main">
            <a:off x="3467100" y="1790700"/>
            <a:ext cx="2381250" cy="1200150"/>
          </a:xfrm>
          <a:prstGeom xmlns:a="http://schemas.openxmlformats.org/drawingml/2006/main" prst="rect">
            <a:avLst/>
          </a:prstGeom>
          <a:solidFill xmlns:a="http://schemas.openxmlformats.org/drawingml/2006/main">
            <a:srgbClr val="FFFFFF"/>
          </a:solidFill>
          <a:ln xmlns:a="http://schemas.openxmlformats.org/drawingml/2006/main" w="9525">
            <a:solidFill>
              <a:srgbClr val="EEE4D3"/>
            </a:solidFill>
            <a:prstDash val="solid"/>
          </a:ln>
        </p:spPr>
      </p:sp>
      <p:sp>
        <p:nvSpPr>
          <p:cNvPr id="11" name="">
            <a:extLst xmlns:a="http://schemas.openxmlformats.org/drawingml/2006/main">
              <a:ext uri="{FF2B5EF4-FFF2-40B4-BE49-F238E27FC236}">
                <a16:creationId xmlns:a16="http://schemas.microsoft.com/office/drawing/2014/main" id="{E0263BCF-2AB2-43B5-A18A-D322ECB10647}"/>
              </a:ext>
            </a:extLst>
          </p:cNvPr>
          <p:cNvSpPr>
            <a:spLocks xmlns:a="http://schemas.openxmlformats.org/drawingml/2006/main" noGrp="1"/>
          </p:cNvSpPr>
          <p:nvPr/>
        </p:nvSpPr>
        <p:spPr>
          <a:xfrm xmlns:a="http://schemas.openxmlformats.org/drawingml/2006/main">
            <a:off x="3467100" y="1790700"/>
            <a:ext cx="76200" cy="1200150"/>
          </a:xfrm>
          <a:prstGeom xmlns:a="http://schemas.openxmlformats.org/drawingml/2006/main" prst="rect">
            <a:avLst/>
          </a:prstGeom>
          <a:solidFill xmlns:a="http://schemas.openxmlformats.org/drawingml/2006/main">
            <a:srgbClr val="C86F4D"/>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B377FB98-DEBF-4D0B-A7E4-F1E70817FE5D}"/>
              </a:ext>
            </a:extLst>
          </p:cNvPr>
          <p:cNvSpPr>
            <a:spLocks xmlns:a="http://schemas.openxmlformats.org/drawingml/2006/main" noGrp="1"/>
          </p:cNvSpPr>
          <p:nvPr/>
        </p:nvSpPr>
        <p:spPr>
          <a:xfrm xmlns:a="http://schemas.openxmlformats.org/drawingml/2006/main">
            <a:off x="3695700" y="1962150"/>
            <a:ext cx="2000250" cy="19050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975" b="1">
                <a:solidFill>
                  <a:srgbClr val="6C6A66"/>
                </a:solidFill>
              </a:defRPr>
            </a:pPr>
            <a:r>
              <a:t>Post-2022</a:t>
            </a:r>
          </a:p>
        </p:txBody>
      </p:sp>
      <p:sp>
        <p:nvSpPr>
          <p:cNvPr id="13" name="">
            <a:extLst xmlns:a="http://schemas.openxmlformats.org/drawingml/2006/main">
              <a:ext uri="{FF2B5EF4-FFF2-40B4-BE49-F238E27FC236}">
                <a16:creationId xmlns:a16="http://schemas.microsoft.com/office/drawing/2014/main" id="{03227177-EF11-49D5-A221-65A60346E389}"/>
              </a:ext>
            </a:extLst>
          </p:cNvPr>
          <p:cNvSpPr>
            <a:spLocks xmlns:a="http://schemas.openxmlformats.org/drawingml/2006/main" noGrp="1"/>
          </p:cNvSpPr>
          <p:nvPr/>
        </p:nvSpPr>
        <p:spPr>
          <a:xfrm xmlns:a="http://schemas.openxmlformats.org/drawingml/2006/main">
            <a:off x="3695700" y="2190750"/>
            <a:ext cx="2000250" cy="38100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2100" b="1">
                <a:solidFill>
                  <a:srgbClr val="C86F4D"/>
                </a:solidFill>
              </a:defRPr>
            </a:pPr>
            <a:r>
              <a:t>+8.53% YoY</a:t>
            </a:r>
          </a:p>
        </p:txBody>
      </p:sp>
      <p:sp>
        <p:nvSpPr>
          <p:cNvPr id="14" name="">
            <a:extLst xmlns:a="http://schemas.openxmlformats.org/drawingml/2006/main">
              <a:ext uri="{FF2B5EF4-FFF2-40B4-BE49-F238E27FC236}">
                <a16:creationId xmlns:a16="http://schemas.microsoft.com/office/drawing/2014/main" id="{DDD02E6C-9742-48FE-887D-CF002B5CD1DD}"/>
              </a:ext>
            </a:extLst>
          </p:cNvPr>
          <p:cNvSpPr>
            <a:spLocks xmlns:a="http://schemas.openxmlformats.org/drawingml/2006/main" noGrp="1"/>
          </p:cNvSpPr>
          <p:nvPr/>
        </p:nvSpPr>
        <p:spPr>
          <a:xfrm xmlns:a="http://schemas.openxmlformats.org/drawingml/2006/main">
            <a:off x="3695700" y="2628900"/>
            <a:ext cx="2000250" cy="3238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900">
                <a:solidFill>
                  <a:srgbClr val="2F3136"/>
                </a:solidFill>
              </a:defRPr>
            </a:pPr>
            <a:r>
              <a:t>Inflation moyenne après la rupture</a:t>
            </a:r>
          </a:p>
        </p:txBody>
      </p:sp>
      <p:sp>
        <p:nvSpPr>
          <p:cNvPr id="15" name="">
            <a:extLst xmlns:a="http://schemas.openxmlformats.org/drawingml/2006/main">
              <a:ext uri="{FF2B5EF4-FFF2-40B4-BE49-F238E27FC236}">
                <a16:creationId xmlns:a16="http://schemas.microsoft.com/office/drawing/2014/main" id="{560C2097-FA7B-4CB4-B123-2D41AF65D52E}"/>
              </a:ext>
            </a:extLst>
          </p:cNvPr>
          <p:cNvSpPr>
            <a:spLocks xmlns:a="http://schemas.openxmlformats.org/drawingml/2006/main" noGrp="1"/>
          </p:cNvSpPr>
          <p:nvPr/>
        </p:nvSpPr>
        <p:spPr>
          <a:xfrm xmlns:a="http://schemas.openxmlformats.org/drawingml/2006/main">
            <a:off x="6057900" y="1790700"/>
            <a:ext cx="2381250" cy="1200150"/>
          </a:xfrm>
          <a:prstGeom xmlns:a="http://schemas.openxmlformats.org/drawingml/2006/main" prst="rect">
            <a:avLst/>
          </a:prstGeom>
          <a:solidFill xmlns:a="http://schemas.openxmlformats.org/drawingml/2006/main">
            <a:srgbClr val="FFFFFF"/>
          </a:solidFill>
          <a:ln xmlns:a="http://schemas.openxmlformats.org/drawingml/2006/main" w="9525">
            <a:solidFill>
              <a:srgbClr val="EEE4D3"/>
            </a:solidFill>
            <a:prstDash val="solid"/>
          </a:ln>
        </p:spPr>
      </p:sp>
      <p:sp>
        <p:nvSpPr>
          <p:cNvPr id="16" name="">
            <a:extLst xmlns:a="http://schemas.openxmlformats.org/drawingml/2006/main">
              <a:ext uri="{FF2B5EF4-FFF2-40B4-BE49-F238E27FC236}">
                <a16:creationId xmlns:a16="http://schemas.microsoft.com/office/drawing/2014/main" id="{9A35F161-8DC3-44B1-85A6-AC7F94757272}"/>
              </a:ext>
            </a:extLst>
          </p:cNvPr>
          <p:cNvSpPr>
            <a:spLocks xmlns:a="http://schemas.openxmlformats.org/drawingml/2006/main" noGrp="1"/>
          </p:cNvSpPr>
          <p:nvPr/>
        </p:nvSpPr>
        <p:spPr>
          <a:xfrm xmlns:a="http://schemas.openxmlformats.org/drawingml/2006/main">
            <a:off x="6057900" y="1790700"/>
            <a:ext cx="76200" cy="1200150"/>
          </a:xfrm>
          <a:prstGeom xmlns:a="http://schemas.openxmlformats.org/drawingml/2006/main" prst="rect">
            <a:avLst/>
          </a:prstGeom>
          <a:solidFill xmlns:a="http://schemas.openxmlformats.org/drawingml/2006/main">
            <a:srgbClr val="5E7E6A"/>
          </a:solidFill>
          <a:ln xmlns:a="http://schemas.openxmlformats.org/drawingml/2006/main" w="0">
            <a:noFill/>
            <a:prstDash val="solid"/>
          </a:ln>
        </p:spPr>
      </p:sp>
      <p:sp>
        <p:nvSpPr>
          <p:cNvPr id="17" name="">
            <a:extLst xmlns:a="http://schemas.openxmlformats.org/drawingml/2006/main">
              <a:ext uri="{FF2B5EF4-FFF2-40B4-BE49-F238E27FC236}">
                <a16:creationId xmlns:a16="http://schemas.microsoft.com/office/drawing/2014/main" id="{FD087D95-DAF4-4FB0-88C5-B390ED9C872D}"/>
              </a:ext>
            </a:extLst>
          </p:cNvPr>
          <p:cNvSpPr>
            <a:spLocks xmlns:a="http://schemas.openxmlformats.org/drawingml/2006/main" noGrp="1"/>
          </p:cNvSpPr>
          <p:nvPr/>
        </p:nvSpPr>
        <p:spPr>
          <a:xfrm xmlns:a="http://schemas.openxmlformats.org/drawingml/2006/main">
            <a:off x="6286500" y="1962150"/>
            <a:ext cx="2000250" cy="19050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975" b="1">
                <a:solidFill>
                  <a:srgbClr val="6C6A66"/>
                </a:solidFill>
              </a:defRPr>
            </a:pPr>
            <a:r>
              <a:t>Multiplicateur</a:t>
            </a:r>
          </a:p>
        </p:txBody>
      </p:sp>
      <p:sp>
        <p:nvSpPr>
          <p:cNvPr id="18" name="">
            <a:extLst xmlns:a="http://schemas.openxmlformats.org/drawingml/2006/main">
              <a:ext uri="{FF2B5EF4-FFF2-40B4-BE49-F238E27FC236}">
                <a16:creationId xmlns:a16="http://schemas.microsoft.com/office/drawing/2014/main" id="{0210599C-AD43-4897-AE5B-4868D5AA0675}"/>
              </a:ext>
            </a:extLst>
          </p:cNvPr>
          <p:cNvSpPr>
            <a:spLocks xmlns:a="http://schemas.openxmlformats.org/drawingml/2006/main" noGrp="1"/>
          </p:cNvSpPr>
          <p:nvPr/>
        </p:nvSpPr>
        <p:spPr>
          <a:xfrm xmlns:a="http://schemas.openxmlformats.org/drawingml/2006/main">
            <a:off x="6286500" y="2190750"/>
            <a:ext cx="2000250" cy="38100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2100" b="1">
                <a:solidFill>
                  <a:srgbClr val="5E7E6A"/>
                </a:solidFill>
              </a:defRPr>
            </a:pPr>
            <a:r>
              <a:t>x11.6</a:t>
            </a:r>
          </a:p>
        </p:txBody>
      </p:sp>
      <p:sp>
        <p:nvSpPr>
          <p:cNvPr id="19" name="">
            <a:extLst xmlns:a="http://schemas.openxmlformats.org/drawingml/2006/main">
              <a:ext uri="{FF2B5EF4-FFF2-40B4-BE49-F238E27FC236}">
                <a16:creationId xmlns:a16="http://schemas.microsoft.com/office/drawing/2014/main" id="{45B92BA6-EEB9-4A81-BFB9-76288BB00B5A}"/>
              </a:ext>
            </a:extLst>
          </p:cNvPr>
          <p:cNvSpPr>
            <a:spLocks xmlns:a="http://schemas.openxmlformats.org/drawingml/2006/main" noGrp="1"/>
          </p:cNvSpPr>
          <p:nvPr/>
        </p:nvSpPr>
        <p:spPr>
          <a:xfrm xmlns:a="http://schemas.openxmlformats.org/drawingml/2006/main">
            <a:off x="6286500" y="2628900"/>
            <a:ext cx="2000250" cy="3238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900">
                <a:solidFill>
                  <a:srgbClr val="2F3136"/>
                </a:solidFill>
              </a:defRPr>
            </a:pPr>
            <a:r>
              <a:t>Hausse moyenne relative</a:t>
            </a:r>
          </a:p>
        </p:txBody>
      </p:sp>
      <p:sp>
        <p:nvSpPr>
          <p:cNvPr id="20" name="">
            <a:extLst xmlns:a="http://schemas.openxmlformats.org/drawingml/2006/main">
              <a:ext uri="{FF2B5EF4-FFF2-40B4-BE49-F238E27FC236}">
                <a16:creationId xmlns:a16="http://schemas.microsoft.com/office/drawing/2014/main" id="{5087ECC4-8CB9-4021-9784-99B35BA6AD0B}"/>
              </a:ext>
            </a:extLst>
          </p:cNvPr>
          <p:cNvSpPr>
            <a:spLocks xmlns:a="http://schemas.openxmlformats.org/drawingml/2006/main" noGrp="1"/>
          </p:cNvSpPr>
          <p:nvPr/>
        </p:nvSpPr>
        <p:spPr>
          <a:xfrm xmlns:a="http://schemas.openxmlformats.org/drawingml/2006/main">
            <a:off x="8648700" y="1790700"/>
            <a:ext cx="2381250" cy="1200150"/>
          </a:xfrm>
          <a:prstGeom xmlns:a="http://schemas.openxmlformats.org/drawingml/2006/main" prst="rect">
            <a:avLst/>
          </a:prstGeom>
          <a:solidFill xmlns:a="http://schemas.openxmlformats.org/drawingml/2006/main">
            <a:srgbClr val="FFFFFF"/>
          </a:solidFill>
          <a:ln xmlns:a="http://schemas.openxmlformats.org/drawingml/2006/main" w="9525">
            <a:solidFill>
              <a:srgbClr val="EEE4D3"/>
            </a:solidFill>
            <a:prstDash val="solid"/>
          </a:ln>
        </p:spPr>
      </p:sp>
      <p:sp>
        <p:nvSpPr>
          <p:cNvPr id="21" name="">
            <a:extLst xmlns:a="http://schemas.openxmlformats.org/drawingml/2006/main">
              <a:ext uri="{FF2B5EF4-FFF2-40B4-BE49-F238E27FC236}">
                <a16:creationId xmlns:a16="http://schemas.microsoft.com/office/drawing/2014/main" id="{EA5773B7-1B1B-4B8E-8C12-64BAD9BA8E45}"/>
              </a:ext>
            </a:extLst>
          </p:cNvPr>
          <p:cNvSpPr>
            <a:spLocks xmlns:a="http://schemas.openxmlformats.org/drawingml/2006/main" noGrp="1"/>
          </p:cNvSpPr>
          <p:nvPr/>
        </p:nvSpPr>
        <p:spPr>
          <a:xfrm xmlns:a="http://schemas.openxmlformats.org/drawingml/2006/main">
            <a:off x="8648700" y="1790700"/>
            <a:ext cx="76200" cy="1200150"/>
          </a:xfrm>
          <a:prstGeom xmlns:a="http://schemas.openxmlformats.org/drawingml/2006/main" prst="rect">
            <a:avLst/>
          </a:prstGeom>
          <a:solidFill xmlns:a="http://schemas.openxmlformats.org/drawingml/2006/main">
            <a:srgbClr val="A14B4B"/>
          </a:solidFill>
          <a:ln xmlns:a="http://schemas.openxmlformats.org/drawingml/2006/main" w="0">
            <a:noFill/>
            <a:prstDash val="solid"/>
          </a:ln>
        </p:spPr>
      </p:sp>
      <p:sp>
        <p:nvSpPr>
          <p:cNvPr id="22" name="">
            <a:extLst xmlns:a="http://schemas.openxmlformats.org/drawingml/2006/main">
              <a:ext uri="{FF2B5EF4-FFF2-40B4-BE49-F238E27FC236}">
                <a16:creationId xmlns:a16="http://schemas.microsoft.com/office/drawing/2014/main" id="{D168B166-A954-4020-ABA9-9C0EBF04DDAF}"/>
              </a:ext>
            </a:extLst>
          </p:cNvPr>
          <p:cNvSpPr>
            <a:spLocks xmlns:a="http://schemas.openxmlformats.org/drawingml/2006/main" noGrp="1"/>
          </p:cNvSpPr>
          <p:nvPr/>
        </p:nvSpPr>
        <p:spPr>
          <a:xfrm xmlns:a="http://schemas.openxmlformats.org/drawingml/2006/main">
            <a:off x="8877300" y="1962150"/>
            <a:ext cx="2000250" cy="19050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975" b="1">
                <a:solidFill>
                  <a:srgbClr val="6C6A66"/>
                </a:solidFill>
              </a:defRPr>
            </a:pPr>
            <a:r>
              <a:t>Significativité</a:t>
            </a:r>
          </a:p>
        </p:txBody>
      </p:sp>
      <p:sp>
        <p:nvSpPr>
          <p:cNvPr id="23" name="">
            <a:extLst xmlns:a="http://schemas.openxmlformats.org/drawingml/2006/main">
              <a:ext uri="{FF2B5EF4-FFF2-40B4-BE49-F238E27FC236}">
                <a16:creationId xmlns:a16="http://schemas.microsoft.com/office/drawing/2014/main" id="{F36C31B1-C685-4DA3-8877-5C29B4A73F86}"/>
              </a:ext>
            </a:extLst>
          </p:cNvPr>
          <p:cNvSpPr>
            <a:spLocks xmlns:a="http://schemas.openxmlformats.org/drawingml/2006/main" noGrp="1"/>
          </p:cNvSpPr>
          <p:nvPr/>
        </p:nvSpPr>
        <p:spPr>
          <a:xfrm xmlns:a="http://schemas.openxmlformats.org/drawingml/2006/main">
            <a:off x="8877300" y="2190750"/>
            <a:ext cx="2000250" cy="38100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2100" b="1">
                <a:solidFill>
                  <a:srgbClr val="A14B4B"/>
                </a:solidFill>
              </a:defRPr>
            </a:pPr>
            <a:r>
              <a:t>p &lt; 0.0001</a:t>
            </a:r>
          </a:p>
        </p:txBody>
      </p:sp>
      <p:sp>
        <p:nvSpPr>
          <p:cNvPr id="24" name="">
            <a:extLst xmlns:a="http://schemas.openxmlformats.org/drawingml/2006/main">
              <a:ext uri="{FF2B5EF4-FFF2-40B4-BE49-F238E27FC236}">
                <a16:creationId xmlns:a16="http://schemas.microsoft.com/office/drawing/2014/main" id="{0E53391E-302C-478C-9F66-DCD88F36555D}"/>
              </a:ext>
            </a:extLst>
          </p:cNvPr>
          <p:cNvSpPr>
            <a:spLocks xmlns:a="http://schemas.openxmlformats.org/drawingml/2006/main" noGrp="1"/>
          </p:cNvSpPr>
          <p:nvPr/>
        </p:nvSpPr>
        <p:spPr>
          <a:xfrm xmlns:a="http://schemas.openxmlformats.org/drawingml/2006/main">
            <a:off x="8877300" y="2628900"/>
            <a:ext cx="2000250" cy="3238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900">
                <a:solidFill>
                  <a:srgbClr val="2F3136"/>
                </a:solidFill>
              </a:defRPr>
            </a:pPr>
            <a:r>
              <a:t>Différence de moyenne et variance</a:t>
            </a:r>
          </a:p>
        </p:txBody>
      </p:sp>
      <p:sp>
        <p:nvSpPr>
          <p:cNvPr id="25" name="">
            <a:extLst xmlns:a="http://schemas.openxmlformats.org/drawingml/2006/main">
              <a:ext uri="{FF2B5EF4-FFF2-40B4-BE49-F238E27FC236}">
                <a16:creationId xmlns:a16="http://schemas.microsoft.com/office/drawing/2014/main" id="{76818C0F-3C89-403C-AB32-C8DDA7822A1D}"/>
              </a:ext>
            </a:extLst>
          </p:cNvPr>
          <p:cNvSpPr>
            <a:spLocks xmlns:a="http://schemas.openxmlformats.org/drawingml/2006/main" noGrp="1"/>
          </p:cNvSpPr>
          <p:nvPr/>
        </p:nvSpPr>
        <p:spPr>
          <a:xfrm xmlns:a="http://schemas.openxmlformats.org/drawingml/2006/main">
            <a:off x="876300" y="3352800"/>
            <a:ext cx="10153650" cy="2133600"/>
          </a:xfrm>
          <a:prstGeom xmlns:a="http://schemas.openxmlformats.org/drawingml/2006/main" prst="rect">
            <a:avLst/>
          </a:prstGeom>
          <a:solidFill xmlns:a="http://schemas.openxmlformats.org/drawingml/2006/main">
            <a:srgbClr val="FFFFFF"/>
          </a:solidFill>
          <a:ln xmlns:a="http://schemas.openxmlformats.org/drawingml/2006/main" w="9525">
            <a:solidFill>
              <a:srgbClr val="EEE4D3"/>
            </a:solidFill>
            <a:prstDash val="solid"/>
          </a:ln>
        </p:spPr>
      </p:sp>
      <p:sp>
        <p:nvSpPr>
          <p:cNvPr id="26" name="">
            <a:extLst xmlns:a="http://schemas.openxmlformats.org/drawingml/2006/main">
              <a:ext uri="{FF2B5EF4-FFF2-40B4-BE49-F238E27FC236}">
                <a16:creationId xmlns:a16="http://schemas.microsoft.com/office/drawing/2014/main" id="{7CC6B53F-7D8F-4744-99F1-031959A8F778}"/>
              </a:ext>
            </a:extLst>
          </p:cNvPr>
          <p:cNvSpPr>
            <a:spLocks xmlns:a="http://schemas.openxmlformats.org/drawingml/2006/main" noGrp="1"/>
          </p:cNvSpPr>
          <p:nvPr/>
        </p:nvSpPr>
        <p:spPr>
          <a:xfrm xmlns:a="http://schemas.openxmlformats.org/drawingml/2006/main">
            <a:off x="1333500" y="4248150"/>
            <a:ext cx="2476500" cy="171450"/>
          </a:xfrm>
          <a:prstGeom xmlns:a="http://schemas.openxmlformats.org/drawingml/2006/main" prst="rect">
            <a:avLst/>
          </a:prstGeom>
          <a:solidFill xmlns:a="http://schemas.openxmlformats.org/drawingml/2006/main">
            <a:srgbClr val="223A5E"/>
          </a:solidFill>
          <a:ln xmlns:a="http://schemas.openxmlformats.org/drawingml/2006/main" w="0">
            <a:noFill/>
            <a:prstDash val="solid"/>
          </a:ln>
        </p:spPr>
      </p:sp>
      <p:sp>
        <p:nvSpPr>
          <p:cNvPr id="27" name="">
            <a:extLst xmlns:a="http://schemas.openxmlformats.org/drawingml/2006/main">
              <a:ext uri="{FF2B5EF4-FFF2-40B4-BE49-F238E27FC236}">
                <a16:creationId xmlns:a16="http://schemas.microsoft.com/office/drawing/2014/main" id="{060AC1D2-87DA-4F04-8DD0-6E61ADA61CBB}"/>
              </a:ext>
            </a:extLst>
          </p:cNvPr>
          <p:cNvSpPr>
            <a:spLocks xmlns:a="http://schemas.openxmlformats.org/drawingml/2006/main" noGrp="1"/>
          </p:cNvSpPr>
          <p:nvPr/>
        </p:nvSpPr>
        <p:spPr>
          <a:xfrm xmlns:a="http://schemas.openxmlformats.org/drawingml/2006/main">
            <a:off x="3810000" y="4248150"/>
            <a:ext cx="5905500" cy="171450"/>
          </a:xfrm>
          <a:prstGeom xmlns:a="http://schemas.openxmlformats.org/drawingml/2006/main" prst="rect">
            <a:avLst/>
          </a:prstGeom>
          <a:solidFill xmlns:a="http://schemas.openxmlformats.org/drawingml/2006/main">
            <a:srgbClr val="C86F4D"/>
          </a:solidFill>
          <a:ln xmlns:a="http://schemas.openxmlformats.org/drawingml/2006/main" w="0">
            <a:noFill/>
            <a:prstDash val="solid"/>
          </a:ln>
        </p:spPr>
      </p:sp>
      <p:sp>
        <p:nvSpPr>
          <p:cNvPr id="28" name="">
            <a:extLst xmlns:a="http://schemas.openxmlformats.org/drawingml/2006/main">
              <a:ext uri="{FF2B5EF4-FFF2-40B4-BE49-F238E27FC236}">
                <a16:creationId xmlns:a16="http://schemas.microsoft.com/office/drawing/2014/main" id="{1CF49856-1E79-4B47-9706-A66B9157DEFC}"/>
              </a:ext>
            </a:extLst>
          </p:cNvPr>
          <p:cNvSpPr>
            <a:spLocks xmlns:a="http://schemas.openxmlformats.org/drawingml/2006/main" noGrp="1"/>
          </p:cNvSpPr>
          <p:nvPr/>
        </p:nvSpPr>
        <p:spPr>
          <a:xfrm xmlns:a="http://schemas.openxmlformats.org/drawingml/2006/main">
            <a:off x="1333500" y="3790950"/>
            <a:ext cx="2286000" cy="22860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200" b="1">
                <a:solidFill>
                  <a:srgbClr val="223A5E"/>
                </a:solidFill>
              </a:defRPr>
            </a:pPr>
            <a:r>
              <a:t>2017–2021 : régime bas / normalisé</a:t>
            </a:r>
          </a:p>
        </p:txBody>
      </p:sp>
      <p:sp>
        <p:nvSpPr>
          <p:cNvPr id="29" name="">
            <a:extLst xmlns:a="http://schemas.openxmlformats.org/drawingml/2006/main">
              <a:ext uri="{FF2B5EF4-FFF2-40B4-BE49-F238E27FC236}">
                <a16:creationId xmlns:a16="http://schemas.microsoft.com/office/drawing/2014/main" id="{D777E21B-66FA-4AA7-BB94-5666829CBA5D}"/>
              </a:ext>
            </a:extLst>
          </p:cNvPr>
          <p:cNvSpPr>
            <a:spLocks xmlns:a="http://schemas.openxmlformats.org/drawingml/2006/main" noGrp="1"/>
          </p:cNvSpPr>
          <p:nvPr/>
        </p:nvSpPr>
        <p:spPr>
          <a:xfrm xmlns:a="http://schemas.openxmlformats.org/drawingml/2006/main">
            <a:off x="4000500" y="3790950"/>
            <a:ext cx="4000500" cy="22860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200" b="1">
                <a:solidFill>
                  <a:srgbClr val="C86F4D"/>
                </a:solidFill>
              </a:defRPr>
            </a:pPr>
            <a:r>
              <a:t>2022–2024 : régime inflationniste</a:t>
            </a:r>
          </a:p>
        </p:txBody>
      </p:sp>
      <p:sp>
        <p:nvSpPr>
          <p:cNvPr id="30" name="">
            <a:extLst xmlns:a="http://schemas.openxmlformats.org/drawingml/2006/main">
              <a:ext uri="{FF2B5EF4-FFF2-40B4-BE49-F238E27FC236}">
                <a16:creationId xmlns:a16="http://schemas.microsoft.com/office/drawing/2014/main" id="{18F28093-616C-4D24-9DF0-F61F7739A27A}"/>
              </a:ext>
            </a:extLst>
          </p:cNvPr>
          <p:cNvSpPr>
            <a:spLocks xmlns:a="http://schemas.openxmlformats.org/drawingml/2006/main" noGrp="1"/>
          </p:cNvSpPr>
          <p:nvPr/>
        </p:nvSpPr>
        <p:spPr>
          <a:xfrm xmlns:a="http://schemas.openxmlformats.org/drawingml/2006/main">
            <a:off x="3771900" y="4514850"/>
            <a:ext cx="762000" cy="19050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050" b="1">
                <a:solidFill>
                  <a:srgbClr val="2F3136"/>
                </a:solidFill>
              </a:defRPr>
            </a:pPr>
            <a:r>
              <a:t>Mars 2022</a:t>
            </a:r>
          </a:p>
        </p:txBody>
      </p:sp>
      <p:sp>
        <p:nvSpPr>
          <p:cNvPr id="31" name="">
            <a:extLst xmlns:a="http://schemas.openxmlformats.org/drawingml/2006/main">
              <a:ext uri="{FF2B5EF4-FFF2-40B4-BE49-F238E27FC236}">
                <a16:creationId xmlns:a16="http://schemas.microsoft.com/office/drawing/2014/main" id="{9B100D76-C535-46AE-8F44-1D2724EAAF91}"/>
              </a:ext>
            </a:extLst>
          </p:cNvPr>
          <p:cNvSpPr>
            <a:spLocks xmlns:a="http://schemas.openxmlformats.org/drawingml/2006/main" noGrp="1"/>
          </p:cNvSpPr>
          <p:nvPr/>
        </p:nvSpPr>
        <p:spPr>
          <a:xfrm xmlns:a="http://schemas.openxmlformats.org/drawingml/2006/main">
            <a:off x="3810000" y="4095750"/>
            <a:ext cx="19050" cy="571500"/>
          </a:xfrm>
          <a:prstGeom xmlns:a="http://schemas.openxmlformats.org/drawingml/2006/main" prst="rect">
            <a:avLst/>
          </a:prstGeom>
          <a:solidFill xmlns:a="http://schemas.openxmlformats.org/drawingml/2006/main">
            <a:srgbClr val="2F3136"/>
          </a:solidFill>
          <a:ln xmlns:a="http://schemas.openxmlformats.org/drawingml/2006/main" w="0">
            <a:noFill/>
            <a:prstDash val="solid"/>
          </a:ln>
        </p:spPr>
      </p:sp>
      <p:sp>
        <p:nvSpPr>
          <p:cNvPr id="32" name="">
            <a:extLst xmlns:a="http://schemas.openxmlformats.org/drawingml/2006/main">
              <a:ext uri="{FF2B5EF4-FFF2-40B4-BE49-F238E27FC236}">
                <a16:creationId xmlns:a16="http://schemas.microsoft.com/office/drawing/2014/main" id="{40F33BA9-0020-42A9-80FF-B7AEDE2B2ED3}"/>
              </a:ext>
            </a:extLst>
          </p:cNvPr>
          <p:cNvSpPr>
            <a:spLocks xmlns:a="http://schemas.openxmlformats.org/drawingml/2006/main" noGrp="1"/>
          </p:cNvSpPr>
          <p:nvPr/>
        </p:nvSpPr>
        <p:spPr>
          <a:xfrm xmlns:a="http://schemas.openxmlformats.org/drawingml/2006/main">
            <a:off x="1333500" y="4972050"/>
            <a:ext cx="8572500" cy="34290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350">
                <a:solidFill>
                  <a:srgbClr val="2F3136"/>
                </a:solidFill>
              </a:defRPr>
            </a:pPr>
            <a:r>
              <a:t>Cette rupture explique pourquoi un signal de régime peut être plus utile qu’une simple prévision ponctuelle de niveau IPC. Les modèles linéaires restent informatifs, mais ils se fragilisent face au choc 2022.</a:t>
            </a:r>
          </a:p>
        </p:txBody>
      </p:sp>
      <p:sp>
        <p:nvSpPr>
          <p:cNvPr id="33" name="">
            <a:extLst xmlns:a="http://schemas.openxmlformats.org/drawingml/2006/main">
              <a:ext uri="{FF2B5EF4-FFF2-40B4-BE49-F238E27FC236}">
                <a16:creationId xmlns:a16="http://schemas.microsoft.com/office/drawing/2014/main" id="{6D010725-2DBC-4AD1-989F-CDF90603FBA0}"/>
              </a:ext>
            </a:extLst>
          </p:cNvPr>
          <p:cNvSpPr>
            <a:spLocks xmlns:a="http://schemas.openxmlformats.org/drawingml/2006/main" noGrp="1"/>
          </p:cNvSpPr>
          <p:nvPr/>
        </p:nvSpPr>
        <p:spPr>
          <a:xfrm xmlns:a="http://schemas.openxmlformats.org/drawingml/2006/main">
            <a:off x="685800" y="6477000"/>
            <a:ext cx="4762500" cy="1714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825">
                <a:solidFill>
                  <a:srgbClr val="6C6A66"/>
                </a:solidFill>
              </a:defRPr>
            </a:pPr>
            <a:r>
              <a:t>ENSAM Meknes • Rupture 2022</a:t>
            </a:r>
          </a:p>
        </p:txBody>
      </p:sp>
      <p:sp>
        <p:nvSpPr>
          <p:cNvPr id="34" name="">
            <a:extLst xmlns:a="http://schemas.openxmlformats.org/drawingml/2006/main">
              <a:ext uri="{FF2B5EF4-FFF2-40B4-BE49-F238E27FC236}">
                <a16:creationId xmlns:a16="http://schemas.microsoft.com/office/drawing/2014/main" id="{02D52E9C-C73A-4089-A583-4E8ADAC2CDD4}"/>
              </a:ext>
            </a:extLst>
          </p:cNvPr>
          <p:cNvSpPr>
            <a:spLocks xmlns:a="http://schemas.openxmlformats.org/drawingml/2006/main" noGrp="1"/>
          </p:cNvSpPr>
          <p:nvPr/>
        </p:nvSpPr>
        <p:spPr>
          <a:xfrm xmlns:a="http://schemas.openxmlformats.org/drawingml/2006/main">
            <a:off x="11049000" y="6477000"/>
            <a:ext cx="476250" cy="1714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lgn="r">
              <a:defRPr sz="825">
                <a:solidFill>
                  <a:srgbClr val="6C6A66"/>
                </a:solidFill>
              </a:defRPr>
            </a:pPr>
            <a:r>
              <a:t>12</a:t>
            </a:r>
          </a:p>
        </p:txBody>
      </p:sp>
    </p:spTree>
    <p:extLst>
      <p:ext uri="{BB962C8B-B14F-4D97-AF65-F5344CB8AC3E}">
        <p14:creationId xmlns:p14="http://schemas.microsoft.com/office/powerpoint/2010/main" val="576121871"/>
      </p:ext>
    </p:extLst>
  </p:cSld>
</p:sld>
</file>

<file path=ppt/slides/slide13.xml><?xml version="1.0" encoding="utf-8"?>
<p:sld xmlns:p="http://schemas.openxmlformats.org/presentationml/2006/main">
  <p:cSld>
    <p:bg>
      <p:bgPr>
        <a:solidFill xmlns:a="http://schemas.openxmlformats.org/drawingml/2006/main">
          <a:srgbClr val="F6F1E7"/>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BD125331-5DD4-4611-9DCE-DD7C273A23B5}"/>
              </a:ext>
            </a:extLst>
          </p:cNvPr>
          <p:cNvSpPr>
            <a:spLocks xmlns:a="http://schemas.openxmlformats.org/drawingml/2006/main" noGrp="1"/>
          </p:cNvSpPr>
          <p:nvPr/>
        </p:nvSpPr>
        <p:spPr>
          <a:xfrm xmlns:a="http://schemas.openxmlformats.org/drawingml/2006/main">
            <a:off x="876300" y="704850"/>
            <a:ext cx="9334500" cy="5905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2400" b="1">
                <a:solidFill>
                  <a:srgbClr val="223A5E"/>
                </a:solidFill>
              </a:defRPr>
            </a:pPr>
            <a:r>
              <a:t>Résultats early warning</a:t>
            </a:r>
          </a:p>
        </p:txBody>
      </p:sp>
      <p:sp>
        <p:nvSpPr>
          <p:cNvPr id="2" name="">
            <a:extLst xmlns:a="http://schemas.openxmlformats.org/drawingml/2006/main">
              <a:ext uri="{FF2B5EF4-FFF2-40B4-BE49-F238E27FC236}">
                <a16:creationId xmlns:a16="http://schemas.microsoft.com/office/drawing/2014/main" id="{2C643CFF-3952-49B3-83B2-07CCD7F881AA}"/>
              </a:ext>
            </a:extLst>
          </p:cNvPr>
          <p:cNvSpPr>
            <a:spLocks xmlns:a="http://schemas.openxmlformats.org/drawingml/2006/main" noGrp="1"/>
          </p:cNvSpPr>
          <p:nvPr/>
        </p:nvSpPr>
        <p:spPr>
          <a:xfrm xmlns:a="http://schemas.openxmlformats.org/drawingml/2006/main">
            <a:off x="876300" y="1295400"/>
            <a:ext cx="9334500" cy="2857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200" b="1">
                <a:solidFill>
                  <a:srgbClr val="C86F4D"/>
                </a:solidFill>
              </a:defRPr>
            </a:pPr>
            <a:r>
              <a:t>Le BESI est surtout utile pour la détection de régime</a:t>
            </a:r>
          </a:p>
        </p:txBody>
      </p:sp>
      <p:sp>
        <p:nvSpPr>
          <p:cNvPr id="3" name="">
            <a:extLst xmlns:a="http://schemas.openxmlformats.org/drawingml/2006/main">
              <a:ext uri="{FF2B5EF4-FFF2-40B4-BE49-F238E27FC236}">
                <a16:creationId xmlns:a16="http://schemas.microsoft.com/office/drawing/2014/main" id="{D29CE7A8-357B-4557-B928-BCCEF58102B5}"/>
              </a:ext>
            </a:extLst>
          </p:cNvPr>
          <p:cNvSpPr>
            <a:spLocks xmlns:a="http://schemas.openxmlformats.org/drawingml/2006/main" noGrp="1"/>
          </p:cNvSpPr>
          <p:nvPr/>
        </p:nvSpPr>
        <p:spPr>
          <a:xfrm xmlns:a="http://schemas.openxmlformats.org/drawingml/2006/main">
            <a:off x="685800" y="6477000"/>
            <a:ext cx="4762500" cy="1714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825">
                <a:solidFill>
                  <a:srgbClr val="6C6A66"/>
                </a:solidFill>
              </a:defRPr>
            </a:pPr>
            <a:r>
              <a:t>ENSAM Meknes • BESI V3</a:t>
            </a:r>
          </a:p>
        </p:txBody>
      </p:sp>
      <p:sp>
        <p:nvSpPr>
          <p:cNvPr id="4" name="">
            <a:extLst xmlns:a="http://schemas.openxmlformats.org/drawingml/2006/main">
              <a:ext uri="{FF2B5EF4-FFF2-40B4-BE49-F238E27FC236}">
                <a16:creationId xmlns:a16="http://schemas.microsoft.com/office/drawing/2014/main" id="{14B8828E-835A-4C67-991E-C026AA6654B6}"/>
              </a:ext>
            </a:extLst>
          </p:cNvPr>
          <p:cNvSpPr>
            <a:spLocks xmlns:a="http://schemas.openxmlformats.org/drawingml/2006/main" noGrp="1"/>
          </p:cNvSpPr>
          <p:nvPr/>
        </p:nvSpPr>
        <p:spPr>
          <a:xfrm xmlns:a="http://schemas.openxmlformats.org/drawingml/2006/main">
            <a:off x="11049000" y="6477000"/>
            <a:ext cx="476250" cy="1714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lgn="r">
              <a:defRPr sz="825">
                <a:solidFill>
                  <a:srgbClr val="6C6A66"/>
                </a:solidFill>
              </a:defRPr>
            </a:pPr>
            <a:r>
              <a:t>13</a:t>
            </a:r>
          </a:p>
        </p:txBody>
      </p:sp>
      <p:sp>
        <p:nvSpPr>
          <p:cNvPr id="5" name="">
            <a:extLst xmlns:a="http://schemas.openxmlformats.org/drawingml/2006/main">
              <a:ext uri="{FF2B5EF4-FFF2-40B4-BE49-F238E27FC236}">
                <a16:creationId xmlns:a16="http://schemas.microsoft.com/office/drawing/2014/main" id="{490F0989-7055-401E-AA1E-CC6DBCAE6508}"/>
              </a:ext>
            </a:extLst>
          </p:cNvPr>
          <p:cNvSpPr>
            <a:spLocks xmlns:a="http://schemas.openxmlformats.org/drawingml/2006/main" noGrp="1"/>
          </p:cNvSpPr>
          <p:nvPr/>
        </p:nvSpPr>
        <p:spPr>
          <a:xfrm xmlns:a="http://schemas.openxmlformats.org/drawingml/2006/main">
            <a:off x="876300" y="1790700"/>
            <a:ext cx="2381250" cy="1181100"/>
          </a:xfrm>
          <a:prstGeom xmlns:a="http://schemas.openxmlformats.org/drawingml/2006/main" prst="rect">
            <a:avLst/>
          </a:prstGeom>
          <a:solidFill xmlns:a="http://schemas.openxmlformats.org/drawingml/2006/main">
            <a:srgbClr val="FFFFFF"/>
          </a:solidFill>
          <a:ln xmlns:a="http://schemas.openxmlformats.org/drawingml/2006/main" w="9525">
            <a:solidFill>
              <a:srgbClr val="EEE4D3"/>
            </a:solidFill>
            <a:prstDash val="solid"/>
          </a:ln>
        </p:spPr>
      </p:sp>
      <p:sp>
        <p:nvSpPr>
          <p:cNvPr id="6" name="">
            <a:extLst xmlns:a="http://schemas.openxmlformats.org/drawingml/2006/main">
              <a:ext uri="{FF2B5EF4-FFF2-40B4-BE49-F238E27FC236}">
                <a16:creationId xmlns:a16="http://schemas.microsoft.com/office/drawing/2014/main" id="{7B1EA7A6-31FA-4004-B187-CB943A6C0D44}"/>
              </a:ext>
            </a:extLst>
          </p:cNvPr>
          <p:cNvSpPr>
            <a:spLocks xmlns:a="http://schemas.openxmlformats.org/drawingml/2006/main" noGrp="1"/>
          </p:cNvSpPr>
          <p:nvPr/>
        </p:nvSpPr>
        <p:spPr>
          <a:xfrm xmlns:a="http://schemas.openxmlformats.org/drawingml/2006/main">
            <a:off x="876300" y="1790700"/>
            <a:ext cx="76200" cy="1181100"/>
          </a:xfrm>
          <a:prstGeom xmlns:a="http://schemas.openxmlformats.org/drawingml/2006/main" prst="rect">
            <a:avLst/>
          </a:prstGeom>
          <a:solidFill xmlns:a="http://schemas.openxmlformats.org/drawingml/2006/main">
            <a:srgbClr val="223A5E"/>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A674880C-156E-47B6-BF0E-33850E73169E}"/>
              </a:ext>
            </a:extLst>
          </p:cNvPr>
          <p:cNvSpPr>
            <a:spLocks xmlns:a="http://schemas.openxmlformats.org/drawingml/2006/main" noGrp="1"/>
          </p:cNvSpPr>
          <p:nvPr/>
        </p:nvSpPr>
        <p:spPr>
          <a:xfrm xmlns:a="http://schemas.openxmlformats.org/drawingml/2006/main">
            <a:off x="1104900" y="1962150"/>
            <a:ext cx="2000250" cy="19050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975" b="1">
                <a:solidFill>
                  <a:srgbClr val="6C6A66"/>
                </a:solidFill>
              </a:defRPr>
            </a:pPr>
            <a:r>
              <a:t>AUC globale</a:t>
            </a:r>
          </a:p>
        </p:txBody>
      </p:sp>
      <p:sp>
        <p:nvSpPr>
          <p:cNvPr id="8" name="">
            <a:extLst xmlns:a="http://schemas.openxmlformats.org/drawingml/2006/main">
              <a:ext uri="{FF2B5EF4-FFF2-40B4-BE49-F238E27FC236}">
                <a16:creationId xmlns:a16="http://schemas.microsoft.com/office/drawing/2014/main" id="{F46C17A5-810F-4BFC-9E20-5AA3832D3303}"/>
              </a:ext>
            </a:extLst>
          </p:cNvPr>
          <p:cNvSpPr>
            <a:spLocks xmlns:a="http://schemas.openxmlformats.org/drawingml/2006/main" noGrp="1"/>
          </p:cNvSpPr>
          <p:nvPr/>
        </p:nvSpPr>
        <p:spPr>
          <a:xfrm xmlns:a="http://schemas.openxmlformats.org/drawingml/2006/main">
            <a:off x="1104900" y="2190750"/>
            <a:ext cx="2000250" cy="38100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2100" b="1">
                <a:solidFill>
                  <a:srgbClr val="223A5E"/>
                </a:solidFill>
              </a:defRPr>
            </a:pPr>
            <a:r>
              <a:t>0.574</a:t>
            </a:r>
          </a:p>
        </p:txBody>
      </p:sp>
      <p:sp>
        <p:nvSpPr>
          <p:cNvPr id="9" name="">
            <a:extLst xmlns:a="http://schemas.openxmlformats.org/drawingml/2006/main">
              <a:ext uri="{FF2B5EF4-FFF2-40B4-BE49-F238E27FC236}">
                <a16:creationId xmlns:a16="http://schemas.microsoft.com/office/drawing/2014/main" id="{C7AD2FBF-7CCD-43CD-A63B-1F96885FFF10}"/>
              </a:ext>
            </a:extLst>
          </p:cNvPr>
          <p:cNvSpPr>
            <a:spLocks xmlns:a="http://schemas.openxmlformats.org/drawingml/2006/main" noGrp="1"/>
          </p:cNvSpPr>
          <p:nvPr/>
        </p:nvSpPr>
        <p:spPr>
          <a:xfrm xmlns:a="http://schemas.openxmlformats.org/drawingml/2006/main">
            <a:off x="1104900" y="2628900"/>
            <a:ext cx="2000250" cy="3238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900">
                <a:solidFill>
                  <a:srgbClr val="2F3136"/>
                </a:solidFill>
              </a:defRPr>
            </a:pPr>
            <a:r>
              <a:t>Valeur modeste mais non nulle</a:t>
            </a:r>
          </a:p>
        </p:txBody>
      </p:sp>
      <p:sp>
        <p:nvSpPr>
          <p:cNvPr id="10" name="">
            <a:extLst xmlns:a="http://schemas.openxmlformats.org/drawingml/2006/main">
              <a:ext uri="{FF2B5EF4-FFF2-40B4-BE49-F238E27FC236}">
                <a16:creationId xmlns:a16="http://schemas.microsoft.com/office/drawing/2014/main" id="{018D114A-4AD5-426E-B618-5CD4BBE48C3E}"/>
              </a:ext>
            </a:extLst>
          </p:cNvPr>
          <p:cNvSpPr>
            <a:spLocks xmlns:a="http://schemas.openxmlformats.org/drawingml/2006/main" noGrp="1"/>
          </p:cNvSpPr>
          <p:nvPr/>
        </p:nvSpPr>
        <p:spPr>
          <a:xfrm xmlns:a="http://schemas.openxmlformats.org/drawingml/2006/main">
            <a:off x="3467100" y="1790700"/>
            <a:ext cx="2381250" cy="1181100"/>
          </a:xfrm>
          <a:prstGeom xmlns:a="http://schemas.openxmlformats.org/drawingml/2006/main" prst="rect">
            <a:avLst/>
          </a:prstGeom>
          <a:solidFill xmlns:a="http://schemas.openxmlformats.org/drawingml/2006/main">
            <a:srgbClr val="FFFFFF"/>
          </a:solidFill>
          <a:ln xmlns:a="http://schemas.openxmlformats.org/drawingml/2006/main" w="9525">
            <a:solidFill>
              <a:srgbClr val="EEE4D3"/>
            </a:solidFill>
            <a:prstDash val="solid"/>
          </a:ln>
        </p:spPr>
      </p:sp>
      <p:sp>
        <p:nvSpPr>
          <p:cNvPr id="11" name="">
            <a:extLst xmlns:a="http://schemas.openxmlformats.org/drawingml/2006/main">
              <a:ext uri="{FF2B5EF4-FFF2-40B4-BE49-F238E27FC236}">
                <a16:creationId xmlns:a16="http://schemas.microsoft.com/office/drawing/2014/main" id="{1CA994B3-FF3A-4E9E-99B3-D551DCC33461}"/>
              </a:ext>
            </a:extLst>
          </p:cNvPr>
          <p:cNvSpPr>
            <a:spLocks xmlns:a="http://schemas.openxmlformats.org/drawingml/2006/main" noGrp="1"/>
          </p:cNvSpPr>
          <p:nvPr/>
        </p:nvSpPr>
        <p:spPr>
          <a:xfrm xmlns:a="http://schemas.openxmlformats.org/drawingml/2006/main">
            <a:off x="3467100" y="1790700"/>
            <a:ext cx="76200" cy="1181100"/>
          </a:xfrm>
          <a:prstGeom xmlns:a="http://schemas.openxmlformats.org/drawingml/2006/main" prst="rect">
            <a:avLst/>
          </a:prstGeom>
          <a:solidFill xmlns:a="http://schemas.openxmlformats.org/drawingml/2006/main">
            <a:srgbClr val="C86F4D"/>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082772DE-F8DD-444F-BDB4-D93138E27A16}"/>
              </a:ext>
            </a:extLst>
          </p:cNvPr>
          <p:cNvSpPr>
            <a:spLocks xmlns:a="http://schemas.openxmlformats.org/drawingml/2006/main" noGrp="1"/>
          </p:cNvSpPr>
          <p:nvPr/>
        </p:nvSpPr>
        <p:spPr>
          <a:xfrm xmlns:a="http://schemas.openxmlformats.org/drawingml/2006/main">
            <a:off x="3695700" y="1962150"/>
            <a:ext cx="2000250" cy="19050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975" b="1">
                <a:solidFill>
                  <a:srgbClr val="6C6A66"/>
                </a:solidFill>
              </a:defRPr>
            </a:pPr>
            <a:r>
              <a:t>F1 global</a:t>
            </a:r>
          </a:p>
        </p:txBody>
      </p:sp>
      <p:sp>
        <p:nvSpPr>
          <p:cNvPr id="13" name="">
            <a:extLst xmlns:a="http://schemas.openxmlformats.org/drawingml/2006/main">
              <a:ext uri="{FF2B5EF4-FFF2-40B4-BE49-F238E27FC236}">
                <a16:creationId xmlns:a16="http://schemas.microsoft.com/office/drawing/2014/main" id="{ED3952FA-5E3B-4ED1-9239-588DADC3CCEF}"/>
              </a:ext>
            </a:extLst>
          </p:cNvPr>
          <p:cNvSpPr>
            <a:spLocks xmlns:a="http://schemas.openxmlformats.org/drawingml/2006/main" noGrp="1"/>
          </p:cNvSpPr>
          <p:nvPr/>
        </p:nvSpPr>
        <p:spPr>
          <a:xfrm xmlns:a="http://schemas.openxmlformats.org/drawingml/2006/main">
            <a:off x="3695700" y="2190750"/>
            <a:ext cx="2000250" cy="38100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2100" b="1">
                <a:solidFill>
                  <a:srgbClr val="C86F4D"/>
                </a:solidFill>
              </a:defRPr>
            </a:pPr>
            <a:r>
              <a:t>0.703</a:t>
            </a:r>
          </a:p>
        </p:txBody>
      </p:sp>
      <p:sp>
        <p:nvSpPr>
          <p:cNvPr id="14" name="">
            <a:extLst xmlns:a="http://schemas.openxmlformats.org/drawingml/2006/main">
              <a:ext uri="{FF2B5EF4-FFF2-40B4-BE49-F238E27FC236}">
                <a16:creationId xmlns:a16="http://schemas.microsoft.com/office/drawing/2014/main" id="{01CCF2E0-6673-449E-BD63-DC993CEFF5C0}"/>
              </a:ext>
            </a:extLst>
          </p:cNvPr>
          <p:cNvSpPr>
            <a:spLocks xmlns:a="http://schemas.openxmlformats.org/drawingml/2006/main" noGrp="1"/>
          </p:cNvSpPr>
          <p:nvPr/>
        </p:nvSpPr>
        <p:spPr>
          <a:xfrm xmlns:a="http://schemas.openxmlformats.org/drawingml/2006/main">
            <a:off x="3695700" y="2628900"/>
            <a:ext cx="2000250" cy="3238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900">
                <a:solidFill>
                  <a:srgbClr val="2F3136"/>
                </a:solidFill>
              </a:defRPr>
            </a:pPr>
            <a:r>
              <a:t>Compromis précision / rappel</a:t>
            </a:r>
          </a:p>
        </p:txBody>
      </p:sp>
      <p:sp>
        <p:nvSpPr>
          <p:cNvPr id="15" name="">
            <a:extLst xmlns:a="http://schemas.openxmlformats.org/drawingml/2006/main">
              <a:ext uri="{FF2B5EF4-FFF2-40B4-BE49-F238E27FC236}">
                <a16:creationId xmlns:a16="http://schemas.microsoft.com/office/drawing/2014/main" id="{C6D438B7-9F8B-4950-BBA1-180A04AD4EC0}"/>
              </a:ext>
            </a:extLst>
          </p:cNvPr>
          <p:cNvSpPr>
            <a:spLocks xmlns:a="http://schemas.openxmlformats.org/drawingml/2006/main" noGrp="1"/>
          </p:cNvSpPr>
          <p:nvPr/>
        </p:nvSpPr>
        <p:spPr>
          <a:xfrm xmlns:a="http://schemas.openxmlformats.org/drawingml/2006/main">
            <a:off x="6057900" y="1790700"/>
            <a:ext cx="2381250" cy="1181100"/>
          </a:xfrm>
          <a:prstGeom xmlns:a="http://schemas.openxmlformats.org/drawingml/2006/main" prst="rect">
            <a:avLst/>
          </a:prstGeom>
          <a:solidFill xmlns:a="http://schemas.openxmlformats.org/drawingml/2006/main">
            <a:srgbClr val="FFFFFF"/>
          </a:solidFill>
          <a:ln xmlns:a="http://schemas.openxmlformats.org/drawingml/2006/main" w="9525">
            <a:solidFill>
              <a:srgbClr val="EEE4D3"/>
            </a:solidFill>
            <a:prstDash val="solid"/>
          </a:ln>
        </p:spPr>
      </p:sp>
      <p:sp>
        <p:nvSpPr>
          <p:cNvPr id="16" name="">
            <a:extLst xmlns:a="http://schemas.openxmlformats.org/drawingml/2006/main">
              <a:ext uri="{FF2B5EF4-FFF2-40B4-BE49-F238E27FC236}">
                <a16:creationId xmlns:a16="http://schemas.microsoft.com/office/drawing/2014/main" id="{A8997E51-3E1A-44B4-9DFB-6BD51E95CB8B}"/>
              </a:ext>
            </a:extLst>
          </p:cNvPr>
          <p:cNvSpPr>
            <a:spLocks xmlns:a="http://schemas.openxmlformats.org/drawingml/2006/main" noGrp="1"/>
          </p:cNvSpPr>
          <p:nvPr/>
        </p:nvSpPr>
        <p:spPr>
          <a:xfrm xmlns:a="http://schemas.openxmlformats.org/drawingml/2006/main">
            <a:off x="6057900" y="1790700"/>
            <a:ext cx="76200" cy="1181100"/>
          </a:xfrm>
          <a:prstGeom xmlns:a="http://schemas.openxmlformats.org/drawingml/2006/main" prst="rect">
            <a:avLst/>
          </a:prstGeom>
          <a:solidFill xmlns:a="http://schemas.openxmlformats.org/drawingml/2006/main">
            <a:srgbClr val="5E7E6A"/>
          </a:solidFill>
          <a:ln xmlns:a="http://schemas.openxmlformats.org/drawingml/2006/main" w="0">
            <a:noFill/>
            <a:prstDash val="solid"/>
          </a:ln>
        </p:spPr>
      </p:sp>
      <p:sp>
        <p:nvSpPr>
          <p:cNvPr id="17" name="">
            <a:extLst xmlns:a="http://schemas.openxmlformats.org/drawingml/2006/main">
              <a:ext uri="{FF2B5EF4-FFF2-40B4-BE49-F238E27FC236}">
                <a16:creationId xmlns:a16="http://schemas.microsoft.com/office/drawing/2014/main" id="{62D041FE-98A5-4D6E-ACCA-F56526859A71}"/>
              </a:ext>
            </a:extLst>
          </p:cNvPr>
          <p:cNvSpPr>
            <a:spLocks xmlns:a="http://schemas.openxmlformats.org/drawingml/2006/main" noGrp="1"/>
          </p:cNvSpPr>
          <p:nvPr/>
        </p:nvSpPr>
        <p:spPr>
          <a:xfrm xmlns:a="http://schemas.openxmlformats.org/drawingml/2006/main">
            <a:off x="6286500" y="1962150"/>
            <a:ext cx="2000250" cy="19050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975" b="1">
                <a:solidFill>
                  <a:srgbClr val="6C6A66"/>
                </a:solidFill>
              </a:defRPr>
            </a:pPr>
            <a:r>
              <a:t>Recall global</a:t>
            </a:r>
          </a:p>
        </p:txBody>
      </p:sp>
      <p:sp>
        <p:nvSpPr>
          <p:cNvPr id="18" name="">
            <a:extLst xmlns:a="http://schemas.openxmlformats.org/drawingml/2006/main">
              <a:ext uri="{FF2B5EF4-FFF2-40B4-BE49-F238E27FC236}">
                <a16:creationId xmlns:a16="http://schemas.microsoft.com/office/drawing/2014/main" id="{DDB3A1BD-FAC6-4CEB-9F70-412145181CB8}"/>
              </a:ext>
            </a:extLst>
          </p:cNvPr>
          <p:cNvSpPr>
            <a:spLocks xmlns:a="http://schemas.openxmlformats.org/drawingml/2006/main" noGrp="1"/>
          </p:cNvSpPr>
          <p:nvPr/>
        </p:nvSpPr>
        <p:spPr>
          <a:xfrm xmlns:a="http://schemas.openxmlformats.org/drawingml/2006/main">
            <a:off x="6286500" y="2190750"/>
            <a:ext cx="2000250" cy="38100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2100" b="1">
                <a:solidFill>
                  <a:srgbClr val="5E7E6A"/>
                </a:solidFill>
              </a:defRPr>
            </a:pPr>
            <a:r>
              <a:t>1.000</a:t>
            </a:r>
          </a:p>
        </p:txBody>
      </p:sp>
      <p:sp>
        <p:nvSpPr>
          <p:cNvPr id="19" name="">
            <a:extLst xmlns:a="http://schemas.openxmlformats.org/drawingml/2006/main">
              <a:ext uri="{FF2B5EF4-FFF2-40B4-BE49-F238E27FC236}">
                <a16:creationId xmlns:a16="http://schemas.microsoft.com/office/drawing/2014/main" id="{0B4F117F-1D76-4DEE-82E1-3F9AE38E77DE}"/>
              </a:ext>
            </a:extLst>
          </p:cNvPr>
          <p:cNvSpPr>
            <a:spLocks xmlns:a="http://schemas.openxmlformats.org/drawingml/2006/main" noGrp="1"/>
          </p:cNvSpPr>
          <p:nvPr/>
        </p:nvSpPr>
        <p:spPr>
          <a:xfrm xmlns:a="http://schemas.openxmlformats.org/drawingml/2006/main">
            <a:off x="6286500" y="2628900"/>
            <a:ext cx="2000250" cy="3238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900">
                <a:solidFill>
                  <a:srgbClr val="2F3136"/>
                </a:solidFill>
              </a:defRPr>
            </a:pPr>
            <a:r>
              <a:t>Aucun épisode inflationniste manqué</a:t>
            </a:r>
          </a:p>
        </p:txBody>
      </p:sp>
      <p:sp>
        <p:nvSpPr>
          <p:cNvPr id="20" name="">
            <a:extLst xmlns:a="http://schemas.openxmlformats.org/drawingml/2006/main">
              <a:ext uri="{FF2B5EF4-FFF2-40B4-BE49-F238E27FC236}">
                <a16:creationId xmlns:a16="http://schemas.microsoft.com/office/drawing/2014/main" id="{1364D034-7A2A-433A-A7AC-06F605FA6187}"/>
              </a:ext>
            </a:extLst>
          </p:cNvPr>
          <p:cNvSpPr>
            <a:spLocks xmlns:a="http://schemas.openxmlformats.org/drawingml/2006/main" noGrp="1"/>
          </p:cNvSpPr>
          <p:nvPr/>
        </p:nvSpPr>
        <p:spPr>
          <a:xfrm xmlns:a="http://schemas.openxmlformats.org/drawingml/2006/main">
            <a:off x="8648700" y="1790700"/>
            <a:ext cx="2381250" cy="1181100"/>
          </a:xfrm>
          <a:prstGeom xmlns:a="http://schemas.openxmlformats.org/drawingml/2006/main" prst="rect">
            <a:avLst/>
          </a:prstGeom>
          <a:solidFill xmlns:a="http://schemas.openxmlformats.org/drawingml/2006/main">
            <a:srgbClr val="FFFFFF"/>
          </a:solidFill>
          <a:ln xmlns:a="http://schemas.openxmlformats.org/drawingml/2006/main" w="9525">
            <a:solidFill>
              <a:srgbClr val="EEE4D3"/>
            </a:solidFill>
            <a:prstDash val="solid"/>
          </a:ln>
        </p:spPr>
      </p:sp>
      <p:sp>
        <p:nvSpPr>
          <p:cNvPr id="21" name="">
            <a:extLst xmlns:a="http://schemas.openxmlformats.org/drawingml/2006/main">
              <a:ext uri="{FF2B5EF4-FFF2-40B4-BE49-F238E27FC236}">
                <a16:creationId xmlns:a16="http://schemas.microsoft.com/office/drawing/2014/main" id="{0BF52CD8-763D-4569-906B-C07E4BA309DD}"/>
              </a:ext>
            </a:extLst>
          </p:cNvPr>
          <p:cNvSpPr>
            <a:spLocks xmlns:a="http://schemas.openxmlformats.org/drawingml/2006/main" noGrp="1"/>
          </p:cNvSpPr>
          <p:nvPr/>
        </p:nvSpPr>
        <p:spPr>
          <a:xfrm xmlns:a="http://schemas.openxmlformats.org/drawingml/2006/main">
            <a:off x="8648700" y="1790700"/>
            <a:ext cx="76200" cy="1181100"/>
          </a:xfrm>
          <a:prstGeom xmlns:a="http://schemas.openxmlformats.org/drawingml/2006/main" prst="rect">
            <a:avLst/>
          </a:prstGeom>
          <a:solidFill xmlns:a="http://schemas.openxmlformats.org/drawingml/2006/main">
            <a:srgbClr val="A14B4B"/>
          </a:solidFill>
          <a:ln xmlns:a="http://schemas.openxmlformats.org/drawingml/2006/main" w="0">
            <a:noFill/>
            <a:prstDash val="solid"/>
          </a:ln>
        </p:spPr>
      </p:sp>
      <p:sp>
        <p:nvSpPr>
          <p:cNvPr id="22" name="">
            <a:extLst xmlns:a="http://schemas.openxmlformats.org/drawingml/2006/main">
              <a:ext uri="{FF2B5EF4-FFF2-40B4-BE49-F238E27FC236}">
                <a16:creationId xmlns:a16="http://schemas.microsoft.com/office/drawing/2014/main" id="{2587A590-9A9D-4ACB-8FBC-3381B1C920AA}"/>
              </a:ext>
            </a:extLst>
          </p:cNvPr>
          <p:cNvSpPr>
            <a:spLocks xmlns:a="http://schemas.openxmlformats.org/drawingml/2006/main" noGrp="1"/>
          </p:cNvSpPr>
          <p:nvPr/>
        </p:nvSpPr>
        <p:spPr>
          <a:xfrm xmlns:a="http://schemas.openxmlformats.org/drawingml/2006/main">
            <a:off x="8877300" y="1962150"/>
            <a:ext cx="2000250" cy="19050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975" b="1">
                <a:solidFill>
                  <a:srgbClr val="6C6A66"/>
                </a:solidFill>
              </a:defRPr>
            </a:pPr>
            <a:r>
              <a:t>Bloc B</a:t>
            </a:r>
          </a:p>
        </p:txBody>
      </p:sp>
      <p:sp>
        <p:nvSpPr>
          <p:cNvPr id="23" name="">
            <a:extLst xmlns:a="http://schemas.openxmlformats.org/drawingml/2006/main">
              <a:ext uri="{FF2B5EF4-FFF2-40B4-BE49-F238E27FC236}">
                <a16:creationId xmlns:a16="http://schemas.microsoft.com/office/drawing/2014/main" id="{FC85E791-621D-4FF1-9655-DA2B1F1F2B87}"/>
              </a:ext>
            </a:extLst>
          </p:cNvPr>
          <p:cNvSpPr>
            <a:spLocks xmlns:a="http://schemas.openxmlformats.org/drawingml/2006/main" noGrp="1"/>
          </p:cNvSpPr>
          <p:nvPr/>
        </p:nvSpPr>
        <p:spPr>
          <a:xfrm xmlns:a="http://schemas.openxmlformats.org/drawingml/2006/main">
            <a:off x="8877300" y="2190750"/>
            <a:ext cx="2000250" cy="38100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2100" b="1">
                <a:solidFill>
                  <a:srgbClr val="A14B4B"/>
                </a:solidFill>
              </a:defRPr>
            </a:pPr>
            <a:r>
              <a:t>F1 = 0.814</a:t>
            </a:r>
          </a:p>
        </p:txBody>
      </p:sp>
      <p:sp>
        <p:nvSpPr>
          <p:cNvPr id="24" name="">
            <a:extLst xmlns:a="http://schemas.openxmlformats.org/drawingml/2006/main">
              <a:ext uri="{FF2B5EF4-FFF2-40B4-BE49-F238E27FC236}">
                <a16:creationId xmlns:a16="http://schemas.microsoft.com/office/drawing/2014/main" id="{08C12D54-9FC0-48DF-B1E3-3DE0B5EC287B}"/>
              </a:ext>
            </a:extLst>
          </p:cNvPr>
          <p:cNvSpPr>
            <a:spLocks xmlns:a="http://schemas.openxmlformats.org/drawingml/2006/main" noGrp="1"/>
          </p:cNvSpPr>
          <p:nvPr/>
        </p:nvSpPr>
        <p:spPr>
          <a:xfrm xmlns:a="http://schemas.openxmlformats.org/drawingml/2006/main">
            <a:off x="8877300" y="2628900"/>
            <a:ext cx="2000250" cy="3238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900">
                <a:solidFill>
                  <a:srgbClr val="2F3136"/>
                </a:solidFill>
              </a:defRPr>
            </a:pPr>
            <a:r>
              <a:t>Très bon rappel sur 2022–2024</a:t>
            </a:r>
          </a:p>
        </p:txBody>
      </p:sp>
      <p:sp>
        <p:nvSpPr>
          <p:cNvPr id="25" name="">
            <a:extLst xmlns:a="http://schemas.openxmlformats.org/drawingml/2006/main">
              <a:ext uri="{FF2B5EF4-FFF2-40B4-BE49-F238E27FC236}">
                <a16:creationId xmlns:a16="http://schemas.microsoft.com/office/drawing/2014/main" id="{E871023D-4FEA-40C4-9B90-B537652EC10D}"/>
              </a:ext>
            </a:extLst>
          </p:cNvPr>
          <p:cNvSpPr>
            <a:spLocks xmlns:a="http://schemas.openxmlformats.org/drawingml/2006/main" noGrp="1"/>
          </p:cNvSpPr>
          <p:nvPr/>
        </p:nvSpPr>
        <p:spPr>
          <a:xfrm xmlns:a="http://schemas.openxmlformats.org/drawingml/2006/main">
            <a:off x="876300" y="3314700"/>
            <a:ext cx="9525000" cy="1619250"/>
          </a:xfrm>
          <a:prstGeom xmlns:a="http://schemas.openxmlformats.org/drawingml/2006/main" prst="rect">
            <a:avLst/>
          </a:prstGeom>
          <a:solidFill xmlns:a="http://schemas.openxmlformats.org/drawingml/2006/main">
            <a:srgbClr val="FFFFFF"/>
          </a:solidFill>
          <a:ln xmlns:a="http://schemas.openxmlformats.org/drawingml/2006/main" w="9525">
            <a:solidFill>
              <a:srgbClr val="EEE4D3"/>
            </a:solidFill>
            <a:prstDash val="solid"/>
          </a:ln>
        </p:spPr>
      </p:sp>
      <p:sp>
        <p:nvSpPr>
          <p:cNvPr id="26" name="">
            <a:extLst xmlns:a="http://schemas.openxmlformats.org/drawingml/2006/main">
              <a:ext uri="{FF2B5EF4-FFF2-40B4-BE49-F238E27FC236}">
                <a16:creationId xmlns:a16="http://schemas.microsoft.com/office/drawing/2014/main" id="{946314A8-BE0F-4A14-A4A6-146A7E8D5491}"/>
              </a:ext>
            </a:extLst>
          </p:cNvPr>
          <p:cNvSpPr>
            <a:spLocks xmlns:a="http://schemas.openxmlformats.org/drawingml/2006/main" noGrp="1"/>
          </p:cNvSpPr>
          <p:nvPr/>
        </p:nvSpPr>
        <p:spPr>
          <a:xfrm xmlns:a="http://schemas.openxmlformats.org/drawingml/2006/main">
            <a:off x="876300" y="3314700"/>
            <a:ext cx="2286000" cy="323850"/>
          </a:xfrm>
          <a:prstGeom xmlns:a="http://schemas.openxmlformats.org/drawingml/2006/main" prst="rect">
            <a:avLst/>
          </a:prstGeom>
          <a:solidFill xmlns:a="http://schemas.openxmlformats.org/drawingml/2006/main">
            <a:srgbClr val="223A5E"/>
          </a:solidFill>
          <a:ln xmlns:a="http://schemas.openxmlformats.org/drawingml/2006/main" w="9525">
            <a:solidFill>
              <a:srgbClr val="223A5E"/>
            </a:solidFill>
            <a:prstDash val="solid"/>
          </a:ln>
        </p:spPr>
      </p:sp>
      <p:sp>
        <p:nvSpPr>
          <p:cNvPr id="27" name="">
            <a:extLst xmlns:a="http://schemas.openxmlformats.org/drawingml/2006/main">
              <a:ext uri="{FF2B5EF4-FFF2-40B4-BE49-F238E27FC236}">
                <a16:creationId xmlns:a16="http://schemas.microsoft.com/office/drawing/2014/main" id="{22646330-D2F9-47A2-B645-3C1F0ABF293D}"/>
              </a:ext>
            </a:extLst>
          </p:cNvPr>
          <p:cNvSpPr>
            <a:spLocks xmlns:a="http://schemas.openxmlformats.org/drawingml/2006/main" noGrp="1"/>
          </p:cNvSpPr>
          <p:nvPr/>
        </p:nvSpPr>
        <p:spPr>
          <a:xfrm xmlns:a="http://schemas.openxmlformats.org/drawingml/2006/main">
            <a:off x="952500" y="3381375"/>
            <a:ext cx="2133600" cy="19050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lgn="ctr">
              <a:defRPr sz="975" b="1">
                <a:solidFill>
                  <a:srgbClr val="FFFFFF"/>
                </a:solidFill>
              </a:defRPr>
            </a:pPr>
            <a:r>
              <a:t>Signal / Bloc</a:t>
            </a:r>
          </a:p>
        </p:txBody>
      </p:sp>
      <p:sp>
        <p:nvSpPr>
          <p:cNvPr id="28" name="">
            <a:extLst xmlns:a="http://schemas.openxmlformats.org/drawingml/2006/main">
              <a:ext uri="{FF2B5EF4-FFF2-40B4-BE49-F238E27FC236}">
                <a16:creationId xmlns:a16="http://schemas.microsoft.com/office/drawing/2014/main" id="{70525D44-C26C-4688-BD21-2BBFA07A0CFA}"/>
              </a:ext>
            </a:extLst>
          </p:cNvPr>
          <p:cNvSpPr>
            <a:spLocks xmlns:a="http://schemas.openxmlformats.org/drawingml/2006/main" noGrp="1"/>
          </p:cNvSpPr>
          <p:nvPr/>
        </p:nvSpPr>
        <p:spPr>
          <a:xfrm xmlns:a="http://schemas.openxmlformats.org/drawingml/2006/main">
            <a:off x="3162300" y="3314700"/>
            <a:ext cx="1333500" cy="323850"/>
          </a:xfrm>
          <a:prstGeom xmlns:a="http://schemas.openxmlformats.org/drawingml/2006/main" prst="rect">
            <a:avLst/>
          </a:prstGeom>
          <a:solidFill xmlns:a="http://schemas.openxmlformats.org/drawingml/2006/main">
            <a:srgbClr val="223A5E"/>
          </a:solidFill>
          <a:ln xmlns:a="http://schemas.openxmlformats.org/drawingml/2006/main" w="9525">
            <a:solidFill>
              <a:srgbClr val="223A5E"/>
            </a:solidFill>
            <a:prstDash val="solid"/>
          </a:ln>
        </p:spPr>
      </p:sp>
      <p:sp>
        <p:nvSpPr>
          <p:cNvPr id="29" name="">
            <a:extLst xmlns:a="http://schemas.openxmlformats.org/drawingml/2006/main">
              <a:ext uri="{FF2B5EF4-FFF2-40B4-BE49-F238E27FC236}">
                <a16:creationId xmlns:a16="http://schemas.microsoft.com/office/drawing/2014/main" id="{23901475-11D7-4DC3-BD40-F17C10DDDCD0}"/>
              </a:ext>
            </a:extLst>
          </p:cNvPr>
          <p:cNvSpPr>
            <a:spLocks xmlns:a="http://schemas.openxmlformats.org/drawingml/2006/main" noGrp="1"/>
          </p:cNvSpPr>
          <p:nvPr/>
        </p:nvSpPr>
        <p:spPr>
          <a:xfrm xmlns:a="http://schemas.openxmlformats.org/drawingml/2006/main">
            <a:off x="3238500" y="3381375"/>
            <a:ext cx="1181100" cy="19050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lgn="ctr">
              <a:defRPr sz="975" b="1">
                <a:solidFill>
                  <a:srgbClr val="FFFFFF"/>
                </a:solidFill>
              </a:defRPr>
            </a:pPr>
            <a:r>
              <a:t>AUC</a:t>
            </a:r>
          </a:p>
        </p:txBody>
      </p:sp>
      <p:sp>
        <p:nvSpPr>
          <p:cNvPr id="30" name="">
            <a:extLst xmlns:a="http://schemas.openxmlformats.org/drawingml/2006/main">
              <a:ext uri="{FF2B5EF4-FFF2-40B4-BE49-F238E27FC236}">
                <a16:creationId xmlns:a16="http://schemas.microsoft.com/office/drawing/2014/main" id="{1B69CC15-ACD2-41C2-A5FD-C3D3C01A2A6E}"/>
              </a:ext>
            </a:extLst>
          </p:cNvPr>
          <p:cNvSpPr>
            <a:spLocks xmlns:a="http://schemas.openxmlformats.org/drawingml/2006/main" noGrp="1"/>
          </p:cNvSpPr>
          <p:nvPr/>
        </p:nvSpPr>
        <p:spPr>
          <a:xfrm xmlns:a="http://schemas.openxmlformats.org/drawingml/2006/main">
            <a:off x="4495800" y="3314700"/>
            <a:ext cx="1333500" cy="323850"/>
          </a:xfrm>
          <a:prstGeom xmlns:a="http://schemas.openxmlformats.org/drawingml/2006/main" prst="rect">
            <a:avLst/>
          </a:prstGeom>
          <a:solidFill xmlns:a="http://schemas.openxmlformats.org/drawingml/2006/main">
            <a:srgbClr val="223A5E"/>
          </a:solidFill>
          <a:ln xmlns:a="http://schemas.openxmlformats.org/drawingml/2006/main" w="9525">
            <a:solidFill>
              <a:srgbClr val="223A5E"/>
            </a:solidFill>
            <a:prstDash val="solid"/>
          </a:ln>
        </p:spPr>
      </p:sp>
      <p:sp>
        <p:nvSpPr>
          <p:cNvPr id="31" name="">
            <a:extLst xmlns:a="http://schemas.openxmlformats.org/drawingml/2006/main">
              <a:ext uri="{FF2B5EF4-FFF2-40B4-BE49-F238E27FC236}">
                <a16:creationId xmlns:a16="http://schemas.microsoft.com/office/drawing/2014/main" id="{3B58F17E-7293-4A0F-ACED-97955F2E3256}"/>
              </a:ext>
            </a:extLst>
          </p:cNvPr>
          <p:cNvSpPr>
            <a:spLocks xmlns:a="http://schemas.openxmlformats.org/drawingml/2006/main" noGrp="1"/>
          </p:cNvSpPr>
          <p:nvPr/>
        </p:nvSpPr>
        <p:spPr>
          <a:xfrm xmlns:a="http://schemas.openxmlformats.org/drawingml/2006/main">
            <a:off x="4572000" y="3381375"/>
            <a:ext cx="1181100" cy="19050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lgn="ctr">
              <a:defRPr sz="975" b="1">
                <a:solidFill>
                  <a:srgbClr val="FFFFFF"/>
                </a:solidFill>
              </a:defRPr>
            </a:pPr>
            <a:r>
              <a:t>F1</a:t>
            </a:r>
          </a:p>
        </p:txBody>
      </p:sp>
      <p:sp>
        <p:nvSpPr>
          <p:cNvPr id="32" name="">
            <a:extLst xmlns:a="http://schemas.openxmlformats.org/drawingml/2006/main">
              <a:ext uri="{FF2B5EF4-FFF2-40B4-BE49-F238E27FC236}">
                <a16:creationId xmlns:a16="http://schemas.microsoft.com/office/drawing/2014/main" id="{E3A506EC-BA62-4CA6-9EC9-F8D91EFE9D01}"/>
              </a:ext>
            </a:extLst>
          </p:cNvPr>
          <p:cNvSpPr>
            <a:spLocks xmlns:a="http://schemas.openxmlformats.org/drawingml/2006/main" noGrp="1"/>
          </p:cNvSpPr>
          <p:nvPr/>
        </p:nvSpPr>
        <p:spPr>
          <a:xfrm xmlns:a="http://schemas.openxmlformats.org/drawingml/2006/main">
            <a:off x="5829300" y="3314700"/>
            <a:ext cx="1333500" cy="323850"/>
          </a:xfrm>
          <a:prstGeom xmlns:a="http://schemas.openxmlformats.org/drawingml/2006/main" prst="rect">
            <a:avLst/>
          </a:prstGeom>
          <a:solidFill xmlns:a="http://schemas.openxmlformats.org/drawingml/2006/main">
            <a:srgbClr val="223A5E"/>
          </a:solidFill>
          <a:ln xmlns:a="http://schemas.openxmlformats.org/drawingml/2006/main" w="9525">
            <a:solidFill>
              <a:srgbClr val="223A5E"/>
            </a:solidFill>
            <a:prstDash val="solid"/>
          </a:ln>
        </p:spPr>
      </p:sp>
      <p:sp>
        <p:nvSpPr>
          <p:cNvPr id="33" name="">
            <a:extLst xmlns:a="http://schemas.openxmlformats.org/drawingml/2006/main">
              <a:ext uri="{FF2B5EF4-FFF2-40B4-BE49-F238E27FC236}">
                <a16:creationId xmlns:a16="http://schemas.microsoft.com/office/drawing/2014/main" id="{6AE5245A-E44B-4511-BE61-B6184D40D232}"/>
              </a:ext>
            </a:extLst>
          </p:cNvPr>
          <p:cNvSpPr>
            <a:spLocks xmlns:a="http://schemas.openxmlformats.org/drawingml/2006/main" noGrp="1"/>
          </p:cNvSpPr>
          <p:nvPr/>
        </p:nvSpPr>
        <p:spPr>
          <a:xfrm xmlns:a="http://schemas.openxmlformats.org/drawingml/2006/main">
            <a:off x="5905500" y="3381375"/>
            <a:ext cx="1181100" cy="19050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lgn="ctr">
              <a:defRPr sz="975" b="1">
                <a:solidFill>
                  <a:srgbClr val="FFFFFF"/>
                </a:solidFill>
              </a:defRPr>
            </a:pPr>
            <a:r>
              <a:t>Precision</a:t>
            </a:r>
          </a:p>
        </p:txBody>
      </p:sp>
      <p:sp>
        <p:nvSpPr>
          <p:cNvPr id="34" name="">
            <a:extLst xmlns:a="http://schemas.openxmlformats.org/drawingml/2006/main">
              <a:ext uri="{FF2B5EF4-FFF2-40B4-BE49-F238E27FC236}">
                <a16:creationId xmlns:a16="http://schemas.microsoft.com/office/drawing/2014/main" id="{42E302C6-FCEB-410B-B245-0D9D651688FF}"/>
              </a:ext>
            </a:extLst>
          </p:cNvPr>
          <p:cNvSpPr>
            <a:spLocks xmlns:a="http://schemas.openxmlformats.org/drawingml/2006/main" noGrp="1"/>
          </p:cNvSpPr>
          <p:nvPr/>
        </p:nvSpPr>
        <p:spPr>
          <a:xfrm xmlns:a="http://schemas.openxmlformats.org/drawingml/2006/main">
            <a:off x="7162800" y="3314700"/>
            <a:ext cx="1333500" cy="323850"/>
          </a:xfrm>
          <a:prstGeom xmlns:a="http://schemas.openxmlformats.org/drawingml/2006/main" prst="rect">
            <a:avLst/>
          </a:prstGeom>
          <a:solidFill xmlns:a="http://schemas.openxmlformats.org/drawingml/2006/main">
            <a:srgbClr val="223A5E"/>
          </a:solidFill>
          <a:ln xmlns:a="http://schemas.openxmlformats.org/drawingml/2006/main" w="9525">
            <a:solidFill>
              <a:srgbClr val="223A5E"/>
            </a:solidFill>
            <a:prstDash val="solid"/>
          </a:ln>
        </p:spPr>
      </p:sp>
      <p:sp>
        <p:nvSpPr>
          <p:cNvPr id="35" name="">
            <a:extLst xmlns:a="http://schemas.openxmlformats.org/drawingml/2006/main">
              <a:ext uri="{FF2B5EF4-FFF2-40B4-BE49-F238E27FC236}">
                <a16:creationId xmlns:a16="http://schemas.microsoft.com/office/drawing/2014/main" id="{50F61955-570B-4822-BA49-55B9D7AD82BD}"/>
              </a:ext>
            </a:extLst>
          </p:cNvPr>
          <p:cNvSpPr>
            <a:spLocks xmlns:a="http://schemas.openxmlformats.org/drawingml/2006/main" noGrp="1"/>
          </p:cNvSpPr>
          <p:nvPr/>
        </p:nvSpPr>
        <p:spPr>
          <a:xfrm xmlns:a="http://schemas.openxmlformats.org/drawingml/2006/main">
            <a:off x="7239000" y="3381375"/>
            <a:ext cx="1181100" cy="19050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lgn="ctr">
              <a:defRPr sz="975" b="1">
                <a:solidFill>
                  <a:srgbClr val="FFFFFF"/>
                </a:solidFill>
              </a:defRPr>
            </a:pPr>
            <a:r>
              <a:t>Recall</a:t>
            </a:r>
          </a:p>
        </p:txBody>
      </p:sp>
      <p:sp>
        <p:nvSpPr>
          <p:cNvPr id="36" name="">
            <a:extLst xmlns:a="http://schemas.openxmlformats.org/drawingml/2006/main">
              <a:ext uri="{FF2B5EF4-FFF2-40B4-BE49-F238E27FC236}">
                <a16:creationId xmlns:a16="http://schemas.microsoft.com/office/drawing/2014/main" id="{7C28BB2B-1E19-4135-96E7-9B2C0444A9E9}"/>
              </a:ext>
            </a:extLst>
          </p:cNvPr>
          <p:cNvSpPr>
            <a:spLocks xmlns:a="http://schemas.openxmlformats.org/drawingml/2006/main" noGrp="1"/>
          </p:cNvSpPr>
          <p:nvPr/>
        </p:nvSpPr>
        <p:spPr>
          <a:xfrm xmlns:a="http://schemas.openxmlformats.org/drawingml/2006/main">
            <a:off x="8496300" y="3314700"/>
            <a:ext cx="1905000" cy="323850"/>
          </a:xfrm>
          <a:prstGeom xmlns:a="http://schemas.openxmlformats.org/drawingml/2006/main" prst="rect">
            <a:avLst/>
          </a:prstGeom>
          <a:solidFill xmlns:a="http://schemas.openxmlformats.org/drawingml/2006/main">
            <a:srgbClr val="223A5E"/>
          </a:solidFill>
          <a:ln xmlns:a="http://schemas.openxmlformats.org/drawingml/2006/main" w="9525">
            <a:solidFill>
              <a:srgbClr val="223A5E"/>
            </a:solidFill>
            <a:prstDash val="solid"/>
          </a:ln>
        </p:spPr>
      </p:sp>
      <p:sp>
        <p:nvSpPr>
          <p:cNvPr id="37" name="">
            <a:extLst xmlns:a="http://schemas.openxmlformats.org/drawingml/2006/main">
              <a:ext uri="{FF2B5EF4-FFF2-40B4-BE49-F238E27FC236}">
                <a16:creationId xmlns:a16="http://schemas.microsoft.com/office/drawing/2014/main" id="{EBF4E713-98BF-4F51-B6BB-CDD2F89C9B9F}"/>
              </a:ext>
            </a:extLst>
          </p:cNvPr>
          <p:cNvSpPr>
            <a:spLocks xmlns:a="http://schemas.openxmlformats.org/drawingml/2006/main" noGrp="1"/>
          </p:cNvSpPr>
          <p:nvPr/>
        </p:nvSpPr>
        <p:spPr>
          <a:xfrm xmlns:a="http://schemas.openxmlformats.org/drawingml/2006/main">
            <a:off x="8572500" y="3381375"/>
            <a:ext cx="1752600" cy="19050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lgn="ctr">
              <a:defRPr sz="975" b="1">
                <a:solidFill>
                  <a:srgbClr val="FFFFFF"/>
                </a:solidFill>
              </a:defRPr>
            </a:pPr>
            <a:r>
              <a:t>Lecture</a:t>
            </a:r>
          </a:p>
        </p:txBody>
      </p:sp>
      <p:sp>
        <p:nvSpPr>
          <p:cNvPr id="38" name="">
            <a:extLst xmlns:a="http://schemas.openxmlformats.org/drawingml/2006/main">
              <a:ext uri="{FF2B5EF4-FFF2-40B4-BE49-F238E27FC236}">
                <a16:creationId xmlns:a16="http://schemas.microsoft.com/office/drawing/2014/main" id="{05972529-F7A2-4075-993C-B18477D6F887}"/>
              </a:ext>
            </a:extLst>
          </p:cNvPr>
          <p:cNvSpPr>
            <a:spLocks xmlns:a="http://schemas.openxmlformats.org/drawingml/2006/main" noGrp="1"/>
          </p:cNvSpPr>
          <p:nvPr/>
        </p:nvSpPr>
        <p:spPr>
          <a:xfrm xmlns:a="http://schemas.openxmlformats.org/drawingml/2006/main">
            <a:off x="876300" y="3638550"/>
            <a:ext cx="2286000" cy="323850"/>
          </a:xfrm>
          <a:prstGeom xmlns:a="http://schemas.openxmlformats.org/drawingml/2006/main" prst="rect">
            <a:avLst/>
          </a:prstGeom>
          <a:solidFill xmlns:a="http://schemas.openxmlformats.org/drawingml/2006/main">
            <a:srgbClr val="FBF8F2"/>
          </a:solidFill>
          <a:ln xmlns:a="http://schemas.openxmlformats.org/drawingml/2006/main" w="9525">
            <a:solidFill>
              <a:srgbClr val="EEE4D3"/>
            </a:solidFill>
            <a:prstDash val="solid"/>
          </a:ln>
        </p:spPr>
      </p:sp>
      <p:sp>
        <p:nvSpPr>
          <p:cNvPr id="39" name="">
            <a:extLst xmlns:a="http://schemas.openxmlformats.org/drawingml/2006/main">
              <a:ext uri="{FF2B5EF4-FFF2-40B4-BE49-F238E27FC236}">
                <a16:creationId xmlns:a16="http://schemas.microsoft.com/office/drawing/2014/main" id="{A312320A-AD31-44AC-BB84-951BE99390B2}"/>
              </a:ext>
            </a:extLst>
          </p:cNvPr>
          <p:cNvSpPr>
            <a:spLocks xmlns:a="http://schemas.openxmlformats.org/drawingml/2006/main" noGrp="1"/>
          </p:cNvSpPr>
          <p:nvPr/>
        </p:nvSpPr>
        <p:spPr>
          <a:xfrm xmlns:a="http://schemas.openxmlformats.org/drawingml/2006/main">
            <a:off x="952500" y="3705225"/>
            <a:ext cx="2133600" cy="19050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lgn="l">
              <a:defRPr sz="900">
                <a:solidFill>
                  <a:srgbClr val="2F3136"/>
                </a:solidFill>
              </a:defRPr>
            </a:pPr>
            <a:r>
              <a:t>Behavioral — Bloc A</a:t>
            </a:r>
          </a:p>
        </p:txBody>
      </p:sp>
      <p:sp>
        <p:nvSpPr>
          <p:cNvPr id="40" name="">
            <a:extLst xmlns:a="http://schemas.openxmlformats.org/drawingml/2006/main">
              <a:ext uri="{FF2B5EF4-FFF2-40B4-BE49-F238E27FC236}">
                <a16:creationId xmlns:a16="http://schemas.microsoft.com/office/drawing/2014/main" id="{EA31FA85-0783-4E05-9DF4-FD52C2F9AA61}"/>
              </a:ext>
            </a:extLst>
          </p:cNvPr>
          <p:cNvSpPr>
            <a:spLocks xmlns:a="http://schemas.openxmlformats.org/drawingml/2006/main" noGrp="1"/>
          </p:cNvSpPr>
          <p:nvPr/>
        </p:nvSpPr>
        <p:spPr>
          <a:xfrm xmlns:a="http://schemas.openxmlformats.org/drawingml/2006/main">
            <a:off x="3162300" y="3638550"/>
            <a:ext cx="1333500" cy="323850"/>
          </a:xfrm>
          <a:prstGeom xmlns:a="http://schemas.openxmlformats.org/drawingml/2006/main" prst="rect">
            <a:avLst/>
          </a:prstGeom>
          <a:solidFill xmlns:a="http://schemas.openxmlformats.org/drawingml/2006/main">
            <a:srgbClr val="FBF8F2"/>
          </a:solidFill>
          <a:ln xmlns:a="http://schemas.openxmlformats.org/drawingml/2006/main" w="9525">
            <a:solidFill>
              <a:srgbClr val="EEE4D3"/>
            </a:solidFill>
            <a:prstDash val="solid"/>
          </a:ln>
        </p:spPr>
      </p:sp>
      <p:sp>
        <p:nvSpPr>
          <p:cNvPr id="41" name="">
            <a:extLst xmlns:a="http://schemas.openxmlformats.org/drawingml/2006/main">
              <a:ext uri="{FF2B5EF4-FFF2-40B4-BE49-F238E27FC236}">
                <a16:creationId xmlns:a16="http://schemas.microsoft.com/office/drawing/2014/main" id="{34ED9285-145A-4FA7-B0F3-3FAA59A98F12}"/>
              </a:ext>
            </a:extLst>
          </p:cNvPr>
          <p:cNvSpPr>
            <a:spLocks xmlns:a="http://schemas.openxmlformats.org/drawingml/2006/main" noGrp="1"/>
          </p:cNvSpPr>
          <p:nvPr/>
        </p:nvSpPr>
        <p:spPr>
          <a:xfrm xmlns:a="http://schemas.openxmlformats.org/drawingml/2006/main">
            <a:off x="3238500" y="3705225"/>
            <a:ext cx="1181100" cy="19050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lgn="ctr">
              <a:defRPr sz="900">
                <a:solidFill>
                  <a:srgbClr val="2F3136"/>
                </a:solidFill>
              </a:defRPr>
            </a:pPr>
            <a:r>
              <a:t>0.328</a:t>
            </a:r>
          </a:p>
        </p:txBody>
      </p:sp>
      <p:sp>
        <p:nvSpPr>
          <p:cNvPr id="42" name="">
            <a:extLst xmlns:a="http://schemas.openxmlformats.org/drawingml/2006/main">
              <a:ext uri="{FF2B5EF4-FFF2-40B4-BE49-F238E27FC236}">
                <a16:creationId xmlns:a16="http://schemas.microsoft.com/office/drawing/2014/main" id="{F0C77054-0F3D-4F74-9196-17636D7F78F5}"/>
              </a:ext>
            </a:extLst>
          </p:cNvPr>
          <p:cNvSpPr>
            <a:spLocks xmlns:a="http://schemas.openxmlformats.org/drawingml/2006/main" noGrp="1"/>
          </p:cNvSpPr>
          <p:nvPr/>
        </p:nvSpPr>
        <p:spPr>
          <a:xfrm xmlns:a="http://schemas.openxmlformats.org/drawingml/2006/main">
            <a:off x="4495800" y="3638550"/>
            <a:ext cx="1333500" cy="323850"/>
          </a:xfrm>
          <a:prstGeom xmlns:a="http://schemas.openxmlformats.org/drawingml/2006/main" prst="rect">
            <a:avLst/>
          </a:prstGeom>
          <a:solidFill xmlns:a="http://schemas.openxmlformats.org/drawingml/2006/main">
            <a:srgbClr val="FBF8F2"/>
          </a:solidFill>
          <a:ln xmlns:a="http://schemas.openxmlformats.org/drawingml/2006/main" w="9525">
            <a:solidFill>
              <a:srgbClr val="EEE4D3"/>
            </a:solidFill>
            <a:prstDash val="solid"/>
          </a:ln>
        </p:spPr>
      </p:sp>
      <p:sp>
        <p:nvSpPr>
          <p:cNvPr id="43" name="">
            <a:extLst xmlns:a="http://schemas.openxmlformats.org/drawingml/2006/main">
              <a:ext uri="{FF2B5EF4-FFF2-40B4-BE49-F238E27FC236}">
                <a16:creationId xmlns:a16="http://schemas.microsoft.com/office/drawing/2014/main" id="{CC097E2D-D8DC-4C89-841A-4003ADC39562}"/>
              </a:ext>
            </a:extLst>
          </p:cNvPr>
          <p:cNvSpPr>
            <a:spLocks xmlns:a="http://schemas.openxmlformats.org/drawingml/2006/main" noGrp="1"/>
          </p:cNvSpPr>
          <p:nvPr/>
        </p:nvSpPr>
        <p:spPr>
          <a:xfrm xmlns:a="http://schemas.openxmlformats.org/drawingml/2006/main">
            <a:off x="4572000" y="3705225"/>
            <a:ext cx="1181100" cy="19050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lgn="ctr">
              <a:defRPr sz="900">
                <a:solidFill>
                  <a:srgbClr val="2F3136"/>
                </a:solidFill>
              </a:defRPr>
            </a:pPr>
            <a:r>
              <a:t>0.500</a:t>
            </a:r>
          </a:p>
        </p:txBody>
      </p:sp>
      <p:sp>
        <p:nvSpPr>
          <p:cNvPr id="44" name="">
            <a:extLst xmlns:a="http://schemas.openxmlformats.org/drawingml/2006/main">
              <a:ext uri="{FF2B5EF4-FFF2-40B4-BE49-F238E27FC236}">
                <a16:creationId xmlns:a16="http://schemas.microsoft.com/office/drawing/2014/main" id="{0C11953D-AE8A-4C52-9577-37BC54C2DF34}"/>
              </a:ext>
            </a:extLst>
          </p:cNvPr>
          <p:cNvSpPr>
            <a:spLocks xmlns:a="http://schemas.openxmlformats.org/drawingml/2006/main" noGrp="1"/>
          </p:cNvSpPr>
          <p:nvPr/>
        </p:nvSpPr>
        <p:spPr>
          <a:xfrm xmlns:a="http://schemas.openxmlformats.org/drawingml/2006/main">
            <a:off x="5829300" y="3638550"/>
            <a:ext cx="1333500" cy="323850"/>
          </a:xfrm>
          <a:prstGeom xmlns:a="http://schemas.openxmlformats.org/drawingml/2006/main" prst="rect">
            <a:avLst/>
          </a:prstGeom>
          <a:solidFill xmlns:a="http://schemas.openxmlformats.org/drawingml/2006/main">
            <a:srgbClr val="FBF8F2"/>
          </a:solidFill>
          <a:ln xmlns:a="http://schemas.openxmlformats.org/drawingml/2006/main" w="9525">
            <a:solidFill>
              <a:srgbClr val="EEE4D3"/>
            </a:solidFill>
            <a:prstDash val="solid"/>
          </a:ln>
        </p:spPr>
      </p:sp>
      <p:sp>
        <p:nvSpPr>
          <p:cNvPr id="45" name="">
            <a:extLst xmlns:a="http://schemas.openxmlformats.org/drawingml/2006/main">
              <a:ext uri="{FF2B5EF4-FFF2-40B4-BE49-F238E27FC236}">
                <a16:creationId xmlns:a16="http://schemas.microsoft.com/office/drawing/2014/main" id="{AF9B2FA7-26A7-441B-99B4-350A844FE8B4}"/>
              </a:ext>
            </a:extLst>
          </p:cNvPr>
          <p:cNvSpPr>
            <a:spLocks xmlns:a="http://schemas.openxmlformats.org/drawingml/2006/main" noGrp="1"/>
          </p:cNvSpPr>
          <p:nvPr/>
        </p:nvSpPr>
        <p:spPr>
          <a:xfrm xmlns:a="http://schemas.openxmlformats.org/drawingml/2006/main">
            <a:off x="5905500" y="3705225"/>
            <a:ext cx="1181100" cy="19050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lgn="ctr">
              <a:defRPr sz="900">
                <a:solidFill>
                  <a:srgbClr val="2F3136"/>
                </a:solidFill>
              </a:defRPr>
            </a:pPr>
            <a:r>
              <a:t>0.333</a:t>
            </a:r>
          </a:p>
        </p:txBody>
      </p:sp>
      <p:sp>
        <p:nvSpPr>
          <p:cNvPr id="46" name="">
            <a:extLst xmlns:a="http://schemas.openxmlformats.org/drawingml/2006/main">
              <a:ext uri="{FF2B5EF4-FFF2-40B4-BE49-F238E27FC236}">
                <a16:creationId xmlns:a16="http://schemas.microsoft.com/office/drawing/2014/main" id="{ABC2E417-6E43-4208-A1A7-3FAB54F81ABD}"/>
              </a:ext>
            </a:extLst>
          </p:cNvPr>
          <p:cNvSpPr>
            <a:spLocks xmlns:a="http://schemas.openxmlformats.org/drawingml/2006/main" noGrp="1"/>
          </p:cNvSpPr>
          <p:nvPr/>
        </p:nvSpPr>
        <p:spPr>
          <a:xfrm xmlns:a="http://schemas.openxmlformats.org/drawingml/2006/main">
            <a:off x="7162800" y="3638550"/>
            <a:ext cx="1333500" cy="323850"/>
          </a:xfrm>
          <a:prstGeom xmlns:a="http://schemas.openxmlformats.org/drawingml/2006/main" prst="rect">
            <a:avLst/>
          </a:prstGeom>
          <a:solidFill xmlns:a="http://schemas.openxmlformats.org/drawingml/2006/main">
            <a:srgbClr val="FBF8F2"/>
          </a:solidFill>
          <a:ln xmlns:a="http://schemas.openxmlformats.org/drawingml/2006/main" w="9525">
            <a:solidFill>
              <a:srgbClr val="EEE4D3"/>
            </a:solidFill>
            <a:prstDash val="solid"/>
          </a:ln>
        </p:spPr>
      </p:sp>
      <p:sp>
        <p:nvSpPr>
          <p:cNvPr id="47" name="">
            <a:extLst xmlns:a="http://schemas.openxmlformats.org/drawingml/2006/main">
              <a:ext uri="{FF2B5EF4-FFF2-40B4-BE49-F238E27FC236}">
                <a16:creationId xmlns:a16="http://schemas.microsoft.com/office/drawing/2014/main" id="{6CF7A8F9-5BC4-4623-93C4-44723B95673F}"/>
              </a:ext>
            </a:extLst>
          </p:cNvPr>
          <p:cNvSpPr>
            <a:spLocks xmlns:a="http://schemas.openxmlformats.org/drawingml/2006/main" noGrp="1"/>
          </p:cNvSpPr>
          <p:nvPr/>
        </p:nvSpPr>
        <p:spPr>
          <a:xfrm xmlns:a="http://schemas.openxmlformats.org/drawingml/2006/main">
            <a:off x="7239000" y="3705225"/>
            <a:ext cx="1181100" cy="19050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lgn="ctr">
              <a:defRPr sz="900">
                <a:solidFill>
                  <a:srgbClr val="2F3136"/>
                </a:solidFill>
              </a:defRPr>
            </a:pPr>
            <a:r>
              <a:t>1.000</a:t>
            </a:r>
          </a:p>
        </p:txBody>
      </p:sp>
      <p:sp>
        <p:nvSpPr>
          <p:cNvPr id="48" name="">
            <a:extLst xmlns:a="http://schemas.openxmlformats.org/drawingml/2006/main">
              <a:ext uri="{FF2B5EF4-FFF2-40B4-BE49-F238E27FC236}">
                <a16:creationId xmlns:a16="http://schemas.microsoft.com/office/drawing/2014/main" id="{47000E75-03E3-4354-9415-7AF8893DE040}"/>
              </a:ext>
            </a:extLst>
          </p:cNvPr>
          <p:cNvSpPr>
            <a:spLocks xmlns:a="http://schemas.openxmlformats.org/drawingml/2006/main" noGrp="1"/>
          </p:cNvSpPr>
          <p:nvPr/>
        </p:nvSpPr>
        <p:spPr>
          <a:xfrm xmlns:a="http://schemas.openxmlformats.org/drawingml/2006/main">
            <a:off x="8496300" y="3638550"/>
            <a:ext cx="1905000" cy="323850"/>
          </a:xfrm>
          <a:prstGeom xmlns:a="http://schemas.openxmlformats.org/drawingml/2006/main" prst="rect">
            <a:avLst/>
          </a:prstGeom>
          <a:solidFill xmlns:a="http://schemas.openxmlformats.org/drawingml/2006/main">
            <a:srgbClr val="FBF8F2"/>
          </a:solidFill>
          <a:ln xmlns:a="http://schemas.openxmlformats.org/drawingml/2006/main" w="9525">
            <a:solidFill>
              <a:srgbClr val="EEE4D3"/>
            </a:solidFill>
            <a:prstDash val="solid"/>
          </a:ln>
        </p:spPr>
      </p:sp>
      <p:sp>
        <p:nvSpPr>
          <p:cNvPr id="49" name="">
            <a:extLst xmlns:a="http://schemas.openxmlformats.org/drawingml/2006/main">
              <a:ext uri="{FF2B5EF4-FFF2-40B4-BE49-F238E27FC236}">
                <a16:creationId xmlns:a16="http://schemas.microsoft.com/office/drawing/2014/main" id="{4D03566D-A160-4207-9626-97E60C4628AB}"/>
              </a:ext>
            </a:extLst>
          </p:cNvPr>
          <p:cNvSpPr>
            <a:spLocks xmlns:a="http://schemas.openxmlformats.org/drawingml/2006/main" noGrp="1"/>
          </p:cNvSpPr>
          <p:nvPr/>
        </p:nvSpPr>
        <p:spPr>
          <a:xfrm xmlns:a="http://schemas.openxmlformats.org/drawingml/2006/main">
            <a:off x="8572500" y="3705225"/>
            <a:ext cx="1752600" cy="19050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lgn="ctr">
              <a:defRPr sz="900">
                <a:solidFill>
                  <a:srgbClr val="2F3136"/>
                </a:solidFill>
              </a:defRPr>
            </a:pPr>
            <a:r>
              <a:t>Sur-alerte</a:t>
            </a:r>
          </a:p>
        </p:txBody>
      </p:sp>
      <p:sp>
        <p:nvSpPr>
          <p:cNvPr id="50" name="">
            <a:extLst xmlns:a="http://schemas.openxmlformats.org/drawingml/2006/main">
              <a:ext uri="{FF2B5EF4-FFF2-40B4-BE49-F238E27FC236}">
                <a16:creationId xmlns:a16="http://schemas.microsoft.com/office/drawing/2014/main" id="{499C4E07-8B52-4590-B7E1-14711664C49E}"/>
              </a:ext>
            </a:extLst>
          </p:cNvPr>
          <p:cNvSpPr>
            <a:spLocks xmlns:a="http://schemas.openxmlformats.org/drawingml/2006/main" noGrp="1"/>
          </p:cNvSpPr>
          <p:nvPr/>
        </p:nvSpPr>
        <p:spPr>
          <a:xfrm xmlns:a="http://schemas.openxmlformats.org/drawingml/2006/main">
            <a:off x="876300" y="3962400"/>
            <a:ext cx="2286000" cy="323850"/>
          </a:xfrm>
          <a:prstGeom xmlns:a="http://schemas.openxmlformats.org/drawingml/2006/main" prst="rect">
            <a:avLst/>
          </a:prstGeom>
          <a:solidFill xmlns:a="http://schemas.openxmlformats.org/drawingml/2006/main">
            <a:srgbClr val="FFFFFF"/>
          </a:solidFill>
          <a:ln xmlns:a="http://schemas.openxmlformats.org/drawingml/2006/main" w="9525">
            <a:solidFill>
              <a:srgbClr val="EEE4D3"/>
            </a:solidFill>
            <a:prstDash val="solid"/>
          </a:ln>
        </p:spPr>
      </p:sp>
      <p:sp>
        <p:nvSpPr>
          <p:cNvPr id="51" name="">
            <a:extLst xmlns:a="http://schemas.openxmlformats.org/drawingml/2006/main">
              <a:ext uri="{FF2B5EF4-FFF2-40B4-BE49-F238E27FC236}">
                <a16:creationId xmlns:a16="http://schemas.microsoft.com/office/drawing/2014/main" id="{4EC9A34C-94D1-4397-A257-36493329507D}"/>
              </a:ext>
            </a:extLst>
          </p:cNvPr>
          <p:cNvSpPr>
            <a:spLocks xmlns:a="http://schemas.openxmlformats.org/drawingml/2006/main" noGrp="1"/>
          </p:cNvSpPr>
          <p:nvPr/>
        </p:nvSpPr>
        <p:spPr>
          <a:xfrm xmlns:a="http://schemas.openxmlformats.org/drawingml/2006/main">
            <a:off x="952500" y="4029075"/>
            <a:ext cx="2133600" cy="19050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lgn="l">
              <a:defRPr sz="900">
                <a:solidFill>
                  <a:srgbClr val="2F3136"/>
                </a:solidFill>
              </a:defRPr>
            </a:pPr>
            <a:r>
              <a:t>Behavioral — Bloc B</a:t>
            </a:r>
          </a:p>
        </p:txBody>
      </p:sp>
      <p:sp>
        <p:nvSpPr>
          <p:cNvPr id="52" name="">
            <a:extLst xmlns:a="http://schemas.openxmlformats.org/drawingml/2006/main">
              <a:ext uri="{FF2B5EF4-FFF2-40B4-BE49-F238E27FC236}">
                <a16:creationId xmlns:a16="http://schemas.microsoft.com/office/drawing/2014/main" id="{06BD6151-1214-47B1-92B9-0CEC91F43EA2}"/>
              </a:ext>
            </a:extLst>
          </p:cNvPr>
          <p:cNvSpPr>
            <a:spLocks xmlns:a="http://schemas.openxmlformats.org/drawingml/2006/main" noGrp="1"/>
          </p:cNvSpPr>
          <p:nvPr/>
        </p:nvSpPr>
        <p:spPr>
          <a:xfrm xmlns:a="http://schemas.openxmlformats.org/drawingml/2006/main">
            <a:off x="3162300" y="3962400"/>
            <a:ext cx="1333500" cy="323850"/>
          </a:xfrm>
          <a:prstGeom xmlns:a="http://schemas.openxmlformats.org/drawingml/2006/main" prst="rect">
            <a:avLst/>
          </a:prstGeom>
          <a:solidFill xmlns:a="http://schemas.openxmlformats.org/drawingml/2006/main">
            <a:srgbClr val="FFFFFF"/>
          </a:solidFill>
          <a:ln xmlns:a="http://schemas.openxmlformats.org/drawingml/2006/main" w="9525">
            <a:solidFill>
              <a:srgbClr val="EEE4D3"/>
            </a:solidFill>
            <a:prstDash val="solid"/>
          </a:ln>
        </p:spPr>
      </p:sp>
      <p:sp>
        <p:nvSpPr>
          <p:cNvPr id="53" name="">
            <a:extLst xmlns:a="http://schemas.openxmlformats.org/drawingml/2006/main">
              <a:ext uri="{FF2B5EF4-FFF2-40B4-BE49-F238E27FC236}">
                <a16:creationId xmlns:a16="http://schemas.microsoft.com/office/drawing/2014/main" id="{AD94FA64-EDFC-4B5E-ADD5-8C69D7E4044C}"/>
              </a:ext>
            </a:extLst>
          </p:cNvPr>
          <p:cNvSpPr>
            <a:spLocks xmlns:a="http://schemas.openxmlformats.org/drawingml/2006/main" noGrp="1"/>
          </p:cNvSpPr>
          <p:nvPr/>
        </p:nvSpPr>
        <p:spPr>
          <a:xfrm xmlns:a="http://schemas.openxmlformats.org/drawingml/2006/main">
            <a:off x="3238500" y="4029075"/>
            <a:ext cx="1181100" cy="19050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lgn="ctr">
              <a:defRPr sz="900">
                <a:solidFill>
                  <a:srgbClr val="2F3136"/>
                </a:solidFill>
              </a:defRPr>
            </a:pPr>
            <a:r>
              <a:t>0.311</a:t>
            </a:r>
          </a:p>
        </p:txBody>
      </p:sp>
      <p:sp>
        <p:nvSpPr>
          <p:cNvPr id="54" name="">
            <a:extLst xmlns:a="http://schemas.openxmlformats.org/drawingml/2006/main">
              <a:ext uri="{FF2B5EF4-FFF2-40B4-BE49-F238E27FC236}">
                <a16:creationId xmlns:a16="http://schemas.microsoft.com/office/drawing/2014/main" id="{74046CDE-3142-432A-91BC-461CA468F910}"/>
              </a:ext>
            </a:extLst>
          </p:cNvPr>
          <p:cNvSpPr>
            <a:spLocks xmlns:a="http://schemas.openxmlformats.org/drawingml/2006/main" noGrp="1"/>
          </p:cNvSpPr>
          <p:nvPr/>
        </p:nvSpPr>
        <p:spPr>
          <a:xfrm xmlns:a="http://schemas.openxmlformats.org/drawingml/2006/main">
            <a:off x="4495800" y="3962400"/>
            <a:ext cx="1333500" cy="323850"/>
          </a:xfrm>
          <a:prstGeom xmlns:a="http://schemas.openxmlformats.org/drawingml/2006/main" prst="rect">
            <a:avLst/>
          </a:prstGeom>
          <a:solidFill xmlns:a="http://schemas.openxmlformats.org/drawingml/2006/main">
            <a:srgbClr val="FFFFFF"/>
          </a:solidFill>
          <a:ln xmlns:a="http://schemas.openxmlformats.org/drawingml/2006/main" w="9525">
            <a:solidFill>
              <a:srgbClr val="EEE4D3"/>
            </a:solidFill>
            <a:prstDash val="solid"/>
          </a:ln>
        </p:spPr>
      </p:sp>
      <p:sp>
        <p:nvSpPr>
          <p:cNvPr id="55" name="">
            <a:extLst xmlns:a="http://schemas.openxmlformats.org/drawingml/2006/main">
              <a:ext uri="{FF2B5EF4-FFF2-40B4-BE49-F238E27FC236}">
                <a16:creationId xmlns:a16="http://schemas.microsoft.com/office/drawing/2014/main" id="{1590939A-1F54-4F8C-9BB2-59FF4AE3A1F6}"/>
              </a:ext>
            </a:extLst>
          </p:cNvPr>
          <p:cNvSpPr>
            <a:spLocks xmlns:a="http://schemas.openxmlformats.org/drawingml/2006/main" noGrp="1"/>
          </p:cNvSpPr>
          <p:nvPr/>
        </p:nvSpPr>
        <p:spPr>
          <a:xfrm xmlns:a="http://schemas.openxmlformats.org/drawingml/2006/main">
            <a:off x="4572000" y="4029075"/>
            <a:ext cx="1181100" cy="19050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lgn="ctr">
              <a:defRPr sz="900">
                <a:solidFill>
                  <a:srgbClr val="2F3136"/>
                </a:solidFill>
              </a:defRPr>
            </a:pPr>
            <a:r>
              <a:t>0.814</a:t>
            </a:r>
          </a:p>
        </p:txBody>
      </p:sp>
      <p:sp>
        <p:nvSpPr>
          <p:cNvPr id="56" name="">
            <a:extLst xmlns:a="http://schemas.openxmlformats.org/drawingml/2006/main">
              <a:ext uri="{FF2B5EF4-FFF2-40B4-BE49-F238E27FC236}">
                <a16:creationId xmlns:a16="http://schemas.microsoft.com/office/drawing/2014/main" id="{ABA54085-7E63-45DC-8EAA-514E4E38A3D5}"/>
              </a:ext>
            </a:extLst>
          </p:cNvPr>
          <p:cNvSpPr>
            <a:spLocks xmlns:a="http://schemas.openxmlformats.org/drawingml/2006/main" noGrp="1"/>
          </p:cNvSpPr>
          <p:nvPr/>
        </p:nvSpPr>
        <p:spPr>
          <a:xfrm xmlns:a="http://schemas.openxmlformats.org/drawingml/2006/main">
            <a:off x="5829300" y="3962400"/>
            <a:ext cx="1333500" cy="323850"/>
          </a:xfrm>
          <a:prstGeom xmlns:a="http://schemas.openxmlformats.org/drawingml/2006/main" prst="rect">
            <a:avLst/>
          </a:prstGeom>
          <a:solidFill xmlns:a="http://schemas.openxmlformats.org/drawingml/2006/main">
            <a:srgbClr val="FFFFFF"/>
          </a:solidFill>
          <a:ln xmlns:a="http://schemas.openxmlformats.org/drawingml/2006/main" w="9525">
            <a:solidFill>
              <a:srgbClr val="EEE4D3"/>
            </a:solidFill>
            <a:prstDash val="solid"/>
          </a:ln>
        </p:spPr>
      </p:sp>
      <p:sp>
        <p:nvSpPr>
          <p:cNvPr id="57" name="">
            <a:extLst xmlns:a="http://schemas.openxmlformats.org/drawingml/2006/main">
              <a:ext uri="{FF2B5EF4-FFF2-40B4-BE49-F238E27FC236}">
                <a16:creationId xmlns:a16="http://schemas.microsoft.com/office/drawing/2014/main" id="{E1B63E14-4061-4731-8B65-E78CFD70DB66}"/>
              </a:ext>
            </a:extLst>
          </p:cNvPr>
          <p:cNvSpPr>
            <a:spLocks xmlns:a="http://schemas.openxmlformats.org/drawingml/2006/main" noGrp="1"/>
          </p:cNvSpPr>
          <p:nvPr/>
        </p:nvSpPr>
        <p:spPr>
          <a:xfrm xmlns:a="http://schemas.openxmlformats.org/drawingml/2006/main">
            <a:off x="5905500" y="4029075"/>
            <a:ext cx="1181100" cy="19050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lgn="ctr">
              <a:defRPr sz="900">
                <a:solidFill>
                  <a:srgbClr val="2F3136"/>
                </a:solidFill>
              </a:defRPr>
            </a:pPr>
            <a:r>
              <a:t>0.686</a:t>
            </a:r>
          </a:p>
        </p:txBody>
      </p:sp>
      <p:sp>
        <p:nvSpPr>
          <p:cNvPr id="58" name="">
            <a:extLst xmlns:a="http://schemas.openxmlformats.org/drawingml/2006/main">
              <a:ext uri="{FF2B5EF4-FFF2-40B4-BE49-F238E27FC236}">
                <a16:creationId xmlns:a16="http://schemas.microsoft.com/office/drawing/2014/main" id="{BF1A7C74-8FBA-43CE-B14B-9517EAD07C7A}"/>
              </a:ext>
            </a:extLst>
          </p:cNvPr>
          <p:cNvSpPr>
            <a:spLocks xmlns:a="http://schemas.openxmlformats.org/drawingml/2006/main" noGrp="1"/>
          </p:cNvSpPr>
          <p:nvPr/>
        </p:nvSpPr>
        <p:spPr>
          <a:xfrm xmlns:a="http://schemas.openxmlformats.org/drawingml/2006/main">
            <a:off x="7162800" y="3962400"/>
            <a:ext cx="1333500" cy="323850"/>
          </a:xfrm>
          <a:prstGeom xmlns:a="http://schemas.openxmlformats.org/drawingml/2006/main" prst="rect">
            <a:avLst/>
          </a:prstGeom>
          <a:solidFill xmlns:a="http://schemas.openxmlformats.org/drawingml/2006/main">
            <a:srgbClr val="FFFFFF"/>
          </a:solidFill>
          <a:ln xmlns:a="http://schemas.openxmlformats.org/drawingml/2006/main" w="9525">
            <a:solidFill>
              <a:srgbClr val="EEE4D3"/>
            </a:solidFill>
            <a:prstDash val="solid"/>
          </a:ln>
        </p:spPr>
      </p:sp>
      <p:sp>
        <p:nvSpPr>
          <p:cNvPr id="59" name="">
            <a:extLst xmlns:a="http://schemas.openxmlformats.org/drawingml/2006/main">
              <a:ext uri="{FF2B5EF4-FFF2-40B4-BE49-F238E27FC236}">
                <a16:creationId xmlns:a16="http://schemas.microsoft.com/office/drawing/2014/main" id="{4441ACE2-FED3-42FE-9982-AD9811C8FEBB}"/>
              </a:ext>
            </a:extLst>
          </p:cNvPr>
          <p:cNvSpPr>
            <a:spLocks xmlns:a="http://schemas.openxmlformats.org/drawingml/2006/main" noGrp="1"/>
          </p:cNvSpPr>
          <p:nvPr/>
        </p:nvSpPr>
        <p:spPr>
          <a:xfrm xmlns:a="http://schemas.openxmlformats.org/drawingml/2006/main">
            <a:off x="7239000" y="4029075"/>
            <a:ext cx="1181100" cy="19050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lgn="ctr">
              <a:defRPr sz="900">
                <a:solidFill>
                  <a:srgbClr val="2F3136"/>
                </a:solidFill>
              </a:defRPr>
            </a:pPr>
            <a:r>
              <a:t>1.000</a:t>
            </a:r>
          </a:p>
        </p:txBody>
      </p:sp>
      <p:sp>
        <p:nvSpPr>
          <p:cNvPr id="60" name="">
            <a:extLst xmlns:a="http://schemas.openxmlformats.org/drawingml/2006/main">
              <a:ext uri="{FF2B5EF4-FFF2-40B4-BE49-F238E27FC236}">
                <a16:creationId xmlns:a16="http://schemas.microsoft.com/office/drawing/2014/main" id="{85515956-CC72-4847-83B9-197C26718DD9}"/>
              </a:ext>
            </a:extLst>
          </p:cNvPr>
          <p:cNvSpPr>
            <a:spLocks xmlns:a="http://schemas.openxmlformats.org/drawingml/2006/main" noGrp="1"/>
          </p:cNvSpPr>
          <p:nvPr/>
        </p:nvSpPr>
        <p:spPr>
          <a:xfrm xmlns:a="http://schemas.openxmlformats.org/drawingml/2006/main">
            <a:off x="8496300" y="3962400"/>
            <a:ext cx="1905000" cy="323850"/>
          </a:xfrm>
          <a:prstGeom xmlns:a="http://schemas.openxmlformats.org/drawingml/2006/main" prst="rect">
            <a:avLst/>
          </a:prstGeom>
          <a:solidFill xmlns:a="http://schemas.openxmlformats.org/drawingml/2006/main">
            <a:srgbClr val="FFFFFF"/>
          </a:solidFill>
          <a:ln xmlns:a="http://schemas.openxmlformats.org/drawingml/2006/main" w="9525">
            <a:solidFill>
              <a:srgbClr val="EEE4D3"/>
            </a:solidFill>
            <a:prstDash val="solid"/>
          </a:ln>
        </p:spPr>
      </p:sp>
      <p:sp>
        <p:nvSpPr>
          <p:cNvPr id="61" name="">
            <a:extLst xmlns:a="http://schemas.openxmlformats.org/drawingml/2006/main">
              <a:ext uri="{FF2B5EF4-FFF2-40B4-BE49-F238E27FC236}">
                <a16:creationId xmlns:a16="http://schemas.microsoft.com/office/drawing/2014/main" id="{6774A766-596D-4AC1-94B4-E06CE009CF33}"/>
              </a:ext>
            </a:extLst>
          </p:cNvPr>
          <p:cNvSpPr>
            <a:spLocks xmlns:a="http://schemas.openxmlformats.org/drawingml/2006/main" noGrp="1"/>
          </p:cNvSpPr>
          <p:nvPr/>
        </p:nvSpPr>
        <p:spPr>
          <a:xfrm xmlns:a="http://schemas.openxmlformats.org/drawingml/2006/main">
            <a:off x="8572500" y="4029075"/>
            <a:ext cx="1752600" cy="19050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lgn="ctr">
              <a:defRPr sz="900">
                <a:solidFill>
                  <a:srgbClr val="2F3136"/>
                </a:solidFill>
              </a:defRPr>
            </a:pPr>
            <a:r>
              <a:t>Détecte tous les mois élevés</a:t>
            </a:r>
          </a:p>
        </p:txBody>
      </p:sp>
      <p:sp>
        <p:nvSpPr>
          <p:cNvPr id="62" name="">
            <a:extLst xmlns:a="http://schemas.openxmlformats.org/drawingml/2006/main">
              <a:ext uri="{FF2B5EF4-FFF2-40B4-BE49-F238E27FC236}">
                <a16:creationId xmlns:a16="http://schemas.microsoft.com/office/drawing/2014/main" id="{997033CB-3DD3-4FA1-AAB4-95E35F9F9A06}"/>
              </a:ext>
            </a:extLst>
          </p:cNvPr>
          <p:cNvSpPr>
            <a:spLocks xmlns:a="http://schemas.openxmlformats.org/drawingml/2006/main" noGrp="1"/>
          </p:cNvSpPr>
          <p:nvPr/>
        </p:nvSpPr>
        <p:spPr>
          <a:xfrm xmlns:a="http://schemas.openxmlformats.org/drawingml/2006/main">
            <a:off x="876300" y="4286250"/>
            <a:ext cx="2286000" cy="323850"/>
          </a:xfrm>
          <a:prstGeom xmlns:a="http://schemas.openxmlformats.org/drawingml/2006/main" prst="rect">
            <a:avLst/>
          </a:prstGeom>
          <a:solidFill xmlns:a="http://schemas.openxmlformats.org/drawingml/2006/main">
            <a:srgbClr val="FBF8F2"/>
          </a:solidFill>
          <a:ln xmlns:a="http://schemas.openxmlformats.org/drawingml/2006/main" w="9525">
            <a:solidFill>
              <a:srgbClr val="EEE4D3"/>
            </a:solidFill>
            <a:prstDash val="solid"/>
          </a:ln>
        </p:spPr>
      </p:sp>
      <p:sp>
        <p:nvSpPr>
          <p:cNvPr id="63" name="">
            <a:extLst xmlns:a="http://schemas.openxmlformats.org/drawingml/2006/main">
              <a:ext uri="{FF2B5EF4-FFF2-40B4-BE49-F238E27FC236}">
                <a16:creationId xmlns:a16="http://schemas.microsoft.com/office/drawing/2014/main" id="{50EA48C8-BF6E-489D-BB34-4E87298EFFC8}"/>
              </a:ext>
            </a:extLst>
          </p:cNvPr>
          <p:cNvSpPr>
            <a:spLocks xmlns:a="http://schemas.openxmlformats.org/drawingml/2006/main" noGrp="1"/>
          </p:cNvSpPr>
          <p:nvPr/>
        </p:nvSpPr>
        <p:spPr>
          <a:xfrm xmlns:a="http://schemas.openxmlformats.org/drawingml/2006/main">
            <a:off x="952500" y="4352925"/>
            <a:ext cx="2133600" cy="19050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lgn="l">
              <a:defRPr sz="900">
                <a:solidFill>
                  <a:srgbClr val="2F3136"/>
                </a:solidFill>
              </a:defRPr>
            </a:pPr>
            <a:r>
              <a:t>Behavioral — Global</a:t>
            </a:r>
          </a:p>
        </p:txBody>
      </p:sp>
      <p:sp>
        <p:nvSpPr>
          <p:cNvPr id="64" name="">
            <a:extLst xmlns:a="http://schemas.openxmlformats.org/drawingml/2006/main">
              <a:ext uri="{FF2B5EF4-FFF2-40B4-BE49-F238E27FC236}">
                <a16:creationId xmlns:a16="http://schemas.microsoft.com/office/drawing/2014/main" id="{A6C2D875-AF09-45C0-95B2-8422393E259A}"/>
              </a:ext>
            </a:extLst>
          </p:cNvPr>
          <p:cNvSpPr>
            <a:spLocks xmlns:a="http://schemas.openxmlformats.org/drawingml/2006/main" noGrp="1"/>
          </p:cNvSpPr>
          <p:nvPr/>
        </p:nvSpPr>
        <p:spPr>
          <a:xfrm xmlns:a="http://schemas.openxmlformats.org/drawingml/2006/main">
            <a:off x="3162300" y="4286250"/>
            <a:ext cx="1333500" cy="323850"/>
          </a:xfrm>
          <a:prstGeom xmlns:a="http://schemas.openxmlformats.org/drawingml/2006/main" prst="rect">
            <a:avLst/>
          </a:prstGeom>
          <a:solidFill xmlns:a="http://schemas.openxmlformats.org/drawingml/2006/main">
            <a:srgbClr val="FBF8F2"/>
          </a:solidFill>
          <a:ln xmlns:a="http://schemas.openxmlformats.org/drawingml/2006/main" w="9525">
            <a:solidFill>
              <a:srgbClr val="EEE4D3"/>
            </a:solidFill>
            <a:prstDash val="solid"/>
          </a:ln>
        </p:spPr>
      </p:sp>
      <p:sp>
        <p:nvSpPr>
          <p:cNvPr id="65" name="">
            <a:extLst xmlns:a="http://schemas.openxmlformats.org/drawingml/2006/main">
              <a:ext uri="{FF2B5EF4-FFF2-40B4-BE49-F238E27FC236}">
                <a16:creationId xmlns:a16="http://schemas.microsoft.com/office/drawing/2014/main" id="{FF037033-3678-49F9-95B0-2D25EA35D84E}"/>
              </a:ext>
            </a:extLst>
          </p:cNvPr>
          <p:cNvSpPr>
            <a:spLocks xmlns:a="http://schemas.openxmlformats.org/drawingml/2006/main" noGrp="1"/>
          </p:cNvSpPr>
          <p:nvPr/>
        </p:nvSpPr>
        <p:spPr>
          <a:xfrm xmlns:a="http://schemas.openxmlformats.org/drawingml/2006/main">
            <a:off x="3238500" y="4352925"/>
            <a:ext cx="1181100" cy="19050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lgn="ctr">
              <a:defRPr sz="900">
                <a:solidFill>
                  <a:srgbClr val="2F3136"/>
                </a:solidFill>
              </a:defRPr>
            </a:pPr>
            <a:r>
              <a:t>0.574</a:t>
            </a:r>
          </a:p>
        </p:txBody>
      </p:sp>
      <p:sp>
        <p:nvSpPr>
          <p:cNvPr id="66" name="">
            <a:extLst xmlns:a="http://schemas.openxmlformats.org/drawingml/2006/main">
              <a:ext uri="{FF2B5EF4-FFF2-40B4-BE49-F238E27FC236}">
                <a16:creationId xmlns:a16="http://schemas.microsoft.com/office/drawing/2014/main" id="{E5399CAF-5528-49D3-8C2E-08AB535B560A}"/>
              </a:ext>
            </a:extLst>
          </p:cNvPr>
          <p:cNvSpPr>
            <a:spLocks xmlns:a="http://schemas.openxmlformats.org/drawingml/2006/main" noGrp="1"/>
          </p:cNvSpPr>
          <p:nvPr/>
        </p:nvSpPr>
        <p:spPr>
          <a:xfrm xmlns:a="http://schemas.openxmlformats.org/drawingml/2006/main">
            <a:off x="4495800" y="4286250"/>
            <a:ext cx="1333500" cy="323850"/>
          </a:xfrm>
          <a:prstGeom xmlns:a="http://schemas.openxmlformats.org/drawingml/2006/main" prst="rect">
            <a:avLst/>
          </a:prstGeom>
          <a:solidFill xmlns:a="http://schemas.openxmlformats.org/drawingml/2006/main">
            <a:srgbClr val="FBF8F2"/>
          </a:solidFill>
          <a:ln xmlns:a="http://schemas.openxmlformats.org/drawingml/2006/main" w="9525">
            <a:solidFill>
              <a:srgbClr val="EEE4D3"/>
            </a:solidFill>
            <a:prstDash val="solid"/>
          </a:ln>
        </p:spPr>
      </p:sp>
      <p:sp>
        <p:nvSpPr>
          <p:cNvPr id="67" name="">
            <a:extLst xmlns:a="http://schemas.openxmlformats.org/drawingml/2006/main">
              <a:ext uri="{FF2B5EF4-FFF2-40B4-BE49-F238E27FC236}">
                <a16:creationId xmlns:a16="http://schemas.microsoft.com/office/drawing/2014/main" id="{89ABA58D-D6E8-421C-BCDC-AFC7CF52BBB6}"/>
              </a:ext>
            </a:extLst>
          </p:cNvPr>
          <p:cNvSpPr>
            <a:spLocks xmlns:a="http://schemas.openxmlformats.org/drawingml/2006/main" noGrp="1"/>
          </p:cNvSpPr>
          <p:nvPr/>
        </p:nvSpPr>
        <p:spPr>
          <a:xfrm xmlns:a="http://schemas.openxmlformats.org/drawingml/2006/main">
            <a:off x="4572000" y="4352925"/>
            <a:ext cx="1181100" cy="19050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lgn="ctr">
              <a:defRPr sz="900">
                <a:solidFill>
                  <a:srgbClr val="2F3136"/>
                </a:solidFill>
              </a:defRPr>
            </a:pPr>
            <a:r>
              <a:t>0.703</a:t>
            </a:r>
          </a:p>
        </p:txBody>
      </p:sp>
      <p:sp>
        <p:nvSpPr>
          <p:cNvPr id="68" name="">
            <a:extLst xmlns:a="http://schemas.openxmlformats.org/drawingml/2006/main">
              <a:ext uri="{FF2B5EF4-FFF2-40B4-BE49-F238E27FC236}">
                <a16:creationId xmlns:a16="http://schemas.microsoft.com/office/drawing/2014/main" id="{4D3469EC-3332-4EEE-81EC-E7967C5F86AB}"/>
              </a:ext>
            </a:extLst>
          </p:cNvPr>
          <p:cNvSpPr>
            <a:spLocks xmlns:a="http://schemas.openxmlformats.org/drawingml/2006/main" noGrp="1"/>
          </p:cNvSpPr>
          <p:nvPr/>
        </p:nvSpPr>
        <p:spPr>
          <a:xfrm xmlns:a="http://schemas.openxmlformats.org/drawingml/2006/main">
            <a:off x="5829300" y="4286250"/>
            <a:ext cx="1333500" cy="323850"/>
          </a:xfrm>
          <a:prstGeom xmlns:a="http://schemas.openxmlformats.org/drawingml/2006/main" prst="rect">
            <a:avLst/>
          </a:prstGeom>
          <a:solidFill xmlns:a="http://schemas.openxmlformats.org/drawingml/2006/main">
            <a:srgbClr val="FBF8F2"/>
          </a:solidFill>
          <a:ln xmlns:a="http://schemas.openxmlformats.org/drawingml/2006/main" w="9525">
            <a:solidFill>
              <a:srgbClr val="EEE4D3"/>
            </a:solidFill>
            <a:prstDash val="solid"/>
          </a:ln>
        </p:spPr>
      </p:sp>
      <p:sp>
        <p:nvSpPr>
          <p:cNvPr id="69" name="">
            <a:extLst xmlns:a="http://schemas.openxmlformats.org/drawingml/2006/main">
              <a:ext uri="{FF2B5EF4-FFF2-40B4-BE49-F238E27FC236}">
                <a16:creationId xmlns:a16="http://schemas.microsoft.com/office/drawing/2014/main" id="{1D75100E-07D0-4F8A-B00A-1C502EE727C3}"/>
              </a:ext>
            </a:extLst>
          </p:cNvPr>
          <p:cNvSpPr>
            <a:spLocks xmlns:a="http://schemas.openxmlformats.org/drawingml/2006/main" noGrp="1"/>
          </p:cNvSpPr>
          <p:nvPr/>
        </p:nvSpPr>
        <p:spPr>
          <a:xfrm xmlns:a="http://schemas.openxmlformats.org/drawingml/2006/main">
            <a:off x="5905500" y="4352925"/>
            <a:ext cx="1181100" cy="19050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lgn="ctr">
              <a:defRPr sz="900">
                <a:solidFill>
                  <a:srgbClr val="2F3136"/>
                </a:solidFill>
              </a:defRPr>
            </a:pPr>
            <a:r>
              <a:t>—</a:t>
            </a:r>
          </a:p>
        </p:txBody>
      </p:sp>
      <p:sp>
        <p:nvSpPr>
          <p:cNvPr id="70" name="">
            <a:extLst xmlns:a="http://schemas.openxmlformats.org/drawingml/2006/main">
              <a:ext uri="{FF2B5EF4-FFF2-40B4-BE49-F238E27FC236}">
                <a16:creationId xmlns:a16="http://schemas.microsoft.com/office/drawing/2014/main" id="{5FE34DD8-48C6-4073-AFB2-FE3AA726D2AE}"/>
              </a:ext>
            </a:extLst>
          </p:cNvPr>
          <p:cNvSpPr>
            <a:spLocks xmlns:a="http://schemas.openxmlformats.org/drawingml/2006/main" noGrp="1"/>
          </p:cNvSpPr>
          <p:nvPr/>
        </p:nvSpPr>
        <p:spPr>
          <a:xfrm xmlns:a="http://schemas.openxmlformats.org/drawingml/2006/main">
            <a:off x="7162800" y="4286250"/>
            <a:ext cx="1333500" cy="323850"/>
          </a:xfrm>
          <a:prstGeom xmlns:a="http://schemas.openxmlformats.org/drawingml/2006/main" prst="rect">
            <a:avLst/>
          </a:prstGeom>
          <a:solidFill xmlns:a="http://schemas.openxmlformats.org/drawingml/2006/main">
            <a:srgbClr val="FBF8F2"/>
          </a:solidFill>
          <a:ln xmlns:a="http://schemas.openxmlformats.org/drawingml/2006/main" w="9525">
            <a:solidFill>
              <a:srgbClr val="EEE4D3"/>
            </a:solidFill>
            <a:prstDash val="solid"/>
          </a:ln>
        </p:spPr>
      </p:sp>
      <p:sp>
        <p:nvSpPr>
          <p:cNvPr id="71" name="">
            <a:extLst xmlns:a="http://schemas.openxmlformats.org/drawingml/2006/main">
              <a:ext uri="{FF2B5EF4-FFF2-40B4-BE49-F238E27FC236}">
                <a16:creationId xmlns:a16="http://schemas.microsoft.com/office/drawing/2014/main" id="{EBE0D9F9-476C-4521-88BE-AE8B60443486}"/>
              </a:ext>
            </a:extLst>
          </p:cNvPr>
          <p:cNvSpPr>
            <a:spLocks xmlns:a="http://schemas.openxmlformats.org/drawingml/2006/main" noGrp="1"/>
          </p:cNvSpPr>
          <p:nvPr/>
        </p:nvSpPr>
        <p:spPr>
          <a:xfrm xmlns:a="http://schemas.openxmlformats.org/drawingml/2006/main">
            <a:off x="7239000" y="4352925"/>
            <a:ext cx="1181100" cy="19050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lgn="ctr">
              <a:defRPr sz="900">
                <a:solidFill>
                  <a:srgbClr val="2F3136"/>
                </a:solidFill>
              </a:defRPr>
            </a:pPr>
            <a:r>
              <a:t>1.000</a:t>
            </a:r>
          </a:p>
        </p:txBody>
      </p:sp>
      <p:sp>
        <p:nvSpPr>
          <p:cNvPr id="72" name="">
            <a:extLst xmlns:a="http://schemas.openxmlformats.org/drawingml/2006/main">
              <a:ext uri="{FF2B5EF4-FFF2-40B4-BE49-F238E27FC236}">
                <a16:creationId xmlns:a16="http://schemas.microsoft.com/office/drawing/2014/main" id="{1286E5DB-FFEC-4EA6-89E8-13E2A5D74317}"/>
              </a:ext>
            </a:extLst>
          </p:cNvPr>
          <p:cNvSpPr>
            <a:spLocks xmlns:a="http://schemas.openxmlformats.org/drawingml/2006/main" noGrp="1"/>
          </p:cNvSpPr>
          <p:nvPr/>
        </p:nvSpPr>
        <p:spPr>
          <a:xfrm xmlns:a="http://schemas.openxmlformats.org/drawingml/2006/main">
            <a:off x="8496300" y="4286250"/>
            <a:ext cx="1905000" cy="323850"/>
          </a:xfrm>
          <a:prstGeom xmlns:a="http://schemas.openxmlformats.org/drawingml/2006/main" prst="rect">
            <a:avLst/>
          </a:prstGeom>
          <a:solidFill xmlns:a="http://schemas.openxmlformats.org/drawingml/2006/main">
            <a:srgbClr val="FBF8F2"/>
          </a:solidFill>
          <a:ln xmlns:a="http://schemas.openxmlformats.org/drawingml/2006/main" w="9525">
            <a:solidFill>
              <a:srgbClr val="EEE4D3"/>
            </a:solidFill>
            <a:prstDash val="solid"/>
          </a:ln>
        </p:spPr>
      </p:sp>
      <p:sp>
        <p:nvSpPr>
          <p:cNvPr id="73" name="">
            <a:extLst xmlns:a="http://schemas.openxmlformats.org/drawingml/2006/main">
              <a:ext uri="{FF2B5EF4-FFF2-40B4-BE49-F238E27FC236}">
                <a16:creationId xmlns:a16="http://schemas.microsoft.com/office/drawing/2014/main" id="{6D1EB386-0B81-4FC0-BB10-C487965B3C01}"/>
              </a:ext>
            </a:extLst>
          </p:cNvPr>
          <p:cNvSpPr>
            <a:spLocks xmlns:a="http://schemas.openxmlformats.org/drawingml/2006/main" noGrp="1"/>
          </p:cNvSpPr>
          <p:nvPr/>
        </p:nvSpPr>
        <p:spPr>
          <a:xfrm xmlns:a="http://schemas.openxmlformats.org/drawingml/2006/main">
            <a:off x="8572500" y="4352925"/>
            <a:ext cx="1752600" cy="19050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lgn="ctr">
              <a:defRPr sz="900">
                <a:solidFill>
                  <a:srgbClr val="2F3136"/>
                </a:solidFill>
              </a:defRPr>
            </a:pPr>
            <a:r>
              <a:t>Signal utile mais imparfait</a:t>
            </a:r>
          </a:p>
        </p:txBody>
      </p:sp>
      <p:sp>
        <p:nvSpPr>
          <p:cNvPr id="74" name="">
            <a:extLst xmlns:a="http://schemas.openxmlformats.org/drawingml/2006/main">
              <a:ext uri="{FF2B5EF4-FFF2-40B4-BE49-F238E27FC236}">
                <a16:creationId xmlns:a16="http://schemas.microsoft.com/office/drawing/2014/main" id="{E3081AC0-48D4-46DE-AE50-8A7C2233B6F9}"/>
              </a:ext>
            </a:extLst>
          </p:cNvPr>
          <p:cNvSpPr>
            <a:spLocks xmlns:a="http://schemas.openxmlformats.org/drawingml/2006/main" noGrp="1"/>
          </p:cNvSpPr>
          <p:nvPr/>
        </p:nvSpPr>
        <p:spPr>
          <a:xfrm xmlns:a="http://schemas.openxmlformats.org/drawingml/2006/main">
            <a:off x="876300" y="4610100"/>
            <a:ext cx="2286000" cy="323850"/>
          </a:xfrm>
          <a:prstGeom xmlns:a="http://schemas.openxmlformats.org/drawingml/2006/main" prst="rect">
            <a:avLst/>
          </a:prstGeom>
          <a:solidFill xmlns:a="http://schemas.openxmlformats.org/drawingml/2006/main">
            <a:srgbClr val="FFFFFF"/>
          </a:solidFill>
          <a:ln xmlns:a="http://schemas.openxmlformats.org/drawingml/2006/main" w="9525">
            <a:solidFill>
              <a:srgbClr val="EEE4D3"/>
            </a:solidFill>
            <a:prstDash val="solid"/>
          </a:ln>
        </p:spPr>
      </p:sp>
      <p:sp>
        <p:nvSpPr>
          <p:cNvPr id="75" name="">
            <a:extLst xmlns:a="http://schemas.openxmlformats.org/drawingml/2006/main">
              <a:ext uri="{FF2B5EF4-FFF2-40B4-BE49-F238E27FC236}">
                <a16:creationId xmlns:a16="http://schemas.microsoft.com/office/drawing/2014/main" id="{364C6079-0E0C-442B-830E-E2A2FDB18FF3}"/>
              </a:ext>
            </a:extLst>
          </p:cNvPr>
          <p:cNvSpPr>
            <a:spLocks xmlns:a="http://schemas.openxmlformats.org/drawingml/2006/main" noGrp="1"/>
          </p:cNvSpPr>
          <p:nvPr/>
        </p:nvSpPr>
        <p:spPr>
          <a:xfrm xmlns:a="http://schemas.openxmlformats.org/drawingml/2006/main">
            <a:off x="952500" y="4676775"/>
            <a:ext cx="2133600" cy="19050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lgn="l">
              <a:defRPr sz="900">
                <a:solidFill>
                  <a:srgbClr val="2F3136"/>
                </a:solidFill>
              </a:defRPr>
            </a:pPr>
            <a:r>
              <a:t>Hybrid — Bloc B</a:t>
            </a:r>
          </a:p>
        </p:txBody>
      </p:sp>
      <p:sp>
        <p:nvSpPr>
          <p:cNvPr id="76" name="">
            <a:extLst xmlns:a="http://schemas.openxmlformats.org/drawingml/2006/main">
              <a:ext uri="{FF2B5EF4-FFF2-40B4-BE49-F238E27FC236}">
                <a16:creationId xmlns:a16="http://schemas.microsoft.com/office/drawing/2014/main" id="{EE267C2A-2AEF-4E4C-9268-166AF112BB56}"/>
              </a:ext>
            </a:extLst>
          </p:cNvPr>
          <p:cNvSpPr>
            <a:spLocks xmlns:a="http://schemas.openxmlformats.org/drawingml/2006/main" noGrp="1"/>
          </p:cNvSpPr>
          <p:nvPr/>
        </p:nvSpPr>
        <p:spPr>
          <a:xfrm xmlns:a="http://schemas.openxmlformats.org/drawingml/2006/main">
            <a:off x="3162300" y="4610100"/>
            <a:ext cx="1333500" cy="323850"/>
          </a:xfrm>
          <a:prstGeom xmlns:a="http://schemas.openxmlformats.org/drawingml/2006/main" prst="rect">
            <a:avLst/>
          </a:prstGeom>
          <a:solidFill xmlns:a="http://schemas.openxmlformats.org/drawingml/2006/main">
            <a:srgbClr val="FFFFFF"/>
          </a:solidFill>
          <a:ln xmlns:a="http://schemas.openxmlformats.org/drawingml/2006/main" w="9525">
            <a:solidFill>
              <a:srgbClr val="EEE4D3"/>
            </a:solidFill>
            <a:prstDash val="solid"/>
          </a:ln>
        </p:spPr>
      </p:sp>
      <p:sp>
        <p:nvSpPr>
          <p:cNvPr id="77" name="">
            <a:extLst xmlns:a="http://schemas.openxmlformats.org/drawingml/2006/main">
              <a:ext uri="{FF2B5EF4-FFF2-40B4-BE49-F238E27FC236}">
                <a16:creationId xmlns:a16="http://schemas.microsoft.com/office/drawing/2014/main" id="{7AA01417-ADAC-4594-8617-477F77A6BB32}"/>
              </a:ext>
            </a:extLst>
          </p:cNvPr>
          <p:cNvSpPr>
            <a:spLocks xmlns:a="http://schemas.openxmlformats.org/drawingml/2006/main" noGrp="1"/>
          </p:cNvSpPr>
          <p:nvPr/>
        </p:nvSpPr>
        <p:spPr>
          <a:xfrm xmlns:a="http://schemas.openxmlformats.org/drawingml/2006/main">
            <a:off x="3238500" y="4676775"/>
            <a:ext cx="1181100" cy="19050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lgn="ctr">
              <a:defRPr sz="900">
                <a:solidFill>
                  <a:srgbClr val="2F3136"/>
                </a:solidFill>
              </a:defRPr>
            </a:pPr>
            <a:r>
              <a:t>0.356</a:t>
            </a:r>
          </a:p>
        </p:txBody>
      </p:sp>
      <p:sp>
        <p:nvSpPr>
          <p:cNvPr id="78" name="">
            <a:extLst xmlns:a="http://schemas.openxmlformats.org/drawingml/2006/main">
              <a:ext uri="{FF2B5EF4-FFF2-40B4-BE49-F238E27FC236}">
                <a16:creationId xmlns:a16="http://schemas.microsoft.com/office/drawing/2014/main" id="{A990BB29-415D-4A4D-BC81-24CBB8A6B367}"/>
              </a:ext>
            </a:extLst>
          </p:cNvPr>
          <p:cNvSpPr>
            <a:spLocks xmlns:a="http://schemas.openxmlformats.org/drawingml/2006/main" noGrp="1"/>
          </p:cNvSpPr>
          <p:nvPr/>
        </p:nvSpPr>
        <p:spPr>
          <a:xfrm xmlns:a="http://schemas.openxmlformats.org/drawingml/2006/main">
            <a:off x="4495800" y="4610100"/>
            <a:ext cx="1333500" cy="323850"/>
          </a:xfrm>
          <a:prstGeom xmlns:a="http://schemas.openxmlformats.org/drawingml/2006/main" prst="rect">
            <a:avLst/>
          </a:prstGeom>
          <a:solidFill xmlns:a="http://schemas.openxmlformats.org/drawingml/2006/main">
            <a:srgbClr val="FFFFFF"/>
          </a:solidFill>
          <a:ln xmlns:a="http://schemas.openxmlformats.org/drawingml/2006/main" w="9525">
            <a:solidFill>
              <a:srgbClr val="EEE4D3"/>
            </a:solidFill>
            <a:prstDash val="solid"/>
          </a:ln>
        </p:spPr>
      </p:sp>
      <p:sp>
        <p:nvSpPr>
          <p:cNvPr id="79" name="">
            <a:extLst xmlns:a="http://schemas.openxmlformats.org/drawingml/2006/main">
              <a:ext uri="{FF2B5EF4-FFF2-40B4-BE49-F238E27FC236}">
                <a16:creationId xmlns:a16="http://schemas.microsoft.com/office/drawing/2014/main" id="{9B796993-A1B1-4E0A-80A7-2CF00221C52D}"/>
              </a:ext>
            </a:extLst>
          </p:cNvPr>
          <p:cNvSpPr>
            <a:spLocks xmlns:a="http://schemas.openxmlformats.org/drawingml/2006/main" noGrp="1"/>
          </p:cNvSpPr>
          <p:nvPr/>
        </p:nvSpPr>
        <p:spPr>
          <a:xfrm xmlns:a="http://schemas.openxmlformats.org/drawingml/2006/main">
            <a:off x="4572000" y="4676775"/>
            <a:ext cx="1181100" cy="19050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lgn="ctr">
              <a:defRPr sz="900">
                <a:solidFill>
                  <a:srgbClr val="2F3136"/>
                </a:solidFill>
              </a:defRPr>
            </a:pPr>
            <a:r>
              <a:t>0.439</a:t>
            </a:r>
          </a:p>
        </p:txBody>
      </p:sp>
      <p:sp>
        <p:nvSpPr>
          <p:cNvPr id="80" name="">
            <a:extLst xmlns:a="http://schemas.openxmlformats.org/drawingml/2006/main">
              <a:ext uri="{FF2B5EF4-FFF2-40B4-BE49-F238E27FC236}">
                <a16:creationId xmlns:a16="http://schemas.microsoft.com/office/drawing/2014/main" id="{05293FFF-9BC8-483B-BB63-AD45E83ED529}"/>
              </a:ext>
            </a:extLst>
          </p:cNvPr>
          <p:cNvSpPr>
            <a:spLocks xmlns:a="http://schemas.openxmlformats.org/drawingml/2006/main" noGrp="1"/>
          </p:cNvSpPr>
          <p:nvPr/>
        </p:nvSpPr>
        <p:spPr>
          <a:xfrm xmlns:a="http://schemas.openxmlformats.org/drawingml/2006/main">
            <a:off x="5829300" y="4610100"/>
            <a:ext cx="1333500" cy="323850"/>
          </a:xfrm>
          <a:prstGeom xmlns:a="http://schemas.openxmlformats.org/drawingml/2006/main" prst="rect">
            <a:avLst/>
          </a:prstGeom>
          <a:solidFill xmlns:a="http://schemas.openxmlformats.org/drawingml/2006/main">
            <a:srgbClr val="FFFFFF"/>
          </a:solidFill>
          <a:ln xmlns:a="http://schemas.openxmlformats.org/drawingml/2006/main" w="9525">
            <a:solidFill>
              <a:srgbClr val="EEE4D3"/>
            </a:solidFill>
            <a:prstDash val="solid"/>
          </a:ln>
        </p:spPr>
      </p:sp>
      <p:sp>
        <p:nvSpPr>
          <p:cNvPr id="81" name="">
            <a:extLst xmlns:a="http://schemas.openxmlformats.org/drawingml/2006/main">
              <a:ext uri="{FF2B5EF4-FFF2-40B4-BE49-F238E27FC236}">
                <a16:creationId xmlns:a16="http://schemas.microsoft.com/office/drawing/2014/main" id="{9530CEBF-3971-42DC-BE73-56E74AE386E9}"/>
              </a:ext>
            </a:extLst>
          </p:cNvPr>
          <p:cNvSpPr>
            <a:spLocks xmlns:a="http://schemas.openxmlformats.org/drawingml/2006/main" noGrp="1"/>
          </p:cNvSpPr>
          <p:nvPr/>
        </p:nvSpPr>
        <p:spPr>
          <a:xfrm xmlns:a="http://schemas.openxmlformats.org/drawingml/2006/main">
            <a:off x="5905500" y="4676775"/>
            <a:ext cx="1181100" cy="19050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lgn="ctr">
              <a:defRPr sz="900">
                <a:solidFill>
                  <a:srgbClr val="2F3136"/>
                </a:solidFill>
              </a:defRPr>
            </a:pPr>
            <a:r>
              <a:t>0.529</a:t>
            </a:r>
          </a:p>
        </p:txBody>
      </p:sp>
      <p:sp>
        <p:nvSpPr>
          <p:cNvPr id="82" name="">
            <a:extLst xmlns:a="http://schemas.openxmlformats.org/drawingml/2006/main">
              <a:ext uri="{FF2B5EF4-FFF2-40B4-BE49-F238E27FC236}">
                <a16:creationId xmlns:a16="http://schemas.microsoft.com/office/drawing/2014/main" id="{7DC448A9-9D8B-4C8A-BD01-286A8F90CB6E}"/>
              </a:ext>
            </a:extLst>
          </p:cNvPr>
          <p:cNvSpPr>
            <a:spLocks xmlns:a="http://schemas.openxmlformats.org/drawingml/2006/main" noGrp="1"/>
          </p:cNvSpPr>
          <p:nvPr/>
        </p:nvSpPr>
        <p:spPr>
          <a:xfrm xmlns:a="http://schemas.openxmlformats.org/drawingml/2006/main">
            <a:off x="7162800" y="4610100"/>
            <a:ext cx="1333500" cy="323850"/>
          </a:xfrm>
          <a:prstGeom xmlns:a="http://schemas.openxmlformats.org/drawingml/2006/main" prst="rect">
            <a:avLst/>
          </a:prstGeom>
          <a:solidFill xmlns:a="http://schemas.openxmlformats.org/drawingml/2006/main">
            <a:srgbClr val="FFFFFF"/>
          </a:solidFill>
          <a:ln xmlns:a="http://schemas.openxmlformats.org/drawingml/2006/main" w="9525">
            <a:solidFill>
              <a:srgbClr val="EEE4D3"/>
            </a:solidFill>
            <a:prstDash val="solid"/>
          </a:ln>
        </p:spPr>
      </p:sp>
      <p:sp>
        <p:nvSpPr>
          <p:cNvPr id="83" name="">
            <a:extLst xmlns:a="http://schemas.openxmlformats.org/drawingml/2006/main">
              <a:ext uri="{FF2B5EF4-FFF2-40B4-BE49-F238E27FC236}">
                <a16:creationId xmlns:a16="http://schemas.microsoft.com/office/drawing/2014/main" id="{6B73BD44-C8AB-4817-A9BA-BDE8C2E6E2B9}"/>
              </a:ext>
            </a:extLst>
          </p:cNvPr>
          <p:cNvSpPr>
            <a:spLocks xmlns:a="http://schemas.openxmlformats.org/drawingml/2006/main" noGrp="1"/>
          </p:cNvSpPr>
          <p:nvPr/>
        </p:nvSpPr>
        <p:spPr>
          <a:xfrm xmlns:a="http://schemas.openxmlformats.org/drawingml/2006/main">
            <a:off x="7239000" y="4676775"/>
            <a:ext cx="1181100" cy="19050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lgn="ctr">
              <a:defRPr sz="900">
                <a:solidFill>
                  <a:srgbClr val="2F3136"/>
                </a:solidFill>
              </a:defRPr>
            </a:pPr>
            <a:r>
              <a:t>0.375</a:t>
            </a:r>
          </a:p>
        </p:txBody>
      </p:sp>
      <p:sp>
        <p:nvSpPr>
          <p:cNvPr id="84" name="">
            <a:extLst xmlns:a="http://schemas.openxmlformats.org/drawingml/2006/main">
              <a:ext uri="{FF2B5EF4-FFF2-40B4-BE49-F238E27FC236}">
                <a16:creationId xmlns:a16="http://schemas.microsoft.com/office/drawing/2014/main" id="{2369C5EC-8CE6-4753-8AE1-52A6796B8700}"/>
              </a:ext>
            </a:extLst>
          </p:cNvPr>
          <p:cNvSpPr>
            <a:spLocks xmlns:a="http://schemas.openxmlformats.org/drawingml/2006/main" noGrp="1"/>
          </p:cNvSpPr>
          <p:nvPr/>
        </p:nvSpPr>
        <p:spPr>
          <a:xfrm xmlns:a="http://schemas.openxmlformats.org/drawingml/2006/main">
            <a:off x="8496300" y="4610100"/>
            <a:ext cx="1905000" cy="323850"/>
          </a:xfrm>
          <a:prstGeom xmlns:a="http://schemas.openxmlformats.org/drawingml/2006/main" prst="rect">
            <a:avLst/>
          </a:prstGeom>
          <a:solidFill xmlns:a="http://schemas.openxmlformats.org/drawingml/2006/main">
            <a:srgbClr val="FFFFFF"/>
          </a:solidFill>
          <a:ln xmlns:a="http://schemas.openxmlformats.org/drawingml/2006/main" w="9525">
            <a:solidFill>
              <a:srgbClr val="EEE4D3"/>
            </a:solidFill>
            <a:prstDash val="solid"/>
          </a:ln>
        </p:spPr>
      </p:sp>
      <p:sp>
        <p:nvSpPr>
          <p:cNvPr id="85" name="">
            <a:extLst xmlns:a="http://schemas.openxmlformats.org/drawingml/2006/main">
              <a:ext uri="{FF2B5EF4-FFF2-40B4-BE49-F238E27FC236}">
                <a16:creationId xmlns:a16="http://schemas.microsoft.com/office/drawing/2014/main" id="{A28644A9-26E9-414A-A330-684FE0510FDD}"/>
              </a:ext>
            </a:extLst>
          </p:cNvPr>
          <p:cNvSpPr>
            <a:spLocks xmlns:a="http://schemas.openxmlformats.org/drawingml/2006/main" noGrp="1"/>
          </p:cNvSpPr>
          <p:nvPr/>
        </p:nvSpPr>
        <p:spPr>
          <a:xfrm xmlns:a="http://schemas.openxmlformats.org/drawingml/2006/main">
            <a:off x="8572500" y="4676775"/>
            <a:ext cx="1752600" cy="19050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lgn="ctr">
              <a:defRPr sz="900">
                <a:solidFill>
                  <a:srgbClr val="2F3136"/>
                </a:solidFill>
              </a:defRPr>
            </a:pPr>
            <a:r>
              <a:t>Beaucoup moins bon</a:t>
            </a:r>
          </a:p>
        </p:txBody>
      </p:sp>
      <p:sp>
        <p:nvSpPr>
          <p:cNvPr id="86" name="">
            <a:extLst xmlns:a="http://schemas.openxmlformats.org/drawingml/2006/main">
              <a:ext uri="{FF2B5EF4-FFF2-40B4-BE49-F238E27FC236}">
                <a16:creationId xmlns:a16="http://schemas.microsoft.com/office/drawing/2014/main" id="{12AFDCBA-4A86-44EB-98B5-782CC61E013A}"/>
              </a:ext>
            </a:extLst>
          </p:cNvPr>
          <p:cNvSpPr>
            <a:spLocks xmlns:a="http://schemas.openxmlformats.org/drawingml/2006/main" noGrp="1"/>
          </p:cNvSpPr>
          <p:nvPr/>
        </p:nvSpPr>
        <p:spPr>
          <a:xfrm xmlns:a="http://schemas.openxmlformats.org/drawingml/2006/main">
            <a:off x="876300" y="5638800"/>
            <a:ext cx="10287000" cy="4000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350">
                <a:solidFill>
                  <a:srgbClr val="2F3136"/>
                </a:solidFill>
              </a:defRPr>
            </a:pPr>
            <a:r>
              <a:t>Lecture correcte : le BESI behavioral ne doit pas être présenté comme un prédicteur causal fort, mais comme un bon capteur d’épisodes inflationnistes. Sa faiblesse actuelle est surtout la spécificité.</a:t>
            </a:r>
          </a:p>
        </p:txBody>
      </p:sp>
      <p:sp>
        <p:nvSpPr>
          <p:cNvPr id="87" name="">
            <a:extLst xmlns:a="http://schemas.openxmlformats.org/drawingml/2006/main">
              <a:ext uri="{FF2B5EF4-FFF2-40B4-BE49-F238E27FC236}">
                <a16:creationId xmlns:a16="http://schemas.microsoft.com/office/drawing/2014/main" id="{8342B4E1-920C-4F68-9AB0-8B5E0DFD6095}"/>
              </a:ext>
            </a:extLst>
          </p:cNvPr>
          <p:cNvSpPr>
            <a:spLocks xmlns:a="http://schemas.openxmlformats.org/drawingml/2006/main" noGrp="1"/>
          </p:cNvSpPr>
          <p:nvPr/>
        </p:nvSpPr>
        <p:spPr>
          <a:xfrm xmlns:a="http://schemas.openxmlformats.org/drawingml/2006/main">
            <a:off x="685800" y="6477000"/>
            <a:ext cx="4762500" cy="1714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825">
                <a:solidFill>
                  <a:srgbClr val="6C6A66"/>
                </a:solidFill>
              </a:defRPr>
            </a:pPr>
            <a:r>
              <a:t>ENSAM Meknes • Early warning</a:t>
            </a:r>
          </a:p>
        </p:txBody>
      </p:sp>
      <p:sp>
        <p:nvSpPr>
          <p:cNvPr id="88" name="">
            <a:extLst xmlns:a="http://schemas.openxmlformats.org/drawingml/2006/main">
              <a:ext uri="{FF2B5EF4-FFF2-40B4-BE49-F238E27FC236}">
                <a16:creationId xmlns:a16="http://schemas.microsoft.com/office/drawing/2014/main" id="{60D33FD9-C3C8-42D3-A52C-B3FBB4B115BA}"/>
              </a:ext>
            </a:extLst>
          </p:cNvPr>
          <p:cNvSpPr>
            <a:spLocks xmlns:a="http://schemas.openxmlformats.org/drawingml/2006/main" noGrp="1"/>
          </p:cNvSpPr>
          <p:nvPr/>
        </p:nvSpPr>
        <p:spPr>
          <a:xfrm xmlns:a="http://schemas.openxmlformats.org/drawingml/2006/main">
            <a:off x="11049000" y="6477000"/>
            <a:ext cx="476250" cy="1714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lgn="r">
              <a:defRPr sz="825">
                <a:solidFill>
                  <a:srgbClr val="6C6A66"/>
                </a:solidFill>
              </a:defRPr>
            </a:pPr>
            <a:r>
              <a:t>13</a:t>
            </a:r>
          </a:p>
        </p:txBody>
      </p:sp>
    </p:spTree>
    <p:extLst>
      <p:ext uri="{BB962C8B-B14F-4D97-AF65-F5344CB8AC3E}">
        <p14:creationId xmlns:p14="http://schemas.microsoft.com/office/powerpoint/2010/main" val="1707062370"/>
      </p:ext>
    </p:extLst>
  </p:cSld>
</p:sld>
</file>

<file path=ppt/slides/slide14.xml><?xml version="1.0" encoding="utf-8"?>
<p:sld xmlns:p="http://schemas.openxmlformats.org/presentationml/2006/main">
  <p:cSld>
    <p:bg>
      <p:bgPr>
        <a:solidFill xmlns:a="http://schemas.openxmlformats.org/drawingml/2006/main">
          <a:srgbClr val="F6F1E7"/>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00933649-280E-4EDE-87E3-020554940F1A}"/>
              </a:ext>
            </a:extLst>
          </p:cNvPr>
          <p:cNvSpPr>
            <a:spLocks xmlns:a="http://schemas.openxmlformats.org/drawingml/2006/main" noGrp="1"/>
          </p:cNvSpPr>
          <p:nvPr/>
        </p:nvSpPr>
        <p:spPr>
          <a:xfrm xmlns:a="http://schemas.openxmlformats.org/drawingml/2006/main">
            <a:off x="876300" y="704850"/>
            <a:ext cx="9334500" cy="5905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2400" b="1">
                <a:solidFill>
                  <a:srgbClr val="223A5E"/>
                </a:solidFill>
              </a:defRPr>
            </a:pPr>
            <a:r>
              <a:t>Validation des hypothèses H1 / H2</a:t>
            </a:r>
          </a:p>
        </p:txBody>
      </p:sp>
      <p:sp>
        <p:nvSpPr>
          <p:cNvPr id="2" name="">
            <a:extLst xmlns:a="http://schemas.openxmlformats.org/drawingml/2006/main">
              <a:ext uri="{FF2B5EF4-FFF2-40B4-BE49-F238E27FC236}">
                <a16:creationId xmlns:a16="http://schemas.microsoft.com/office/drawing/2014/main" id="{B4462E42-A40B-4975-A999-8EC89F11955B}"/>
              </a:ext>
            </a:extLst>
          </p:cNvPr>
          <p:cNvSpPr>
            <a:spLocks xmlns:a="http://schemas.openxmlformats.org/drawingml/2006/main" noGrp="1"/>
          </p:cNvSpPr>
          <p:nvPr/>
        </p:nvSpPr>
        <p:spPr>
          <a:xfrm xmlns:a="http://schemas.openxmlformats.org/drawingml/2006/main">
            <a:off x="876300" y="1295400"/>
            <a:ext cx="9334500" cy="2857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200" b="1">
                <a:solidFill>
                  <a:srgbClr val="C86F4D"/>
                </a:solidFill>
              </a:defRPr>
            </a:pPr>
            <a:r>
              <a:t>Ce qui est validé, rejeté, ou seulement partiellement démontré</a:t>
            </a:r>
          </a:p>
        </p:txBody>
      </p:sp>
      <p:sp>
        <p:nvSpPr>
          <p:cNvPr id="3" name="">
            <a:extLst xmlns:a="http://schemas.openxmlformats.org/drawingml/2006/main">
              <a:ext uri="{FF2B5EF4-FFF2-40B4-BE49-F238E27FC236}">
                <a16:creationId xmlns:a16="http://schemas.microsoft.com/office/drawing/2014/main" id="{B87376F6-8EF4-44C7-BA1C-CC016B822AFD}"/>
              </a:ext>
            </a:extLst>
          </p:cNvPr>
          <p:cNvSpPr>
            <a:spLocks xmlns:a="http://schemas.openxmlformats.org/drawingml/2006/main" noGrp="1"/>
          </p:cNvSpPr>
          <p:nvPr/>
        </p:nvSpPr>
        <p:spPr>
          <a:xfrm xmlns:a="http://schemas.openxmlformats.org/drawingml/2006/main">
            <a:off x="685800" y="6477000"/>
            <a:ext cx="4762500" cy="1714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825">
                <a:solidFill>
                  <a:srgbClr val="6C6A66"/>
                </a:solidFill>
              </a:defRPr>
            </a:pPr>
            <a:r>
              <a:t>ENSAM Meknes • BESI V3</a:t>
            </a:r>
          </a:p>
        </p:txBody>
      </p:sp>
      <p:sp>
        <p:nvSpPr>
          <p:cNvPr id="4" name="">
            <a:extLst xmlns:a="http://schemas.openxmlformats.org/drawingml/2006/main">
              <a:ext uri="{FF2B5EF4-FFF2-40B4-BE49-F238E27FC236}">
                <a16:creationId xmlns:a16="http://schemas.microsoft.com/office/drawing/2014/main" id="{2C211E1B-E13B-40C7-89A7-B0BA8F985519}"/>
              </a:ext>
            </a:extLst>
          </p:cNvPr>
          <p:cNvSpPr>
            <a:spLocks xmlns:a="http://schemas.openxmlformats.org/drawingml/2006/main" noGrp="1"/>
          </p:cNvSpPr>
          <p:nvPr/>
        </p:nvSpPr>
        <p:spPr>
          <a:xfrm xmlns:a="http://schemas.openxmlformats.org/drawingml/2006/main">
            <a:off x="11049000" y="6477000"/>
            <a:ext cx="476250" cy="1714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lgn="r">
              <a:defRPr sz="825">
                <a:solidFill>
                  <a:srgbClr val="6C6A66"/>
                </a:solidFill>
              </a:defRPr>
            </a:pPr>
            <a:r>
              <a:t>14</a:t>
            </a:r>
          </a:p>
        </p:txBody>
      </p:sp>
      <p:sp>
        <p:nvSpPr>
          <p:cNvPr id="5" name="">
            <a:extLst xmlns:a="http://schemas.openxmlformats.org/drawingml/2006/main">
              <a:ext uri="{FF2B5EF4-FFF2-40B4-BE49-F238E27FC236}">
                <a16:creationId xmlns:a16="http://schemas.microsoft.com/office/drawing/2014/main" id="{5CBDFA1F-E784-458A-BB25-8ACD941AC2E9}"/>
              </a:ext>
            </a:extLst>
          </p:cNvPr>
          <p:cNvSpPr>
            <a:spLocks xmlns:a="http://schemas.openxmlformats.org/drawingml/2006/main" noGrp="1"/>
          </p:cNvSpPr>
          <p:nvPr/>
        </p:nvSpPr>
        <p:spPr>
          <a:xfrm xmlns:a="http://schemas.openxmlformats.org/drawingml/2006/main">
            <a:off x="876300" y="1790700"/>
            <a:ext cx="4762500" cy="3619500"/>
          </a:xfrm>
          <a:prstGeom xmlns:a="http://schemas.openxmlformats.org/drawingml/2006/main" prst="rect">
            <a:avLst/>
          </a:prstGeom>
          <a:solidFill xmlns:a="http://schemas.openxmlformats.org/drawingml/2006/main">
            <a:srgbClr val="FFFFFF"/>
          </a:solidFill>
          <a:ln xmlns:a="http://schemas.openxmlformats.org/drawingml/2006/main" w="9525">
            <a:solidFill>
              <a:srgbClr val="EEE4D3"/>
            </a:solidFill>
            <a:prstDash val="solid"/>
          </a:ln>
        </p:spPr>
      </p:sp>
      <p:sp>
        <p:nvSpPr>
          <p:cNvPr id="6" name="">
            <a:extLst xmlns:a="http://schemas.openxmlformats.org/drawingml/2006/main">
              <a:ext uri="{FF2B5EF4-FFF2-40B4-BE49-F238E27FC236}">
                <a16:creationId xmlns:a16="http://schemas.microsoft.com/office/drawing/2014/main" id="{8C39214F-9118-49D8-A87D-100110F9D048}"/>
              </a:ext>
            </a:extLst>
          </p:cNvPr>
          <p:cNvSpPr>
            <a:spLocks xmlns:a="http://schemas.openxmlformats.org/drawingml/2006/main" noGrp="1"/>
          </p:cNvSpPr>
          <p:nvPr/>
        </p:nvSpPr>
        <p:spPr>
          <a:xfrm xmlns:a="http://schemas.openxmlformats.org/drawingml/2006/main">
            <a:off x="1123950" y="2038350"/>
            <a:ext cx="4000500" cy="2476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500" b="1">
                <a:solidFill>
                  <a:srgbClr val="223A5E"/>
                </a:solidFill>
              </a:defRPr>
            </a:pPr>
            <a:r>
              <a:t>H1 — BESI behavioral</a:t>
            </a:r>
          </a:p>
        </p:txBody>
      </p:sp>
      <p:sp>
        <p:nvSpPr>
          <p:cNvPr id="7" name="">
            <a:extLst xmlns:a="http://schemas.openxmlformats.org/drawingml/2006/main">
              <a:ext uri="{FF2B5EF4-FFF2-40B4-BE49-F238E27FC236}">
                <a16:creationId xmlns:a16="http://schemas.microsoft.com/office/drawing/2014/main" id="{FC9A165D-1F27-4357-9DCE-086DE3DA5FF6}"/>
              </a:ext>
            </a:extLst>
          </p:cNvPr>
          <p:cNvSpPr>
            <a:spLocks xmlns:a="http://schemas.openxmlformats.org/drawingml/2006/main" noGrp="1"/>
          </p:cNvSpPr>
          <p:nvPr/>
        </p:nvSpPr>
        <p:spPr>
          <a:xfrm xmlns:a="http://schemas.openxmlformats.org/drawingml/2006/main">
            <a:off x="1123950" y="2438400"/>
            <a:ext cx="4381500" cy="1619250"/>
          </a:xfrm>
          <a:prstGeom xmlns:a="http://schemas.openxmlformats.org/drawingml/2006/main" prst="rect">
            <a:avLst/>
          </a:prstGeom>
          <a:solidFill xmlns:a="http://schemas.openxmlformats.org/drawingml/2006/main">
            <a:srgbClr val="FFFFFF"/>
          </a:solidFill>
          <a:ln xmlns:a="http://schemas.openxmlformats.org/drawingml/2006/main" w="9525">
            <a:solidFill>
              <a:srgbClr val="EEE4D3"/>
            </a:solidFill>
            <a:prstDash val="solid"/>
          </a:ln>
        </p:spPr>
      </p:sp>
      <p:sp>
        <p:nvSpPr>
          <p:cNvPr id="8" name="">
            <a:extLst xmlns:a="http://schemas.openxmlformats.org/drawingml/2006/main">
              <a:ext uri="{FF2B5EF4-FFF2-40B4-BE49-F238E27FC236}">
                <a16:creationId xmlns:a16="http://schemas.microsoft.com/office/drawing/2014/main" id="{F828F533-19D1-410B-9B81-038E8731FB6E}"/>
              </a:ext>
            </a:extLst>
          </p:cNvPr>
          <p:cNvSpPr>
            <a:spLocks xmlns:a="http://schemas.openxmlformats.org/drawingml/2006/main" noGrp="1"/>
          </p:cNvSpPr>
          <p:nvPr/>
        </p:nvSpPr>
        <p:spPr>
          <a:xfrm xmlns:a="http://schemas.openxmlformats.org/drawingml/2006/main">
            <a:off x="1123950" y="2438400"/>
            <a:ext cx="2095500" cy="323850"/>
          </a:xfrm>
          <a:prstGeom xmlns:a="http://schemas.openxmlformats.org/drawingml/2006/main" prst="rect">
            <a:avLst/>
          </a:prstGeom>
          <a:solidFill xmlns:a="http://schemas.openxmlformats.org/drawingml/2006/main">
            <a:srgbClr val="223A5E"/>
          </a:solidFill>
          <a:ln xmlns:a="http://schemas.openxmlformats.org/drawingml/2006/main" w="9525">
            <a:solidFill>
              <a:srgbClr val="223A5E"/>
            </a:solidFill>
            <a:prstDash val="solid"/>
          </a:ln>
        </p:spPr>
      </p:sp>
      <p:sp>
        <p:nvSpPr>
          <p:cNvPr id="9" name="">
            <a:extLst xmlns:a="http://schemas.openxmlformats.org/drawingml/2006/main">
              <a:ext uri="{FF2B5EF4-FFF2-40B4-BE49-F238E27FC236}">
                <a16:creationId xmlns:a16="http://schemas.microsoft.com/office/drawing/2014/main" id="{6914CE23-6BF9-4568-B292-321495DC8A14}"/>
              </a:ext>
            </a:extLst>
          </p:cNvPr>
          <p:cNvSpPr>
            <a:spLocks xmlns:a="http://schemas.openxmlformats.org/drawingml/2006/main" noGrp="1"/>
          </p:cNvSpPr>
          <p:nvPr/>
        </p:nvSpPr>
        <p:spPr>
          <a:xfrm xmlns:a="http://schemas.openxmlformats.org/drawingml/2006/main">
            <a:off x="1200150" y="2505075"/>
            <a:ext cx="1943100" cy="19050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lgn="ctr">
              <a:defRPr sz="975" b="1">
                <a:solidFill>
                  <a:srgbClr val="FFFFFF"/>
                </a:solidFill>
              </a:defRPr>
            </a:pPr>
            <a:r>
              <a:t>Critère</a:t>
            </a:r>
          </a:p>
        </p:txBody>
      </p:sp>
      <p:sp>
        <p:nvSpPr>
          <p:cNvPr id="10" name="">
            <a:extLst xmlns:a="http://schemas.openxmlformats.org/drawingml/2006/main">
              <a:ext uri="{FF2B5EF4-FFF2-40B4-BE49-F238E27FC236}">
                <a16:creationId xmlns:a16="http://schemas.microsoft.com/office/drawing/2014/main" id="{1B31892E-C4E1-4F55-9EDD-924E3ACAF08F}"/>
              </a:ext>
            </a:extLst>
          </p:cNvPr>
          <p:cNvSpPr>
            <a:spLocks xmlns:a="http://schemas.openxmlformats.org/drawingml/2006/main" noGrp="1"/>
          </p:cNvSpPr>
          <p:nvPr/>
        </p:nvSpPr>
        <p:spPr>
          <a:xfrm xmlns:a="http://schemas.openxmlformats.org/drawingml/2006/main">
            <a:off x="3219450" y="2438400"/>
            <a:ext cx="1143000" cy="323850"/>
          </a:xfrm>
          <a:prstGeom xmlns:a="http://schemas.openxmlformats.org/drawingml/2006/main" prst="rect">
            <a:avLst/>
          </a:prstGeom>
          <a:solidFill xmlns:a="http://schemas.openxmlformats.org/drawingml/2006/main">
            <a:srgbClr val="223A5E"/>
          </a:solidFill>
          <a:ln xmlns:a="http://schemas.openxmlformats.org/drawingml/2006/main" w="9525">
            <a:solidFill>
              <a:srgbClr val="223A5E"/>
            </a:solidFill>
            <a:prstDash val="solid"/>
          </a:ln>
        </p:spPr>
      </p:sp>
      <p:sp>
        <p:nvSpPr>
          <p:cNvPr id="11" name="">
            <a:extLst xmlns:a="http://schemas.openxmlformats.org/drawingml/2006/main">
              <a:ext uri="{FF2B5EF4-FFF2-40B4-BE49-F238E27FC236}">
                <a16:creationId xmlns:a16="http://schemas.microsoft.com/office/drawing/2014/main" id="{3F0FEE22-A7C8-4789-8134-337EC78BB770}"/>
              </a:ext>
            </a:extLst>
          </p:cNvPr>
          <p:cNvSpPr>
            <a:spLocks xmlns:a="http://schemas.openxmlformats.org/drawingml/2006/main" noGrp="1"/>
          </p:cNvSpPr>
          <p:nvPr/>
        </p:nvSpPr>
        <p:spPr>
          <a:xfrm xmlns:a="http://schemas.openxmlformats.org/drawingml/2006/main">
            <a:off x="3295650" y="2505075"/>
            <a:ext cx="990600" cy="19050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lgn="ctr">
              <a:defRPr sz="975" b="1">
                <a:solidFill>
                  <a:srgbClr val="FFFFFF"/>
                </a:solidFill>
              </a:defRPr>
            </a:pPr>
            <a:r>
              <a:t>Valeur</a:t>
            </a:r>
          </a:p>
        </p:txBody>
      </p:sp>
      <p:sp>
        <p:nvSpPr>
          <p:cNvPr id="12" name="">
            <a:extLst xmlns:a="http://schemas.openxmlformats.org/drawingml/2006/main">
              <a:ext uri="{FF2B5EF4-FFF2-40B4-BE49-F238E27FC236}">
                <a16:creationId xmlns:a16="http://schemas.microsoft.com/office/drawing/2014/main" id="{2D331855-10FD-438A-AFD9-65283DF5C0F7}"/>
              </a:ext>
            </a:extLst>
          </p:cNvPr>
          <p:cNvSpPr>
            <a:spLocks xmlns:a="http://schemas.openxmlformats.org/drawingml/2006/main" noGrp="1"/>
          </p:cNvSpPr>
          <p:nvPr/>
        </p:nvSpPr>
        <p:spPr>
          <a:xfrm xmlns:a="http://schemas.openxmlformats.org/drawingml/2006/main">
            <a:off x="4362450" y="2438400"/>
            <a:ext cx="1143000" cy="323850"/>
          </a:xfrm>
          <a:prstGeom xmlns:a="http://schemas.openxmlformats.org/drawingml/2006/main" prst="rect">
            <a:avLst/>
          </a:prstGeom>
          <a:solidFill xmlns:a="http://schemas.openxmlformats.org/drawingml/2006/main">
            <a:srgbClr val="223A5E"/>
          </a:solidFill>
          <a:ln xmlns:a="http://schemas.openxmlformats.org/drawingml/2006/main" w="9525">
            <a:solidFill>
              <a:srgbClr val="223A5E"/>
            </a:solidFill>
            <a:prstDash val="solid"/>
          </a:ln>
        </p:spPr>
      </p:sp>
      <p:sp>
        <p:nvSpPr>
          <p:cNvPr id="13" name="">
            <a:extLst xmlns:a="http://schemas.openxmlformats.org/drawingml/2006/main">
              <a:ext uri="{FF2B5EF4-FFF2-40B4-BE49-F238E27FC236}">
                <a16:creationId xmlns:a16="http://schemas.microsoft.com/office/drawing/2014/main" id="{7794192D-B8A5-4C7A-95A7-A2ED272222CE}"/>
              </a:ext>
            </a:extLst>
          </p:cNvPr>
          <p:cNvSpPr>
            <a:spLocks xmlns:a="http://schemas.openxmlformats.org/drawingml/2006/main" noGrp="1"/>
          </p:cNvSpPr>
          <p:nvPr/>
        </p:nvSpPr>
        <p:spPr>
          <a:xfrm xmlns:a="http://schemas.openxmlformats.org/drawingml/2006/main">
            <a:off x="4438650" y="2505075"/>
            <a:ext cx="990600" cy="19050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lgn="ctr">
              <a:defRPr sz="975" b="1">
                <a:solidFill>
                  <a:srgbClr val="FFFFFF"/>
                </a:solidFill>
              </a:defRPr>
            </a:pPr>
            <a:r>
              <a:t>Statut</a:t>
            </a:r>
          </a:p>
        </p:txBody>
      </p:sp>
      <p:sp>
        <p:nvSpPr>
          <p:cNvPr id="14" name="">
            <a:extLst xmlns:a="http://schemas.openxmlformats.org/drawingml/2006/main">
              <a:ext uri="{FF2B5EF4-FFF2-40B4-BE49-F238E27FC236}">
                <a16:creationId xmlns:a16="http://schemas.microsoft.com/office/drawing/2014/main" id="{BA985BD9-BD4A-41DE-81BC-F16B352AACC4}"/>
              </a:ext>
            </a:extLst>
          </p:cNvPr>
          <p:cNvSpPr>
            <a:spLocks xmlns:a="http://schemas.openxmlformats.org/drawingml/2006/main" noGrp="1"/>
          </p:cNvSpPr>
          <p:nvPr/>
        </p:nvSpPr>
        <p:spPr>
          <a:xfrm xmlns:a="http://schemas.openxmlformats.org/drawingml/2006/main">
            <a:off x="1123950" y="2762250"/>
            <a:ext cx="2095500" cy="323850"/>
          </a:xfrm>
          <a:prstGeom xmlns:a="http://schemas.openxmlformats.org/drawingml/2006/main" prst="rect">
            <a:avLst/>
          </a:prstGeom>
          <a:solidFill xmlns:a="http://schemas.openxmlformats.org/drawingml/2006/main">
            <a:srgbClr val="FBF8F2"/>
          </a:solidFill>
          <a:ln xmlns:a="http://schemas.openxmlformats.org/drawingml/2006/main" w="9525">
            <a:solidFill>
              <a:srgbClr val="EEE4D3"/>
            </a:solidFill>
            <a:prstDash val="solid"/>
          </a:ln>
        </p:spPr>
      </p:sp>
      <p:sp>
        <p:nvSpPr>
          <p:cNvPr id="15" name="">
            <a:extLst xmlns:a="http://schemas.openxmlformats.org/drawingml/2006/main">
              <a:ext uri="{FF2B5EF4-FFF2-40B4-BE49-F238E27FC236}">
                <a16:creationId xmlns:a16="http://schemas.microsoft.com/office/drawing/2014/main" id="{29E84279-681F-470F-9631-0D85F66857C6}"/>
              </a:ext>
            </a:extLst>
          </p:cNvPr>
          <p:cNvSpPr>
            <a:spLocks xmlns:a="http://schemas.openxmlformats.org/drawingml/2006/main" noGrp="1"/>
          </p:cNvSpPr>
          <p:nvPr/>
        </p:nvSpPr>
        <p:spPr>
          <a:xfrm xmlns:a="http://schemas.openxmlformats.org/drawingml/2006/main">
            <a:off x="1200150" y="2828925"/>
            <a:ext cx="1943100" cy="19050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lgn="l">
              <a:defRPr sz="900">
                <a:solidFill>
                  <a:srgbClr val="2F3136"/>
                </a:solidFill>
              </a:defRPr>
            </a:pPr>
            <a:r>
              <a:t>Δ AIC vs SARIMA</a:t>
            </a:r>
          </a:p>
        </p:txBody>
      </p:sp>
      <p:sp>
        <p:nvSpPr>
          <p:cNvPr id="16" name="">
            <a:extLst xmlns:a="http://schemas.openxmlformats.org/drawingml/2006/main">
              <a:ext uri="{FF2B5EF4-FFF2-40B4-BE49-F238E27FC236}">
                <a16:creationId xmlns:a16="http://schemas.microsoft.com/office/drawing/2014/main" id="{17C0131C-CE5A-47AD-BB41-8B188E307E8B}"/>
              </a:ext>
            </a:extLst>
          </p:cNvPr>
          <p:cNvSpPr>
            <a:spLocks xmlns:a="http://schemas.openxmlformats.org/drawingml/2006/main" noGrp="1"/>
          </p:cNvSpPr>
          <p:nvPr/>
        </p:nvSpPr>
        <p:spPr>
          <a:xfrm xmlns:a="http://schemas.openxmlformats.org/drawingml/2006/main">
            <a:off x="3219450" y="2762250"/>
            <a:ext cx="1143000" cy="323850"/>
          </a:xfrm>
          <a:prstGeom xmlns:a="http://schemas.openxmlformats.org/drawingml/2006/main" prst="rect">
            <a:avLst/>
          </a:prstGeom>
          <a:solidFill xmlns:a="http://schemas.openxmlformats.org/drawingml/2006/main">
            <a:srgbClr val="FBF8F2"/>
          </a:solidFill>
          <a:ln xmlns:a="http://schemas.openxmlformats.org/drawingml/2006/main" w="9525">
            <a:solidFill>
              <a:srgbClr val="EEE4D3"/>
            </a:solidFill>
            <a:prstDash val="solid"/>
          </a:ln>
        </p:spPr>
      </p:sp>
      <p:sp>
        <p:nvSpPr>
          <p:cNvPr id="17" name="">
            <a:extLst xmlns:a="http://schemas.openxmlformats.org/drawingml/2006/main">
              <a:ext uri="{FF2B5EF4-FFF2-40B4-BE49-F238E27FC236}">
                <a16:creationId xmlns:a16="http://schemas.microsoft.com/office/drawing/2014/main" id="{BC90D934-FB7C-4DD6-9F99-47AAEA6530AD}"/>
              </a:ext>
            </a:extLst>
          </p:cNvPr>
          <p:cNvSpPr>
            <a:spLocks xmlns:a="http://schemas.openxmlformats.org/drawingml/2006/main" noGrp="1"/>
          </p:cNvSpPr>
          <p:nvPr/>
        </p:nvSpPr>
        <p:spPr>
          <a:xfrm xmlns:a="http://schemas.openxmlformats.org/drawingml/2006/main">
            <a:off x="3295650" y="2828925"/>
            <a:ext cx="990600" cy="19050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lgn="ctr">
              <a:defRPr sz="900">
                <a:solidFill>
                  <a:srgbClr val="2F3136"/>
                </a:solidFill>
              </a:defRPr>
            </a:pPr>
            <a:r>
              <a:t>-7.77</a:t>
            </a:r>
          </a:p>
        </p:txBody>
      </p:sp>
      <p:sp>
        <p:nvSpPr>
          <p:cNvPr id="18" name="">
            <a:extLst xmlns:a="http://schemas.openxmlformats.org/drawingml/2006/main">
              <a:ext uri="{FF2B5EF4-FFF2-40B4-BE49-F238E27FC236}">
                <a16:creationId xmlns:a16="http://schemas.microsoft.com/office/drawing/2014/main" id="{A8358DDD-5FA4-4671-A55B-FF45AD13B102}"/>
              </a:ext>
            </a:extLst>
          </p:cNvPr>
          <p:cNvSpPr>
            <a:spLocks xmlns:a="http://schemas.openxmlformats.org/drawingml/2006/main" noGrp="1"/>
          </p:cNvSpPr>
          <p:nvPr/>
        </p:nvSpPr>
        <p:spPr>
          <a:xfrm xmlns:a="http://schemas.openxmlformats.org/drawingml/2006/main">
            <a:off x="4362450" y="2762250"/>
            <a:ext cx="1143000" cy="323850"/>
          </a:xfrm>
          <a:prstGeom xmlns:a="http://schemas.openxmlformats.org/drawingml/2006/main" prst="rect">
            <a:avLst/>
          </a:prstGeom>
          <a:solidFill xmlns:a="http://schemas.openxmlformats.org/drawingml/2006/main">
            <a:srgbClr val="FBF8F2"/>
          </a:solidFill>
          <a:ln xmlns:a="http://schemas.openxmlformats.org/drawingml/2006/main" w="9525">
            <a:solidFill>
              <a:srgbClr val="EEE4D3"/>
            </a:solidFill>
            <a:prstDash val="solid"/>
          </a:ln>
        </p:spPr>
      </p:sp>
      <p:sp>
        <p:nvSpPr>
          <p:cNvPr id="19" name="">
            <a:extLst xmlns:a="http://schemas.openxmlformats.org/drawingml/2006/main">
              <a:ext uri="{FF2B5EF4-FFF2-40B4-BE49-F238E27FC236}">
                <a16:creationId xmlns:a16="http://schemas.microsoft.com/office/drawing/2014/main" id="{2FE3CF4D-92B7-41E4-896C-33B1D7A60A45}"/>
              </a:ext>
            </a:extLst>
          </p:cNvPr>
          <p:cNvSpPr>
            <a:spLocks xmlns:a="http://schemas.openxmlformats.org/drawingml/2006/main" noGrp="1"/>
          </p:cNvSpPr>
          <p:nvPr/>
        </p:nvSpPr>
        <p:spPr>
          <a:xfrm xmlns:a="http://schemas.openxmlformats.org/drawingml/2006/main">
            <a:off x="4438650" y="2828925"/>
            <a:ext cx="990600" cy="19050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lgn="ctr">
              <a:defRPr sz="900">
                <a:solidFill>
                  <a:srgbClr val="2F3136"/>
                </a:solidFill>
              </a:defRPr>
            </a:pPr>
            <a:r>
              <a:t>Valide</a:t>
            </a:r>
          </a:p>
        </p:txBody>
      </p:sp>
      <p:sp>
        <p:nvSpPr>
          <p:cNvPr id="20" name="">
            <a:extLst xmlns:a="http://schemas.openxmlformats.org/drawingml/2006/main">
              <a:ext uri="{FF2B5EF4-FFF2-40B4-BE49-F238E27FC236}">
                <a16:creationId xmlns:a16="http://schemas.microsoft.com/office/drawing/2014/main" id="{02F73002-48DF-494E-96A0-F14562FF6297}"/>
              </a:ext>
            </a:extLst>
          </p:cNvPr>
          <p:cNvSpPr>
            <a:spLocks xmlns:a="http://schemas.openxmlformats.org/drawingml/2006/main" noGrp="1"/>
          </p:cNvSpPr>
          <p:nvPr/>
        </p:nvSpPr>
        <p:spPr>
          <a:xfrm xmlns:a="http://schemas.openxmlformats.org/drawingml/2006/main">
            <a:off x="1123950" y="3086100"/>
            <a:ext cx="2095500" cy="323850"/>
          </a:xfrm>
          <a:prstGeom xmlns:a="http://schemas.openxmlformats.org/drawingml/2006/main" prst="rect">
            <a:avLst/>
          </a:prstGeom>
          <a:solidFill xmlns:a="http://schemas.openxmlformats.org/drawingml/2006/main">
            <a:srgbClr val="FFFFFF"/>
          </a:solidFill>
          <a:ln xmlns:a="http://schemas.openxmlformats.org/drawingml/2006/main" w="9525">
            <a:solidFill>
              <a:srgbClr val="EEE4D3"/>
            </a:solidFill>
            <a:prstDash val="solid"/>
          </a:ln>
        </p:spPr>
      </p:sp>
      <p:sp>
        <p:nvSpPr>
          <p:cNvPr id="21" name="">
            <a:extLst xmlns:a="http://schemas.openxmlformats.org/drawingml/2006/main">
              <a:ext uri="{FF2B5EF4-FFF2-40B4-BE49-F238E27FC236}">
                <a16:creationId xmlns:a16="http://schemas.microsoft.com/office/drawing/2014/main" id="{52660C7B-03EB-4E9C-BEE0-A1A9882398D5}"/>
              </a:ext>
            </a:extLst>
          </p:cNvPr>
          <p:cNvSpPr>
            <a:spLocks xmlns:a="http://schemas.openxmlformats.org/drawingml/2006/main" noGrp="1"/>
          </p:cNvSpPr>
          <p:nvPr/>
        </p:nvSpPr>
        <p:spPr>
          <a:xfrm xmlns:a="http://schemas.openxmlformats.org/drawingml/2006/main">
            <a:off x="1200150" y="3152775"/>
            <a:ext cx="1943100" cy="19050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lgn="l">
              <a:defRPr sz="900">
                <a:solidFill>
                  <a:srgbClr val="2F3136"/>
                </a:solidFill>
              </a:defRPr>
            </a:pPr>
            <a:r>
              <a:t>RMSE vs SARIMA</a:t>
            </a:r>
          </a:p>
        </p:txBody>
      </p:sp>
      <p:sp>
        <p:nvSpPr>
          <p:cNvPr id="22" name="">
            <a:extLst xmlns:a="http://schemas.openxmlformats.org/drawingml/2006/main">
              <a:ext uri="{FF2B5EF4-FFF2-40B4-BE49-F238E27FC236}">
                <a16:creationId xmlns:a16="http://schemas.microsoft.com/office/drawing/2014/main" id="{B0833F59-BFCF-40AA-B790-70A2C2822BE5}"/>
              </a:ext>
            </a:extLst>
          </p:cNvPr>
          <p:cNvSpPr>
            <a:spLocks xmlns:a="http://schemas.openxmlformats.org/drawingml/2006/main" noGrp="1"/>
          </p:cNvSpPr>
          <p:nvPr/>
        </p:nvSpPr>
        <p:spPr>
          <a:xfrm xmlns:a="http://schemas.openxmlformats.org/drawingml/2006/main">
            <a:off x="3219450" y="3086100"/>
            <a:ext cx="1143000" cy="323850"/>
          </a:xfrm>
          <a:prstGeom xmlns:a="http://schemas.openxmlformats.org/drawingml/2006/main" prst="rect">
            <a:avLst/>
          </a:prstGeom>
          <a:solidFill xmlns:a="http://schemas.openxmlformats.org/drawingml/2006/main">
            <a:srgbClr val="FFFFFF"/>
          </a:solidFill>
          <a:ln xmlns:a="http://schemas.openxmlformats.org/drawingml/2006/main" w="9525">
            <a:solidFill>
              <a:srgbClr val="EEE4D3"/>
            </a:solidFill>
            <a:prstDash val="solid"/>
          </a:ln>
        </p:spPr>
      </p:sp>
      <p:sp>
        <p:nvSpPr>
          <p:cNvPr id="23" name="">
            <a:extLst xmlns:a="http://schemas.openxmlformats.org/drawingml/2006/main">
              <a:ext uri="{FF2B5EF4-FFF2-40B4-BE49-F238E27FC236}">
                <a16:creationId xmlns:a16="http://schemas.microsoft.com/office/drawing/2014/main" id="{C1CC536B-2953-44F9-A69A-F2B697C3F4EE}"/>
              </a:ext>
            </a:extLst>
          </p:cNvPr>
          <p:cNvSpPr>
            <a:spLocks xmlns:a="http://schemas.openxmlformats.org/drawingml/2006/main" noGrp="1"/>
          </p:cNvSpPr>
          <p:nvPr/>
        </p:nvSpPr>
        <p:spPr>
          <a:xfrm xmlns:a="http://schemas.openxmlformats.org/drawingml/2006/main">
            <a:off x="3295650" y="3152775"/>
            <a:ext cx="990600" cy="19050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lgn="ctr">
              <a:defRPr sz="900">
                <a:solidFill>
                  <a:srgbClr val="2F3136"/>
                </a:solidFill>
              </a:defRPr>
            </a:pPr>
            <a:r>
              <a:t>-0.032</a:t>
            </a:r>
          </a:p>
        </p:txBody>
      </p:sp>
      <p:sp>
        <p:nvSpPr>
          <p:cNvPr id="24" name="">
            <a:extLst xmlns:a="http://schemas.openxmlformats.org/drawingml/2006/main">
              <a:ext uri="{FF2B5EF4-FFF2-40B4-BE49-F238E27FC236}">
                <a16:creationId xmlns:a16="http://schemas.microsoft.com/office/drawing/2014/main" id="{2FCDA64A-4AD4-4D9A-8E0A-8042DEAE7DF6}"/>
              </a:ext>
            </a:extLst>
          </p:cNvPr>
          <p:cNvSpPr>
            <a:spLocks xmlns:a="http://schemas.openxmlformats.org/drawingml/2006/main" noGrp="1"/>
          </p:cNvSpPr>
          <p:nvPr/>
        </p:nvSpPr>
        <p:spPr>
          <a:xfrm xmlns:a="http://schemas.openxmlformats.org/drawingml/2006/main">
            <a:off x="4362450" y="3086100"/>
            <a:ext cx="1143000" cy="323850"/>
          </a:xfrm>
          <a:prstGeom xmlns:a="http://schemas.openxmlformats.org/drawingml/2006/main" prst="rect">
            <a:avLst/>
          </a:prstGeom>
          <a:solidFill xmlns:a="http://schemas.openxmlformats.org/drawingml/2006/main">
            <a:srgbClr val="FFFFFF"/>
          </a:solidFill>
          <a:ln xmlns:a="http://schemas.openxmlformats.org/drawingml/2006/main" w="9525">
            <a:solidFill>
              <a:srgbClr val="EEE4D3"/>
            </a:solidFill>
            <a:prstDash val="solid"/>
          </a:ln>
        </p:spPr>
      </p:sp>
      <p:sp>
        <p:nvSpPr>
          <p:cNvPr id="25" name="">
            <a:extLst xmlns:a="http://schemas.openxmlformats.org/drawingml/2006/main">
              <a:ext uri="{FF2B5EF4-FFF2-40B4-BE49-F238E27FC236}">
                <a16:creationId xmlns:a16="http://schemas.microsoft.com/office/drawing/2014/main" id="{06799B29-9CE9-4F71-B0E4-80B9047DF057}"/>
              </a:ext>
            </a:extLst>
          </p:cNvPr>
          <p:cNvSpPr>
            <a:spLocks xmlns:a="http://schemas.openxmlformats.org/drawingml/2006/main" noGrp="1"/>
          </p:cNvSpPr>
          <p:nvPr/>
        </p:nvSpPr>
        <p:spPr>
          <a:xfrm xmlns:a="http://schemas.openxmlformats.org/drawingml/2006/main">
            <a:off x="4438650" y="3152775"/>
            <a:ext cx="990600" cy="19050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lgn="ctr">
              <a:defRPr sz="900">
                <a:solidFill>
                  <a:srgbClr val="2F3136"/>
                </a:solidFill>
              </a:defRPr>
            </a:pPr>
            <a:r>
              <a:t>Valide</a:t>
            </a:r>
          </a:p>
        </p:txBody>
      </p:sp>
      <p:sp>
        <p:nvSpPr>
          <p:cNvPr id="26" name="">
            <a:extLst xmlns:a="http://schemas.openxmlformats.org/drawingml/2006/main">
              <a:ext uri="{FF2B5EF4-FFF2-40B4-BE49-F238E27FC236}">
                <a16:creationId xmlns:a16="http://schemas.microsoft.com/office/drawing/2014/main" id="{DB84D94B-2166-4BAB-8984-9927D09CE17B}"/>
              </a:ext>
            </a:extLst>
          </p:cNvPr>
          <p:cNvSpPr>
            <a:spLocks xmlns:a="http://schemas.openxmlformats.org/drawingml/2006/main" noGrp="1"/>
          </p:cNvSpPr>
          <p:nvPr/>
        </p:nvSpPr>
        <p:spPr>
          <a:xfrm xmlns:a="http://schemas.openxmlformats.org/drawingml/2006/main">
            <a:off x="1123950" y="3409950"/>
            <a:ext cx="2095500" cy="323850"/>
          </a:xfrm>
          <a:prstGeom xmlns:a="http://schemas.openxmlformats.org/drawingml/2006/main" prst="rect">
            <a:avLst/>
          </a:prstGeom>
          <a:solidFill xmlns:a="http://schemas.openxmlformats.org/drawingml/2006/main">
            <a:srgbClr val="FBF8F2"/>
          </a:solidFill>
          <a:ln xmlns:a="http://schemas.openxmlformats.org/drawingml/2006/main" w="9525">
            <a:solidFill>
              <a:srgbClr val="EEE4D3"/>
            </a:solidFill>
            <a:prstDash val="solid"/>
          </a:ln>
        </p:spPr>
      </p:sp>
      <p:sp>
        <p:nvSpPr>
          <p:cNvPr id="27" name="">
            <a:extLst xmlns:a="http://schemas.openxmlformats.org/drawingml/2006/main">
              <a:ext uri="{FF2B5EF4-FFF2-40B4-BE49-F238E27FC236}">
                <a16:creationId xmlns:a16="http://schemas.microsoft.com/office/drawing/2014/main" id="{DA491DF4-D838-4131-A0EC-787AA885C62A}"/>
              </a:ext>
            </a:extLst>
          </p:cNvPr>
          <p:cNvSpPr>
            <a:spLocks xmlns:a="http://schemas.openxmlformats.org/drawingml/2006/main" noGrp="1"/>
          </p:cNvSpPr>
          <p:nvPr/>
        </p:nvSpPr>
        <p:spPr>
          <a:xfrm xmlns:a="http://schemas.openxmlformats.org/drawingml/2006/main">
            <a:off x="1200150" y="3476625"/>
            <a:ext cx="1943100" cy="19050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lgn="l">
              <a:defRPr sz="900">
                <a:solidFill>
                  <a:srgbClr val="2F3136"/>
                </a:solidFill>
              </a:defRPr>
            </a:pPr>
            <a:r>
              <a:t>Recall global</a:t>
            </a:r>
          </a:p>
        </p:txBody>
      </p:sp>
      <p:sp>
        <p:nvSpPr>
          <p:cNvPr id="28" name="">
            <a:extLst xmlns:a="http://schemas.openxmlformats.org/drawingml/2006/main">
              <a:ext uri="{FF2B5EF4-FFF2-40B4-BE49-F238E27FC236}">
                <a16:creationId xmlns:a16="http://schemas.microsoft.com/office/drawing/2014/main" id="{1B6B479E-58DE-4DF1-9719-296DCC6A3AD3}"/>
              </a:ext>
            </a:extLst>
          </p:cNvPr>
          <p:cNvSpPr>
            <a:spLocks xmlns:a="http://schemas.openxmlformats.org/drawingml/2006/main" noGrp="1"/>
          </p:cNvSpPr>
          <p:nvPr/>
        </p:nvSpPr>
        <p:spPr>
          <a:xfrm xmlns:a="http://schemas.openxmlformats.org/drawingml/2006/main">
            <a:off x="3219450" y="3409950"/>
            <a:ext cx="1143000" cy="323850"/>
          </a:xfrm>
          <a:prstGeom xmlns:a="http://schemas.openxmlformats.org/drawingml/2006/main" prst="rect">
            <a:avLst/>
          </a:prstGeom>
          <a:solidFill xmlns:a="http://schemas.openxmlformats.org/drawingml/2006/main">
            <a:srgbClr val="FBF8F2"/>
          </a:solidFill>
          <a:ln xmlns:a="http://schemas.openxmlformats.org/drawingml/2006/main" w="9525">
            <a:solidFill>
              <a:srgbClr val="EEE4D3"/>
            </a:solidFill>
            <a:prstDash val="solid"/>
          </a:ln>
        </p:spPr>
      </p:sp>
      <p:sp>
        <p:nvSpPr>
          <p:cNvPr id="29" name="">
            <a:extLst xmlns:a="http://schemas.openxmlformats.org/drawingml/2006/main">
              <a:ext uri="{FF2B5EF4-FFF2-40B4-BE49-F238E27FC236}">
                <a16:creationId xmlns:a16="http://schemas.microsoft.com/office/drawing/2014/main" id="{8382A8E7-7276-4AD0-AD18-911323F0D152}"/>
              </a:ext>
            </a:extLst>
          </p:cNvPr>
          <p:cNvSpPr>
            <a:spLocks xmlns:a="http://schemas.openxmlformats.org/drawingml/2006/main" noGrp="1"/>
          </p:cNvSpPr>
          <p:nvPr/>
        </p:nvSpPr>
        <p:spPr>
          <a:xfrm xmlns:a="http://schemas.openxmlformats.org/drawingml/2006/main">
            <a:off x="3295650" y="3476625"/>
            <a:ext cx="990600" cy="19050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lgn="ctr">
              <a:defRPr sz="900">
                <a:solidFill>
                  <a:srgbClr val="2F3136"/>
                </a:solidFill>
              </a:defRPr>
            </a:pPr>
            <a:r>
              <a:t>1.00</a:t>
            </a:r>
          </a:p>
        </p:txBody>
      </p:sp>
      <p:sp>
        <p:nvSpPr>
          <p:cNvPr id="30" name="">
            <a:extLst xmlns:a="http://schemas.openxmlformats.org/drawingml/2006/main">
              <a:ext uri="{FF2B5EF4-FFF2-40B4-BE49-F238E27FC236}">
                <a16:creationId xmlns:a16="http://schemas.microsoft.com/office/drawing/2014/main" id="{F897B148-3252-4560-AAA1-C9698199FC73}"/>
              </a:ext>
            </a:extLst>
          </p:cNvPr>
          <p:cNvSpPr>
            <a:spLocks xmlns:a="http://schemas.openxmlformats.org/drawingml/2006/main" noGrp="1"/>
          </p:cNvSpPr>
          <p:nvPr/>
        </p:nvSpPr>
        <p:spPr>
          <a:xfrm xmlns:a="http://schemas.openxmlformats.org/drawingml/2006/main">
            <a:off x="4362450" y="3409950"/>
            <a:ext cx="1143000" cy="323850"/>
          </a:xfrm>
          <a:prstGeom xmlns:a="http://schemas.openxmlformats.org/drawingml/2006/main" prst="rect">
            <a:avLst/>
          </a:prstGeom>
          <a:solidFill xmlns:a="http://schemas.openxmlformats.org/drawingml/2006/main">
            <a:srgbClr val="FBF8F2"/>
          </a:solidFill>
          <a:ln xmlns:a="http://schemas.openxmlformats.org/drawingml/2006/main" w="9525">
            <a:solidFill>
              <a:srgbClr val="EEE4D3"/>
            </a:solidFill>
            <a:prstDash val="solid"/>
          </a:ln>
        </p:spPr>
      </p:sp>
      <p:sp>
        <p:nvSpPr>
          <p:cNvPr id="31" name="">
            <a:extLst xmlns:a="http://schemas.openxmlformats.org/drawingml/2006/main">
              <a:ext uri="{FF2B5EF4-FFF2-40B4-BE49-F238E27FC236}">
                <a16:creationId xmlns:a16="http://schemas.microsoft.com/office/drawing/2014/main" id="{BD60288F-AB4F-4B84-8A51-2A5FF6D9082C}"/>
              </a:ext>
            </a:extLst>
          </p:cNvPr>
          <p:cNvSpPr>
            <a:spLocks xmlns:a="http://schemas.openxmlformats.org/drawingml/2006/main" noGrp="1"/>
          </p:cNvSpPr>
          <p:nvPr/>
        </p:nvSpPr>
        <p:spPr>
          <a:xfrm xmlns:a="http://schemas.openxmlformats.org/drawingml/2006/main">
            <a:off x="4438650" y="3476625"/>
            <a:ext cx="990600" cy="19050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lgn="ctr">
              <a:defRPr sz="900">
                <a:solidFill>
                  <a:srgbClr val="2F3136"/>
                </a:solidFill>
              </a:defRPr>
            </a:pPr>
            <a:r>
              <a:t>Valide</a:t>
            </a:r>
          </a:p>
        </p:txBody>
      </p:sp>
      <p:sp>
        <p:nvSpPr>
          <p:cNvPr id="32" name="">
            <a:extLst xmlns:a="http://schemas.openxmlformats.org/drawingml/2006/main">
              <a:ext uri="{FF2B5EF4-FFF2-40B4-BE49-F238E27FC236}">
                <a16:creationId xmlns:a16="http://schemas.microsoft.com/office/drawing/2014/main" id="{B5372AB0-C0CD-4F46-B247-0647E80F91BC}"/>
              </a:ext>
            </a:extLst>
          </p:cNvPr>
          <p:cNvSpPr>
            <a:spLocks xmlns:a="http://schemas.openxmlformats.org/drawingml/2006/main" noGrp="1"/>
          </p:cNvSpPr>
          <p:nvPr/>
        </p:nvSpPr>
        <p:spPr>
          <a:xfrm xmlns:a="http://schemas.openxmlformats.org/drawingml/2006/main">
            <a:off x="1123950" y="3733800"/>
            <a:ext cx="2095500" cy="323850"/>
          </a:xfrm>
          <a:prstGeom xmlns:a="http://schemas.openxmlformats.org/drawingml/2006/main" prst="rect">
            <a:avLst/>
          </a:prstGeom>
          <a:solidFill xmlns:a="http://schemas.openxmlformats.org/drawingml/2006/main">
            <a:srgbClr val="FFFFFF"/>
          </a:solidFill>
          <a:ln xmlns:a="http://schemas.openxmlformats.org/drawingml/2006/main" w="9525">
            <a:solidFill>
              <a:srgbClr val="EEE4D3"/>
            </a:solidFill>
            <a:prstDash val="solid"/>
          </a:ln>
        </p:spPr>
      </p:sp>
      <p:sp>
        <p:nvSpPr>
          <p:cNvPr id="33" name="">
            <a:extLst xmlns:a="http://schemas.openxmlformats.org/drawingml/2006/main">
              <a:ext uri="{FF2B5EF4-FFF2-40B4-BE49-F238E27FC236}">
                <a16:creationId xmlns:a16="http://schemas.microsoft.com/office/drawing/2014/main" id="{ACF9A943-3045-4401-8DFE-3FBD8AB62906}"/>
              </a:ext>
            </a:extLst>
          </p:cNvPr>
          <p:cNvSpPr>
            <a:spLocks xmlns:a="http://schemas.openxmlformats.org/drawingml/2006/main" noGrp="1"/>
          </p:cNvSpPr>
          <p:nvPr/>
        </p:nvSpPr>
        <p:spPr>
          <a:xfrm xmlns:a="http://schemas.openxmlformats.org/drawingml/2006/main">
            <a:off x="1200150" y="3800475"/>
            <a:ext cx="1943100" cy="19050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lgn="l">
              <a:defRPr sz="900">
                <a:solidFill>
                  <a:srgbClr val="2F3136"/>
                </a:solidFill>
              </a:defRPr>
            </a:pPr>
            <a:r>
              <a:t>AUC globale</a:t>
            </a:r>
          </a:p>
        </p:txBody>
      </p:sp>
      <p:sp>
        <p:nvSpPr>
          <p:cNvPr id="34" name="">
            <a:extLst xmlns:a="http://schemas.openxmlformats.org/drawingml/2006/main">
              <a:ext uri="{FF2B5EF4-FFF2-40B4-BE49-F238E27FC236}">
                <a16:creationId xmlns:a16="http://schemas.microsoft.com/office/drawing/2014/main" id="{2813ED76-ECA2-4D7D-8894-AAF74891E2B3}"/>
              </a:ext>
            </a:extLst>
          </p:cNvPr>
          <p:cNvSpPr>
            <a:spLocks xmlns:a="http://schemas.openxmlformats.org/drawingml/2006/main" noGrp="1"/>
          </p:cNvSpPr>
          <p:nvPr/>
        </p:nvSpPr>
        <p:spPr>
          <a:xfrm xmlns:a="http://schemas.openxmlformats.org/drawingml/2006/main">
            <a:off x="3219450" y="3733800"/>
            <a:ext cx="1143000" cy="323850"/>
          </a:xfrm>
          <a:prstGeom xmlns:a="http://schemas.openxmlformats.org/drawingml/2006/main" prst="rect">
            <a:avLst/>
          </a:prstGeom>
          <a:solidFill xmlns:a="http://schemas.openxmlformats.org/drawingml/2006/main">
            <a:srgbClr val="FFFFFF"/>
          </a:solidFill>
          <a:ln xmlns:a="http://schemas.openxmlformats.org/drawingml/2006/main" w="9525">
            <a:solidFill>
              <a:srgbClr val="EEE4D3"/>
            </a:solidFill>
            <a:prstDash val="solid"/>
          </a:ln>
        </p:spPr>
      </p:sp>
      <p:sp>
        <p:nvSpPr>
          <p:cNvPr id="35" name="">
            <a:extLst xmlns:a="http://schemas.openxmlformats.org/drawingml/2006/main">
              <a:ext uri="{FF2B5EF4-FFF2-40B4-BE49-F238E27FC236}">
                <a16:creationId xmlns:a16="http://schemas.microsoft.com/office/drawing/2014/main" id="{30605883-9C73-43DB-8C44-63BADF3028B0}"/>
              </a:ext>
            </a:extLst>
          </p:cNvPr>
          <p:cNvSpPr>
            <a:spLocks xmlns:a="http://schemas.openxmlformats.org/drawingml/2006/main" noGrp="1"/>
          </p:cNvSpPr>
          <p:nvPr/>
        </p:nvSpPr>
        <p:spPr>
          <a:xfrm xmlns:a="http://schemas.openxmlformats.org/drawingml/2006/main">
            <a:off x="3295650" y="3800475"/>
            <a:ext cx="990600" cy="19050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lgn="ctr">
              <a:defRPr sz="900">
                <a:solidFill>
                  <a:srgbClr val="2F3136"/>
                </a:solidFill>
              </a:defRPr>
            </a:pPr>
            <a:r>
              <a:t>0.574</a:t>
            </a:r>
          </a:p>
        </p:txBody>
      </p:sp>
      <p:sp>
        <p:nvSpPr>
          <p:cNvPr id="36" name="">
            <a:extLst xmlns:a="http://schemas.openxmlformats.org/drawingml/2006/main">
              <a:ext uri="{FF2B5EF4-FFF2-40B4-BE49-F238E27FC236}">
                <a16:creationId xmlns:a16="http://schemas.microsoft.com/office/drawing/2014/main" id="{49300BD1-BC35-4FC9-B216-A68164F4BCAF}"/>
              </a:ext>
            </a:extLst>
          </p:cNvPr>
          <p:cNvSpPr>
            <a:spLocks xmlns:a="http://schemas.openxmlformats.org/drawingml/2006/main" noGrp="1"/>
          </p:cNvSpPr>
          <p:nvPr/>
        </p:nvSpPr>
        <p:spPr>
          <a:xfrm xmlns:a="http://schemas.openxmlformats.org/drawingml/2006/main">
            <a:off x="4362450" y="3733800"/>
            <a:ext cx="1143000" cy="323850"/>
          </a:xfrm>
          <a:prstGeom xmlns:a="http://schemas.openxmlformats.org/drawingml/2006/main" prst="rect">
            <a:avLst/>
          </a:prstGeom>
          <a:solidFill xmlns:a="http://schemas.openxmlformats.org/drawingml/2006/main">
            <a:srgbClr val="FFFFFF"/>
          </a:solidFill>
          <a:ln xmlns:a="http://schemas.openxmlformats.org/drawingml/2006/main" w="9525">
            <a:solidFill>
              <a:srgbClr val="EEE4D3"/>
            </a:solidFill>
            <a:prstDash val="solid"/>
          </a:ln>
        </p:spPr>
      </p:sp>
      <p:sp>
        <p:nvSpPr>
          <p:cNvPr id="37" name="">
            <a:extLst xmlns:a="http://schemas.openxmlformats.org/drawingml/2006/main">
              <a:ext uri="{FF2B5EF4-FFF2-40B4-BE49-F238E27FC236}">
                <a16:creationId xmlns:a16="http://schemas.microsoft.com/office/drawing/2014/main" id="{CFEA4E45-7F3B-43F8-A3AA-0D2BD32B292C}"/>
              </a:ext>
            </a:extLst>
          </p:cNvPr>
          <p:cNvSpPr>
            <a:spLocks xmlns:a="http://schemas.openxmlformats.org/drawingml/2006/main" noGrp="1"/>
          </p:cNvSpPr>
          <p:nvPr/>
        </p:nvSpPr>
        <p:spPr>
          <a:xfrm xmlns:a="http://schemas.openxmlformats.org/drawingml/2006/main">
            <a:off x="4438650" y="3800475"/>
            <a:ext cx="990600" cy="19050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lgn="ctr">
              <a:defRPr sz="900">
                <a:solidFill>
                  <a:srgbClr val="2F3136"/>
                </a:solidFill>
              </a:defRPr>
            </a:pPr>
            <a:r>
              <a:t>Partiel</a:t>
            </a:r>
          </a:p>
        </p:txBody>
      </p:sp>
      <p:sp>
        <p:nvSpPr>
          <p:cNvPr id="38" name="">
            <a:extLst xmlns:a="http://schemas.openxmlformats.org/drawingml/2006/main">
              <a:ext uri="{FF2B5EF4-FFF2-40B4-BE49-F238E27FC236}">
                <a16:creationId xmlns:a16="http://schemas.microsoft.com/office/drawing/2014/main" id="{61F5118C-8A37-4AA5-8F7C-2E3155593C84}"/>
              </a:ext>
            </a:extLst>
          </p:cNvPr>
          <p:cNvSpPr>
            <a:spLocks xmlns:a="http://schemas.openxmlformats.org/drawingml/2006/main" noGrp="1"/>
          </p:cNvSpPr>
          <p:nvPr/>
        </p:nvSpPr>
        <p:spPr>
          <a:xfrm xmlns:a="http://schemas.openxmlformats.org/drawingml/2006/main">
            <a:off x="1123950" y="4267200"/>
            <a:ext cx="4000500" cy="80010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275">
                <a:solidFill>
                  <a:srgbClr val="2F3136"/>
                </a:solidFill>
              </a:defRPr>
            </a:pPr>
            <a:r>
              <a:t>Verdict : H1 est partiellement validée. Le signal comportemental améliore SARIMA et détecte bien les épisodes d’inflation, mais ne bat pas la baseline naïve en RMSE global.</a:t>
            </a:r>
          </a:p>
        </p:txBody>
      </p:sp>
      <p:sp>
        <p:nvSpPr>
          <p:cNvPr id="39" name="">
            <a:extLst xmlns:a="http://schemas.openxmlformats.org/drawingml/2006/main">
              <a:ext uri="{FF2B5EF4-FFF2-40B4-BE49-F238E27FC236}">
                <a16:creationId xmlns:a16="http://schemas.microsoft.com/office/drawing/2014/main" id="{D7C1773E-8211-4630-81D9-EA3082829507}"/>
              </a:ext>
            </a:extLst>
          </p:cNvPr>
          <p:cNvSpPr>
            <a:spLocks xmlns:a="http://schemas.openxmlformats.org/drawingml/2006/main" noGrp="1"/>
          </p:cNvSpPr>
          <p:nvPr/>
        </p:nvSpPr>
        <p:spPr>
          <a:xfrm xmlns:a="http://schemas.openxmlformats.org/drawingml/2006/main">
            <a:off x="5905500" y="1790700"/>
            <a:ext cx="5124450" cy="3619500"/>
          </a:xfrm>
          <a:prstGeom xmlns:a="http://schemas.openxmlformats.org/drawingml/2006/main" prst="rect">
            <a:avLst/>
          </a:prstGeom>
          <a:solidFill xmlns:a="http://schemas.openxmlformats.org/drawingml/2006/main">
            <a:srgbClr val="FFFFFF"/>
          </a:solidFill>
          <a:ln xmlns:a="http://schemas.openxmlformats.org/drawingml/2006/main" w="9525">
            <a:solidFill>
              <a:srgbClr val="EEE4D3"/>
            </a:solidFill>
            <a:prstDash val="solid"/>
          </a:ln>
        </p:spPr>
      </p:sp>
      <p:sp>
        <p:nvSpPr>
          <p:cNvPr id="40" name="">
            <a:extLst xmlns:a="http://schemas.openxmlformats.org/drawingml/2006/main">
              <a:ext uri="{FF2B5EF4-FFF2-40B4-BE49-F238E27FC236}">
                <a16:creationId xmlns:a16="http://schemas.microsoft.com/office/drawing/2014/main" id="{3ABB3D09-ECF4-4231-AF92-0998AB79A19E}"/>
              </a:ext>
            </a:extLst>
          </p:cNvPr>
          <p:cNvSpPr>
            <a:spLocks xmlns:a="http://schemas.openxmlformats.org/drawingml/2006/main" noGrp="1"/>
          </p:cNvSpPr>
          <p:nvPr/>
        </p:nvSpPr>
        <p:spPr>
          <a:xfrm xmlns:a="http://schemas.openxmlformats.org/drawingml/2006/main">
            <a:off x="6153150" y="2038350"/>
            <a:ext cx="4286250" cy="2476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500" b="1">
                <a:solidFill>
                  <a:srgbClr val="223A5E"/>
                </a:solidFill>
              </a:defRPr>
            </a:pPr>
            <a:r>
              <a:t>H2 — Hybrid macro</a:t>
            </a:r>
          </a:p>
        </p:txBody>
      </p:sp>
      <p:sp>
        <p:nvSpPr>
          <p:cNvPr id="41" name="">
            <a:extLst xmlns:a="http://schemas.openxmlformats.org/drawingml/2006/main">
              <a:ext uri="{FF2B5EF4-FFF2-40B4-BE49-F238E27FC236}">
                <a16:creationId xmlns:a16="http://schemas.microsoft.com/office/drawing/2014/main" id="{A0CF171D-63A7-435D-B02E-E37895C1EBE8}"/>
              </a:ext>
            </a:extLst>
          </p:cNvPr>
          <p:cNvSpPr>
            <a:spLocks xmlns:a="http://schemas.openxmlformats.org/drawingml/2006/main" noGrp="1"/>
          </p:cNvSpPr>
          <p:nvPr/>
        </p:nvSpPr>
        <p:spPr>
          <a:xfrm xmlns:a="http://schemas.openxmlformats.org/drawingml/2006/main">
            <a:off x="6153150" y="2438400"/>
            <a:ext cx="4381500" cy="1619250"/>
          </a:xfrm>
          <a:prstGeom xmlns:a="http://schemas.openxmlformats.org/drawingml/2006/main" prst="rect">
            <a:avLst/>
          </a:prstGeom>
          <a:solidFill xmlns:a="http://schemas.openxmlformats.org/drawingml/2006/main">
            <a:srgbClr val="FFFFFF"/>
          </a:solidFill>
          <a:ln xmlns:a="http://schemas.openxmlformats.org/drawingml/2006/main" w="9525">
            <a:solidFill>
              <a:srgbClr val="EEE4D3"/>
            </a:solidFill>
            <a:prstDash val="solid"/>
          </a:ln>
        </p:spPr>
      </p:sp>
      <p:sp>
        <p:nvSpPr>
          <p:cNvPr id="42" name="">
            <a:extLst xmlns:a="http://schemas.openxmlformats.org/drawingml/2006/main">
              <a:ext uri="{FF2B5EF4-FFF2-40B4-BE49-F238E27FC236}">
                <a16:creationId xmlns:a16="http://schemas.microsoft.com/office/drawing/2014/main" id="{4FE6B920-C264-48E6-8ADE-941FD35BEFAE}"/>
              </a:ext>
            </a:extLst>
          </p:cNvPr>
          <p:cNvSpPr>
            <a:spLocks xmlns:a="http://schemas.openxmlformats.org/drawingml/2006/main" noGrp="1"/>
          </p:cNvSpPr>
          <p:nvPr/>
        </p:nvSpPr>
        <p:spPr>
          <a:xfrm xmlns:a="http://schemas.openxmlformats.org/drawingml/2006/main">
            <a:off x="6153150" y="2438400"/>
            <a:ext cx="2095500" cy="323850"/>
          </a:xfrm>
          <a:prstGeom xmlns:a="http://schemas.openxmlformats.org/drawingml/2006/main" prst="rect">
            <a:avLst/>
          </a:prstGeom>
          <a:solidFill xmlns:a="http://schemas.openxmlformats.org/drawingml/2006/main">
            <a:srgbClr val="223A5E"/>
          </a:solidFill>
          <a:ln xmlns:a="http://schemas.openxmlformats.org/drawingml/2006/main" w="9525">
            <a:solidFill>
              <a:srgbClr val="223A5E"/>
            </a:solidFill>
            <a:prstDash val="solid"/>
          </a:ln>
        </p:spPr>
      </p:sp>
      <p:sp>
        <p:nvSpPr>
          <p:cNvPr id="43" name="">
            <a:extLst xmlns:a="http://schemas.openxmlformats.org/drawingml/2006/main">
              <a:ext uri="{FF2B5EF4-FFF2-40B4-BE49-F238E27FC236}">
                <a16:creationId xmlns:a16="http://schemas.microsoft.com/office/drawing/2014/main" id="{50A9B015-E536-41B6-B309-633C0EA1B8DB}"/>
              </a:ext>
            </a:extLst>
          </p:cNvPr>
          <p:cNvSpPr>
            <a:spLocks xmlns:a="http://schemas.openxmlformats.org/drawingml/2006/main" noGrp="1"/>
          </p:cNvSpPr>
          <p:nvPr/>
        </p:nvSpPr>
        <p:spPr>
          <a:xfrm xmlns:a="http://schemas.openxmlformats.org/drawingml/2006/main">
            <a:off x="6229350" y="2505075"/>
            <a:ext cx="1943100" cy="19050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lgn="ctr">
              <a:defRPr sz="975" b="1">
                <a:solidFill>
                  <a:srgbClr val="FFFFFF"/>
                </a:solidFill>
              </a:defRPr>
            </a:pPr>
            <a:r>
              <a:t>Critère</a:t>
            </a:r>
          </a:p>
        </p:txBody>
      </p:sp>
      <p:sp>
        <p:nvSpPr>
          <p:cNvPr id="44" name="">
            <a:extLst xmlns:a="http://schemas.openxmlformats.org/drawingml/2006/main">
              <a:ext uri="{FF2B5EF4-FFF2-40B4-BE49-F238E27FC236}">
                <a16:creationId xmlns:a16="http://schemas.microsoft.com/office/drawing/2014/main" id="{F47634E1-3C2C-45AB-A3A1-AB76685A9E2E}"/>
              </a:ext>
            </a:extLst>
          </p:cNvPr>
          <p:cNvSpPr>
            <a:spLocks xmlns:a="http://schemas.openxmlformats.org/drawingml/2006/main" noGrp="1"/>
          </p:cNvSpPr>
          <p:nvPr/>
        </p:nvSpPr>
        <p:spPr>
          <a:xfrm xmlns:a="http://schemas.openxmlformats.org/drawingml/2006/main">
            <a:off x="8248650" y="2438400"/>
            <a:ext cx="1143000" cy="323850"/>
          </a:xfrm>
          <a:prstGeom xmlns:a="http://schemas.openxmlformats.org/drawingml/2006/main" prst="rect">
            <a:avLst/>
          </a:prstGeom>
          <a:solidFill xmlns:a="http://schemas.openxmlformats.org/drawingml/2006/main">
            <a:srgbClr val="223A5E"/>
          </a:solidFill>
          <a:ln xmlns:a="http://schemas.openxmlformats.org/drawingml/2006/main" w="9525">
            <a:solidFill>
              <a:srgbClr val="223A5E"/>
            </a:solidFill>
            <a:prstDash val="solid"/>
          </a:ln>
        </p:spPr>
      </p:sp>
      <p:sp>
        <p:nvSpPr>
          <p:cNvPr id="45" name="">
            <a:extLst xmlns:a="http://schemas.openxmlformats.org/drawingml/2006/main">
              <a:ext uri="{FF2B5EF4-FFF2-40B4-BE49-F238E27FC236}">
                <a16:creationId xmlns:a16="http://schemas.microsoft.com/office/drawing/2014/main" id="{B1975836-2B5D-44B6-974E-EF5804C264AC}"/>
              </a:ext>
            </a:extLst>
          </p:cNvPr>
          <p:cNvSpPr>
            <a:spLocks xmlns:a="http://schemas.openxmlformats.org/drawingml/2006/main" noGrp="1"/>
          </p:cNvSpPr>
          <p:nvPr/>
        </p:nvSpPr>
        <p:spPr>
          <a:xfrm xmlns:a="http://schemas.openxmlformats.org/drawingml/2006/main">
            <a:off x="8324850" y="2505075"/>
            <a:ext cx="990600" cy="19050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lgn="ctr">
              <a:defRPr sz="975" b="1">
                <a:solidFill>
                  <a:srgbClr val="FFFFFF"/>
                </a:solidFill>
              </a:defRPr>
            </a:pPr>
            <a:r>
              <a:t>Behavioral</a:t>
            </a:r>
          </a:p>
        </p:txBody>
      </p:sp>
      <p:sp>
        <p:nvSpPr>
          <p:cNvPr id="46" name="">
            <a:extLst xmlns:a="http://schemas.openxmlformats.org/drawingml/2006/main">
              <a:ext uri="{FF2B5EF4-FFF2-40B4-BE49-F238E27FC236}">
                <a16:creationId xmlns:a16="http://schemas.microsoft.com/office/drawing/2014/main" id="{9B689326-2078-4FBA-831F-ACD1D066EB6A}"/>
              </a:ext>
            </a:extLst>
          </p:cNvPr>
          <p:cNvSpPr>
            <a:spLocks xmlns:a="http://schemas.openxmlformats.org/drawingml/2006/main" noGrp="1"/>
          </p:cNvSpPr>
          <p:nvPr/>
        </p:nvSpPr>
        <p:spPr>
          <a:xfrm xmlns:a="http://schemas.openxmlformats.org/drawingml/2006/main">
            <a:off x="9391650" y="2438400"/>
            <a:ext cx="1143000" cy="323850"/>
          </a:xfrm>
          <a:prstGeom xmlns:a="http://schemas.openxmlformats.org/drawingml/2006/main" prst="rect">
            <a:avLst/>
          </a:prstGeom>
          <a:solidFill xmlns:a="http://schemas.openxmlformats.org/drawingml/2006/main">
            <a:srgbClr val="223A5E"/>
          </a:solidFill>
          <a:ln xmlns:a="http://schemas.openxmlformats.org/drawingml/2006/main" w="9525">
            <a:solidFill>
              <a:srgbClr val="223A5E"/>
            </a:solidFill>
            <a:prstDash val="solid"/>
          </a:ln>
        </p:spPr>
      </p:sp>
      <p:sp>
        <p:nvSpPr>
          <p:cNvPr id="47" name="">
            <a:extLst xmlns:a="http://schemas.openxmlformats.org/drawingml/2006/main">
              <a:ext uri="{FF2B5EF4-FFF2-40B4-BE49-F238E27FC236}">
                <a16:creationId xmlns:a16="http://schemas.microsoft.com/office/drawing/2014/main" id="{4FF7CEE6-C622-46D9-A8CB-3681CD73B2AF}"/>
              </a:ext>
            </a:extLst>
          </p:cNvPr>
          <p:cNvSpPr>
            <a:spLocks xmlns:a="http://schemas.openxmlformats.org/drawingml/2006/main" noGrp="1"/>
          </p:cNvSpPr>
          <p:nvPr/>
        </p:nvSpPr>
        <p:spPr>
          <a:xfrm xmlns:a="http://schemas.openxmlformats.org/drawingml/2006/main">
            <a:off x="9467850" y="2505075"/>
            <a:ext cx="990600" cy="19050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lgn="ctr">
              <a:defRPr sz="975" b="1">
                <a:solidFill>
                  <a:srgbClr val="FFFFFF"/>
                </a:solidFill>
              </a:defRPr>
            </a:pPr>
            <a:r>
              <a:t>Hybrid</a:t>
            </a:r>
          </a:p>
        </p:txBody>
      </p:sp>
      <p:sp>
        <p:nvSpPr>
          <p:cNvPr id="48" name="">
            <a:extLst xmlns:a="http://schemas.openxmlformats.org/drawingml/2006/main">
              <a:ext uri="{FF2B5EF4-FFF2-40B4-BE49-F238E27FC236}">
                <a16:creationId xmlns:a16="http://schemas.microsoft.com/office/drawing/2014/main" id="{640E455C-82F2-4929-8EF7-D8B28EE958E3}"/>
              </a:ext>
            </a:extLst>
          </p:cNvPr>
          <p:cNvSpPr>
            <a:spLocks xmlns:a="http://schemas.openxmlformats.org/drawingml/2006/main" noGrp="1"/>
          </p:cNvSpPr>
          <p:nvPr/>
        </p:nvSpPr>
        <p:spPr>
          <a:xfrm xmlns:a="http://schemas.openxmlformats.org/drawingml/2006/main">
            <a:off x="6153150" y="2762250"/>
            <a:ext cx="2095500" cy="323850"/>
          </a:xfrm>
          <a:prstGeom xmlns:a="http://schemas.openxmlformats.org/drawingml/2006/main" prst="rect">
            <a:avLst/>
          </a:prstGeom>
          <a:solidFill xmlns:a="http://schemas.openxmlformats.org/drawingml/2006/main">
            <a:srgbClr val="FBF8F2"/>
          </a:solidFill>
          <a:ln xmlns:a="http://schemas.openxmlformats.org/drawingml/2006/main" w="9525">
            <a:solidFill>
              <a:srgbClr val="EEE4D3"/>
            </a:solidFill>
            <a:prstDash val="solid"/>
          </a:ln>
        </p:spPr>
      </p:sp>
      <p:sp>
        <p:nvSpPr>
          <p:cNvPr id="49" name="">
            <a:extLst xmlns:a="http://schemas.openxmlformats.org/drawingml/2006/main">
              <a:ext uri="{FF2B5EF4-FFF2-40B4-BE49-F238E27FC236}">
                <a16:creationId xmlns:a16="http://schemas.microsoft.com/office/drawing/2014/main" id="{0AF9CB23-CB7C-4E6D-9B88-DEF18073B1C5}"/>
              </a:ext>
            </a:extLst>
          </p:cNvPr>
          <p:cNvSpPr>
            <a:spLocks xmlns:a="http://schemas.openxmlformats.org/drawingml/2006/main" noGrp="1"/>
          </p:cNvSpPr>
          <p:nvPr/>
        </p:nvSpPr>
        <p:spPr>
          <a:xfrm xmlns:a="http://schemas.openxmlformats.org/drawingml/2006/main">
            <a:off x="6229350" y="2828925"/>
            <a:ext cx="1943100" cy="19050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lgn="l">
              <a:defRPr sz="900">
                <a:solidFill>
                  <a:srgbClr val="2F3136"/>
                </a:solidFill>
              </a:defRPr>
            </a:pPr>
            <a:r>
              <a:t>AUC globale</a:t>
            </a:r>
          </a:p>
        </p:txBody>
      </p:sp>
      <p:sp>
        <p:nvSpPr>
          <p:cNvPr id="50" name="">
            <a:extLst xmlns:a="http://schemas.openxmlformats.org/drawingml/2006/main">
              <a:ext uri="{FF2B5EF4-FFF2-40B4-BE49-F238E27FC236}">
                <a16:creationId xmlns:a16="http://schemas.microsoft.com/office/drawing/2014/main" id="{1F7037FC-7E03-4FFB-8299-56BE83417DEF}"/>
              </a:ext>
            </a:extLst>
          </p:cNvPr>
          <p:cNvSpPr>
            <a:spLocks xmlns:a="http://schemas.openxmlformats.org/drawingml/2006/main" noGrp="1"/>
          </p:cNvSpPr>
          <p:nvPr/>
        </p:nvSpPr>
        <p:spPr>
          <a:xfrm xmlns:a="http://schemas.openxmlformats.org/drawingml/2006/main">
            <a:off x="8248650" y="2762250"/>
            <a:ext cx="1143000" cy="323850"/>
          </a:xfrm>
          <a:prstGeom xmlns:a="http://schemas.openxmlformats.org/drawingml/2006/main" prst="rect">
            <a:avLst/>
          </a:prstGeom>
          <a:solidFill xmlns:a="http://schemas.openxmlformats.org/drawingml/2006/main">
            <a:srgbClr val="FBF8F2"/>
          </a:solidFill>
          <a:ln xmlns:a="http://schemas.openxmlformats.org/drawingml/2006/main" w="9525">
            <a:solidFill>
              <a:srgbClr val="EEE4D3"/>
            </a:solidFill>
            <a:prstDash val="solid"/>
          </a:ln>
        </p:spPr>
      </p:sp>
      <p:sp>
        <p:nvSpPr>
          <p:cNvPr id="51" name="">
            <a:extLst xmlns:a="http://schemas.openxmlformats.org/drawingml/2006/main">
              <a:ext uri="{FF2B5EF4-FFF2-40B4-BE49-F238E27FC236}">
                <a16:creationId xmlns:a16="http://schemas.microsoft.com/office/drawing/2014/main" id="{C23891DB-BE92-4833-AB41-2F69C2E1A8CA}"/>
              </a:ext>
            </a:extLst>
          </p:cNvPr>
          <p:cNvSpPr>
            <a:spLocks xmlns:a="http://schemas.openxmlformats.org/drawingml/2006/main" noGrp="1"/>
          </p:cNvSpPr>
          <p:nvPr/>
        </p:nvSpPr>
        <p:spPr>
          <a:xfrm xmlns:a="http://schemas.openxmlformats.org/drawingml/2006/main">
            <a:off x="8324850" y="2828925"/>
            <a:ext cx="990600" cy="19050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lgn="ctr">
              <a:defRPr sz="900">
                <a:solidFill>
                  <a:srgbClr val="2F3136"/>
                </a:solidFill>
              </a:defRPr>
            </a:pPr>
            <a:r>
              <a:t>0.574</a:t>
            </a:r>
          </a:p>
        </p:txBody>
      </p:sp>
      <p:sp>
        <p:nvSpPr>
          <p:cNvPr id="52" name="">
            <a:extLst xmlns:a="http://schemas.openxmlformats.org/drawingml/2006/main">
              <a:ext uri="{FF2B5EF4-FFF2-40B4-BE49-F238E27FC236}">
                <a16:creationId xmlns:a16="http://schemas.microsoft.com/office/drawing/2014/main" id="{5765E001-809F-43F8-A291-612FF86E9E31}"/>
              </a:ext>
            </a:extLst>
          </p:cNvPr>
          <p:cNvSpPr>
            <a:spLocks xmlns:a="http://schemas.openxmlformats.org/drawingml/2006/main" noGrp="1"/>
          </p:cNvSpPr>
          <p:nvPr/>
        </p:nvSpPr>
        <p:spPr>
          <a:xfrm xmlns:a="http://schemas.openxmlformats.org/drawingml/2006/main">
            <a:off x="9391650" y="2762250"/>
            <a:ext cx="1143000" cy="323850"/>
          </a:xfrm>
          <a:prstGeom xmlns:a="http://schemas.openxmlformats.org/drawingml/2006/main" prst="rect">
            <a:avLst/>
          </a:prstGeom>
          <a:solidFill xmlns:a="http://schemas.openxmlformats.org/drawingml/2006/main">
            <a:srgbClr val="FBF8F2"/>
          </a:solidFill>
          <a:ln xmlns:a="http://schemas.openxmlformats.org/drawingml/2006/main" w="9525">
            <a:solidFill>
              <a:srgbClr val="EEE4D3"/>
            </a:solidFill>
            <a:prstDash val="solid"/>
          </a:ln>
        </p:spPr>
      </p:sp>
      <p:sp>
        <p:nvSpPr>
          <p:cNvPr id="53" name="">
            <a:extLst xmlns:a="http://schemas.openxmlformats.org/drawingml/2006/main">
              <a:ext uri="{FF2B5EF4-FFF2-40B4-BE49-F238E27FC236}">
                <a16:creationId xmlns:a16="http://schemas.microsoft.com/office/drawing/2014/main" id="{0AFEEC9F-0FDA-4080-BF49-FCC56F1AF76E}"/>
              </a:ext>
            </a:extLst>
          </p:cNvPr>
          <p:cNvSpPr>
            <a:spLocks xmlns:a="http://schemas.openxmlformats.org/drawingml/2006/main" noGrp="1"/>
          </p:cNvSpPr>
          <p:nvPr/>
        </p:nvSpPr>
        <p:spPr>
          <a:xfrm xmlns:a="http://schemas.openxmlformats.org/drawingml/2006/main">
            <a:off x="9467850" y="2828925"/>
            <a:ext cx="990600" cy="19050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lgn="ctr">
              <a:defRPr sz="900">
                <a:solidFill>
                  <a:srgbClr val="2F3136"/>
                </a:solidFill>
              </a:defRPr>
            </a:pPr>
            <a:r>
              <a:t>0.376</a:t>
            </a:r>
          </a:p>
        </p:txBody>
      </p:sp>
      <p:sp>
        <p:nvSpPr>
          <p:cNvPr id="54" name="">
            <a:extLst xmlns:a="http://schemas.openxmlformats.org/drawingml/2006/main">
              <a:ext uri="{FF2B5EF4-FFF2-40B4-BE49-F238E27FC236}">
                <a16:creationId xmlns:a16="http://schemas.microsoft.com/office/drawing/2014/main" id="{1CD9C96F-72A8-4EDD-AF09-A116DA7B0FF0}"/>
              </a:ext>
            </a:extLst>
          </p:cNvPr>
          <p:cNvSpPr>
            <a:spLocks xmlns:a="http://schemas.openxmlformats.org/drawingml/2006/main" noGrp="1"/>
          </p:cNvSpPr>
          <p:nvPr/>
        </p:nvSpPr>
        <p:spPr>
          <a:xfrm xmlns:a="http://schemas.openxmlformats.org/drawingml/2006/main">
            <a:off x="6153150" y="3086100"/>
            <a:ext cx="2095500" cy="323850"/>
          </a:xfrm>
          <a:prstGeom xmlns:a="http://schemas.openxmlformats.org/drawingml/2006/main" prst="rect">
            <a:avLst/>
          </a:prstGeom>
          <a:solidFill xmlns:a="http://schemas.openxmlformats.org/drawingml/2006/main">
            <a:srgbClr val="FFFFFF"/>
          </a:solidFill>
          <a:ln xmlns:a="http://schemas.openxmlformats.org/drawingml/2006/main" w="9525">
            <a:solidFill>
              <a:srgbClr val="EEE4D3"/>
            </a:solidFill>
            <a:prstDash val="solid"/>
          </a:ln>
        </p:spPr>
      </p:sp>
      <p:sp>
        <p:nvSpPr>
          <p:cNvPr id="55" name="">
            <a:extLst xmlns:a="http://schemas.openxmlformats.org/drawingml/2006/main">
              <a:ext uri="{FF2B5EF4-FFF2-40B4-BE49-F238E27FC236}">
                <a16:creationId xmlns:a16="http://schemas.microsoft.com/office/drawing/2014/main" id="{53C150C6-7E36-40D1-B94C-9C39C4D1092E}"/>
              </a:ext>
            </a:extLst>
          </p:cNvPr>
          <p:cNvSpPr>
            <a:spLocks xmlns:a="http://schemas.openxmlformats.org/drawingml/2006/main" noGrp="1"/>
          </p:cNvSpPr>
          <p:nvPr/>
        </p:nvSpPr>
        <p:spPr>
          <a:xfrm xmlns:a="http://schemas.openxmlformats.org/drawingml/2006/main">
            <a:off x="6229350" y="3152775"/>
            <a:ext cx="1943100" cy="19050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lgn="l">
              <a:defRPr sz="900">
                <a:solidFill>
                  <a:srgbClr val="2F3136"/>
                </a:solidFill>
              </a:defRPr>
            </a:pPr>
            <a:r>
              <a:t>Recall global</a:t>
            </a:r>
          </a:p>
        </p:txBody>
      </p:sp>
      <p:sp>
        <p:nvSpPr>
          <p:cNvPr id="56" name="">
            <a:extLst xmlns:a="http://schemas.openxmlformats.org/drawingml/2006/main">
              <a:ext uri="{FF2B5EF4-FFF2-40B4-BE49-F238E27FC236}">
                <a16:creationId xmlns:a16="http://schemas.microsoft.com/office/drawing/2014/main" id="{4057E1BC-929A-4D8B-A65E-69E8BE228D1B}"/>
              </a:ext>
            </a:extLst>
          </p:cNvPr>
          <p:cNvSpPr>
            <a:spLocks xmlns:a="http://schemas.openxmlformats.org/drawingml/2006/main" noGrp="1"/>
          </p:cNvSpPr>
          <p:nvPr/>
        </p:nvSpPr>
        <p:spPr>
          <a:xfrm xmlns:a="http://schemas.openxmlformats.org/drawingml/2006/main">
            <a:off x="8248650" y="3086100"/>
            <a:ext cx="1143000" cy="323850"/>
          </a:xfrm>
          <a:prstGeom xmlns:a="http://schemas.openxmlformats.org/drawingml/2006/main" prst="rect">
            <a:avLst/>
          </a:prstGeom>
          <a:solidFill xmlns:a="http://schemas.openxmlformats.org/drawingml/2006/main">
            <a:srgbClr val="FFFFFF"/>
          </a:solidFill>
          <a:ln xmlns:a="http://schemas.openxmlformats.org/drawingml/2006/main" w="9525">
            <a:solidFill>
              <a:srgbClr val="EEE4D3"/>
            </a:solidFill>
            <a:prstDash val="solid"/>
          </a:ln>
        </p:spPr>
      </p:sp>
      <p:sp>
        <p:nvSpPr>
          <p:cNvPr id="57" name="">
            <a:extLst xmlns:a="http://schemas.openxmlformats.org/drawingml/2006/main">
              <a:ext uri="{FF2B5EF4-FFF2-40B4-BE49-F238E27FC236}">
                <a16:creationId xmlns:a16="http://schemas.microsoft.com/office/drawing/2014/main" id="{54144AB0-1C76-4197-AD12-5642B1064334}"/>
              </a:ext>
            </a:extLst>
          </p:cNvPr>
          <p:cNvSpPr>
            <a:spLocks xmlns:a="http://schemas.openxmlformats.org/drawingml/2006/main" noGrp="1"/>
          </p:cNvSpPr>
          <p:nvPr/>
        </p:nvSpPr>
        <p:spPr>
          <a:xfrm xmlns:a="http://schemas.openxmlformats.org/drawingml/2006/main">
            <a:off x="8324850" y="3152775"/>
            <a:ext cx="990600" cy="19050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lgn="ctr">
              <a:defRPr sz="900">
                <a:solidFill>
                  <a:srgbClr val="2F3136"/>
                </a:solidFill>
              </a:defRPr>
            </a:pPr>
            <a:r>
              <a:t>1.000</a:t>
            </a:r>
          </a:p>
        </p:txBody>
      </p:sp>
      <p:sp>
        <p:nvSpPr>
          <p:cNvPr id="58" name="">
            <a:extLst xmlns:a="http://schemas.openxmlformats.org/drawingml/2006/main">
              <a:ext uri="{FF2B5EF4-FFF2-40B4-BE49-F238E27FC236}">
                <a16:creationId xmlns:a16="http://schemas.microsoft.com/office/drawing/2014/main" id="{D34C4FD1-5F30-427E-9138-B00088D9ABD1}"/>
              </a:ext>
            </a:extLst>
          </p:cNvPr>
          <p:cNvSpPr>
            <a:spLocks xmlns:a="http://schemas.openxmlformats.org/drawingml/2006/main" noGrp="1"/>
          </p:cNvSpPr>
          <p:nvPr/>
        </p:nvSpPr>
        <p:spPr>
          <a:xfrm xmlns:a="http://schemas.openxmlformats.org/drawingml/2006/main">
            <a:off x="9391650" y="3086100"/>
            <a:ext cx="1143000" cy="323850"/>
          </a:xfrm>
          <a:prstGeom xmlns:a="http://schemas.openxmlformats.org/drawingml/2006/main" prst="rect">
            <a:avLst/>
          </a:prstGeom>
          <a:solidFill xmlns:a="http://schemas.openxmlformats.org/drawingml/2006/main">
            <a:srgbClr val="FFFFFF"/>
          </a:solidFill>
          <a:ln xmlns:a="http://schemas.openxmlformats.org/drawingml/2006/main" w="9525">
            <a:solidFill>
              <a:srgbClr val="EEE4D3"/>
            </a:solidFill>
            <a:prstDash val="solid"/>
          </a:ln>
        </p:spPr>
      </p:sp>
      <p:sp>
        <p:nvSpPr>
          <p:cNvPr id="59" name="">
            <a:extLst xmlns:a="http://schemas.openxmlformats.org/drawingml/2006/main">
              <a:ext uri="{FF2B5EF4-FFF2-40B4-BE49-F238E27FC236}">
                <a16:creationId xmlns:a16="http://schemas.microsoft.com/office/drawing/2014/main" id="{471F3214-764D-4591-A016-A2A57E3DF305}"/>
              </a:ext>
            </a:extLst>
          </p:cNvPr>
          <p:cNvSpPr>
            <a:spLocks xmlns:a="http://schemas.openxmlformats.org/drawingml/2006/main" noGrp="1"/>
          </p:cNvSpPr>
          <p:nvPr/>
        </p:nvSpPr>
        <p:spPr>
          <a:xfrm xmlns:a="http://schemas.openxmlformats.org/drawingml/2006/main">
            <a:off x="9467850" y="3152775"/>
            <a:ext cx="990600" cy="19050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lgn="ctr">
              <a:defRPr sz="900">
                <a:solidFill>
                  <a:srgbClr val="2F3136"/>
                </a:solidFill>
              </a:defRPr>
            </a:pPr>
            <a:r>
              <a:t>0.531</a:t>
            </a:r>
          </a:p>
        </p:txBody>
      </p:sp>
      <p:sp>
        <p:nvSpPr>
          <p:cNvPr id="60" name="">
            <a:extLst xmlns:a="http://schemas.openxmlformats.org/drawingml/2006/main">
              <a:ext uri="{FF2B5EF4-FFF2-40B4-BE49-F238E27FC236}">
                <a16:creationId xmlns:a16="http://schemas.microsoft.com/office/drawing/2014/main" id="{DBFD641E-E8B2-438E-B7F0-E28438A664B4}"/>
              </a:ext>
            </a:extLst>
          </p:cNvPr>
          <p:cNvSpPr>
            <a:spLocks xmlns:a="http://schemas.openxmlformats.org/drawingml/2006/main" noGrp="1"/>
          </p:cNvSpPr>
          <p:nvPr/>
        </p:nvSpPr>
        <p:spPr>
          <a:xfrm xmlns:a="http://schemas.openxmlformats.org/drawingml/2006/main">
            <a:off x="6153150" y="3409950"/>
            <a:ext cx="2095500" cy="323850"/>
          </a:xfrm>
          <a:prstGeom xmlns:a="http://schemas.openxmlformats.org/drawingml/2006/main" prst="rect">
            <a:avLst/>
          </a:prstGeom>
          <a:solidFill xmlns:a="http://schemas.openxmlformats.org/drawingml/2006/main">
            <a:srgbClr val="FBF8F2"/>
          </a:solidFill>
          <a:ln xmlns:a="http://schemas.openxmlformats.org/drawingml/2006/main" w="9525">
            <a:solidFill>
              <a:srgbClr val="EEE4D3"/>
            </a:solidFill>
            <a:prstDash val="solid"/>
          </a:ln>
        </p:spPr>
      </p:sp>
      <p:sp>
        <p:nvSpPr>
          <p:cNvPr id="61" name="">
            <a:extLst xmlns:a="http://schemas.openxmlformats.org/drawingml/2006/main">
              <a:ext uri="{FF2B5EF4-FFF2-40B4-BE49-F238E27FC236}">
                <a16:creationId xmlns:a16="http://schemas.microsoft.com/office/drawing/2014/main" id="{5A8BCCD0-443B-4B50-AFE3-BBD23541E481}"/>
              </a:ext>
            </a:extLst>
          </p:cNvPr>
          <p:cNvSpPr>
            <a:spLocks xmlns:a="http://schemas.openxmlformats.org/drawingml/2006/main" noGrp="1"/>
          </p:cNvSpPr>
          <p:nvPr/>
        </p:nvSpPr>
        <p:spPr>
          <a:xfrm xmlns:a="http://schemas.openxmlformats.org/drawingml/2006/main">
            <a:off x="6229350" y="3476625"/>
            <a:ext cx="1943100" cy="19050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lgn="l">
              <a:defRPr sz="900">
                <a:solidFill>
                  <a:srgbClr val="2F3136"/>
                </a:solidFill>
              </a:defRPr>
            </a:pPr>
            <a:r>
              <a:t>Recall Bloc B</a:t>
            </a:r>
          </a:p>
        </p:txBody>
      </p:sp>
      <p:sp>
        <p:nvSpPr>
          <p:cNvPr id="62" name="">
            <a:extLst xmlns:a="http://schemas.openxmlformats.org/drawingml/2006/main">
              <a:ext uri="{FF2B5EF4-FFF2-40B4-BE49-F238E27FC236}">
                <a16:creationId xmlns:a16="http://schemas.microsoft.com/office/drawing/2014/main" id="{9DE9C867-1439-497A-BC37-96D6EE9358EF}"/>
              </a:ext>
            </a:extLst>
          </p:cNvPr>
          <p:cNvSpPr>
            <a:spLocks xmlns:a="http://schemas.openxmlformats.org/drawingml/2006/main" noGrp="1"/>
          </p:cNvSpPr>
          <p:nvPr/>
        </p:nvSpPr>
        <p:spPr>
          <a:xfrm xmlns:a="http://schemas.openxmlformats.org/drawingml/2006/main">
            <a:off x="8248650" y="3409950"/>
            <a:ext cx="1143000" cy="323850"/>
          </a:xfrm>
          <a:prstGeom xmlns:a="http://schemas.openxmlformats.org/drawingml/2006/main" prst="rect">
            <a:avLst/>
          </a:prstGeom>
          <a:solidFill xmlns:a="http://schemas.openxmlformats.org/drawingml/2006/main">
            <a:srgbClr val="FBF8F2"/>
          </a:solidFill>
          <a:ln xmlns:a="http://schemas.openxmlformats.org/drawingml/2006/main" w="9525">
            <a:solidFill>
              <a:srgbClr val="EEE4D3"/>
            </a:solidFill>
            <a:prstDash val="solid"/>
          </a:ln>
        </p:spPr>
      </p:sp>
      <p:sp>
        <p:nvSpPr>
          <p:cNvPr id="63" name="">
            <a:extLst xmlns:a="http://schemas.openxmlformats.org/drawingml/2006/main">
              <a:ext uri="{FF2B5EF4-FFF2-40B4-BE49-F238E27FC236}">
                <a16:creationId xmlns:a16="http://schemas.microsoft.com/office/drawing/2014/main" id="{156EFC3C-2B03-4E10-9524-9BE3BA2E4E2A}"/>
              </a:ext>
            </a:extLst>
          </p:cNvPr>
          <p:cNvSpPr>
            <a:spLocks xmlns:a="http://schemas.openxmlformats.org/drawingml/2006/main" noGrp="1"/>
          </p:cNvSpPr>
          <p:nvPr/>
        </p:nvSpPr>
        <p:spPr>
          <a:xfrm xmlns:a="http://schemas.openxmlformats.org/drawingml/2006/main">
            <a:off x="8324850" y="3476625"/>
            <a:ext cx="990600" cy="19050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lgn="ctr">
              <a:defRPr sz="900">
                <a:solidFill>
                  <a:srgbClr val="2F3136"/>
                </a:solidFill>
              </a:defRPr>
            </a:pPr>
            <a:r>
              <a:t>1.000</a:t>
            </a:r>
          </a:p>
        </p:txBody>
      </p:sp>
      <p:sp>
        <p:nvSpPr>
          <p:cNvPr id="64" name="">
            <a:extLst xmlns:a="http://schemas.openxmlformats.org/drawingml/2006/main">
              <a:ext uri="{FF2B5EF4-FFF2-40B4-BE49-F238E27FC236}">
                <a16:creationId xmlns:a16="http://schemas.microsoft.com/office/drawing/2014/main" id="{FE8BBFD9-7D61-4C1D-A27B-639B67B54F1E}"/>
              </a:ext>
            </a:extLst>
          </p:cNvPr>
          <p:cNvSpPr>
            <a:spLocks xmlns:a="http://schemas.openxmlformats.org/drawingml/2006/main" noGrp="1"/>
          </p:cNvSpPr>
          <p:nvPr/>
        </p:nvSpPr>
        <p:spPr>
          <a:xfrm xmlns:a="http://schemas.openxmlformats.org/drawingml/2006/main">
            <a:off x="9391650" y="3409950"/>
            <a:ext cx="1143000" cy="323850"/>
          </a:xfrm>
          <a:prstGeom xmlns:a="http://schemas.openxmlformats.org/drawingml/2006/main" prst="rect">
            <a:avLst/>
          </a:prstGeom>
          <a:solidFill xmlns:a="http://schemas.openxmlformats.org/drawingml/2006/main">
            <a:srgbClr val="FBF8F2"/>
          </a:solidFill>
          <a:ln xmlns:a="http://schemas.openxmlformats.org/drawingml/2006/main" w="9525">
            <a:solidFill>
              <a:srgbClr val="EEE4D3"/>
            </a:solidFill>
            <a:prstDash val="solid"/>
          </a:ln>
        </p:spPr>
      </p:sp>
      <p:sp>
        <p:nvSpPr>
          <p:cNvPr id="65" name="">
            <a:extLst xmlns:a="http://schemas.openxmlformats.org/drawingml/2006/main">
              <a:ext uri="{FF2B5EF4-FFF2-40B4-BE49-F238E27FC236}">
                <a16:creationId xmlns:a16="http://schemas.microsoft.com/office/drawing/2014/main" id="{D3CE58B6-9A32-4750-8B7A-EF815C55905A}"/>
              </a:ext>
            </a:extLst>
          </p:cNvPr>
          <p:cNvSpPr>
            <a:spLocks xmlns:a="http://schemas.openxmlformats.org/drawingml/2006/main" noGrp="1"/>
          </p:cNvSpPr>
          <p:nvPr/>
        </p:nvSpPr>
        <p:spPr>
          <a:xfrm xmlns:a="http://schemas.openxmlformats.org/drawingml/2006/main">
            <a:off x="9467850" y="3476625"/>
            <a:ext cx="990600" cy="19050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lgn="ctr">
              <a:defRPr sz="900">
                <a:solidFill>
                  <a:srgbClr val="2F3136"/>
                </a:solidFill>
              </a:defRPr>
            </a:pPr>
            <a:r>
              <a:t>0.375</a:t>
            </a:r>
          </a:p>
        </p:txBody>
      </p:sp>
      <p:sp>
        <p:nvSpPr>
          <p:cNvPr id="66" name="">
            <a:extLst xmlns:a="http://schemas.openxmlformats.org/drawingml/2006/main">
              <a:ext uri="{FF2B5EF4-FFF2-40B4-BE49-F238E27FC236}">
                <a16:creationId xmlns:a16="http://schemas.microsoft.com/office/drawing/2014/main" id="{AC43A3E9-A0B6-4033-A5B9-CEEDDAC0BED8}"/>
              </a:ext>
            </a:extLst>
          </p:cNvPr>
          <p:cNvSpPr>
            <a:spLocks xmlns:a="http://schemas.openxmlformats.org/drawingml/2006/main" noGrp="1"/>
          </p:cNvSpPr>
          <p:nvPr/>
        </p:nvSpPr>
        <p:spPr>
          <a:xfrm xmlns:a="http://schemas.openxmlformats.org/drawingml/2006/main">
            <a:off x="6153150" y="3733800"/>
            <a:ext cx="2095500" cy="323850"/>
          </a:xfrm>
          <a:prstGeom xmlns:a="http://schemas.openxmlformats.org/drawingml/2006/main" prst="rect">
            <a:avLst/>
          </a:prstGeom>
          <a:solidFill xmlns:a="http://schemas.openxmlformats.org/drawingml/2006/main">
            <a:srgbClr val="FFFFFF"/>
          </a:solidFill>
          <a:ln xmlns:a="http://schemas.openxmlformats.org/drawingml/2006/main" w="9525">
            <a:solidFill>
              <a:srgbClr val="EEE4D3"/>
            </a:solidFill>
            <a:prstDash val="solid"/>
          </a:ln>
        </p:spPr>
      </p:sp>
      <p:sp>
        <p:nvSpPr>
          <p:cNvPr id="67" name="">
            <a:extLst xmlns:a="http://schemas.openxmlformats.org/drawingml/2006/main">
              <a:ext uri="{FF2B5EF4-FFF2-40B4-BE49-F238E27FC236}">
                <a16:creationId xmlns:a16="http://schemas.microsoft.com/office/drawing/2014/main" id="{D0BB13BF-5CE7-45B4-9A83-433933496AB4}"/>
              </a:ext>
            </a:extLst>
          </p:cNvPr>
          <p:cNvSpPr>
            <a:spLocks xmlns:a="http://schemas.openxmlformats.org/drawingml/2006/main" noGrp="1"/>
          </p:cNvSpPr>
          <p:nvPr/>
        </p:nvSpPr>
        <p:spPr>
          <a:xfrm xmlns:a="http://schemas.openxmlformats.org/drawingml/2006/main">
            <a:off x="6229350" y="3800475"/>
            <a:ext cx="1943100" cy="19050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lgn="l">
              <a:defRPr sz="900">
                <a:solidFill>
                  <a:srgbClr val="2F3136"/>
                </a:solidFill>
              </a:defRPr>
            </a:pPr>
            <a:r>
              <a:t>RMSE global</a:t>
            </a:r>
          </a:p>
        </p:txBody>
      </p:sp>
      <p:sp>
        <p:nvSpPr>
          <p:cNvPr id="68" name="">
            <a:extLst xmlns:a="http://schemas.openxmlformats.org/drawingml/2006/main">
              <a:ext uri="{FF2B5EF4-FFF2-40B4-BE49-F238E27FC236}">
                <a16:creationId xmlns:a16="http://schemas.microsoft.com/office/drawing/2014/main" id="{EDD9652D-8C08-4E8F-83DB-189FA5670777}"/>
              </a:ext>
            </a:extLst>
          </p:cNvPr>
          <p:cNvSpPr>
            <a:spLocks xmlns:a="http://schemas.openxmlformats.org/drawingml/2006/main" noGrp="1"/>
          </p:cNvSpPr>
          <p:nvPr/>
        </p:nvSpPr>
        <p:spPr>
          <a:xfrm xmlns:a="http://schemas.openxmlformats.org/drawingml/2006/main">
            <a:off x="8248650" y="3733800"/>
            <a:ext cx="1143000" cy="323850"/>
          </a:xfrm>
          <a:prstGeom xmlns:a="http://schemas.openxmlformats.org/drawingml/2006/main" prst="rect">
            <a:avLst/>
          </a:prstGeom>
          <a:solidFill xmlns:a="http://schemas.openxmlformats.org/drawingml/2006/main">
            <a:srgbClr val="FFFFFF"/>
          </a:solidFill>
          <a:ln xmlns:a="http://schemas.openxmlformats.org/drawingml/2006/main" w="9525">
            <a:solidFill>
              <a:srgbClr val="EEE4D3"/>
            </a:solidFill>
            <a:prstDash val="solid"/>
          </a:ln>
        </p:spPr>
      </p:sp>
      <p:sp>
        <p:nvSpPr>
          <p:cNvPr id="69" name="">
            <a:extLst xmlns:a="http://schemas.openxmlformats.org/drawingml/2006/main">
              <a:ext uri="{FF2B5EF4-FFF2-40B4-BE49-F238E27FC236}">
                <a16:creationId xmlns:a16="http://schemas.microsoft.com/office/drawing/2014/main" id="{377578CE-2829-420E-AB2C-DCDBCF947286}"/>
              </a:ext>
            </a:extLst>
          </p:cNvPr>
          <p:cNvSpPr>
            <a:spLocks xmlns:a="http://schemas.openxmlformats.org/drawingml/2006/main" noGrp="1"/>
          </p:cNvSpPr>
          <p:nvPr/>
        </p:nvSpPr>
        <p:spPr>
          <a:xfrm xmlns:a="http://schemas.openxmlformats.org/drawingml/2006/main">
            <a:off x="8324850" y="3800475"/>
            <a:ext cx="990600" cy="19050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lgn="ctr">
              <a:defRPr sz="900">
                <a:solidFill>
                  <a:srgbClr val="2F3136"/>
                </a:solidFill>
              </a:defRPr>
            </a:pPr>
            <a:r>
              <a:t>1.891</a:t>
            </a:r>
          </a:p>
        </p:txBody>
      </p:sp>
      <p:sp>
        <p:nvSpPr>
          <p:cNvPr id="70" name="">
            <a:extLst xmlns:a="http://schemas.openxmlformats.org/drawingml/2006/main">
              <a:ext uri="{FF2B5EF4-FFF2-40B4-BE49-F238E27FC236}">
                <a16:creationId xmlns:a16="http://schemas.microsoft.com/office/drawing/2014/main" id="{A2C253C7-4DB8-4A88-89C8-5B74ACF5C592}"/>
              </a:ext>
            </a:extLst>
          </p:cNvPr>
          <p:cNvSpPr>
            <a:spLocks xmlns:a="http://schemas.openxmlformats.org/drawingml/2006/main" noGrp="1"/>
          </p:cNvSpPr>
          <p:nvPr/>
        </p:nvSpPr>
        <p:spPr>
          <a:xfrm xmlns:a="http://schemas.openxmlformats.org/drawingml/2006/main">
            <a:off x="9391650" y="3733800"/>
            <a:ext cx="1143000" cy="323850"/>
          </a:xfrm>
          <a:prstGeom xmlns:a="http://schemas.openxmlformats.org/drawingml/2006/main" prst="rect">
            <a:avLst/>
          </a:prstGeom>
          <a:solidFill xmlns:a="http://schemas.openxmlformats.org/drawingml/2006/main">
            <a:srgbClr val="FFFFFF"/>
          </a:solidFill>
          <a:ln xmlns:a="http://schemas.openxmlformats.org/drawingml/2006/main" w="9525">
            <a:solidFill>
              <a:srgbClr val="EEE4D3"/>
            </a:solidFill>
            <a:prstDash val="solid"/>
          </a:ln>
        </p:spPr>
      </p:sp>
      <p:sp>
        <p:nvSpPr>
          <p:cNvPr id="71" name="">
            <a:extLst xmlns:a="http://schemas.openxmlformats.org/drawingml/2006/main">
              <a:ext uri="{FF2B5EF4-FFF2-40B4-BE49-F238E27FC236}">
                <a16:creationId xmlns:a16="http://schemas.microsoft.com/office/drawing/2014/main" id="{C90A9E66-E996-49F9-87CE-EC0616E31BA3}"/>
              </a:ext>
            </a:extLst>
          </p:cNvPr>
          <p:cNvSpPr>
            <a:spLocks xmlns:a="http://schemas.openxmlformats.org/drawingml/2006/main" noGrp="1"/>
          </p:cNvSpPr>
          <p:nvPr/>
        </p:nvSpPr>
        <p:spPr>
          <a:xfrm xmlns:a="http://schemas.openxmlformats.org/drawingml/2006/main">
            <a:off x="9467850" y="3800475"/>
            <a:ext cx="990600" cy="19050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lgn="ctr">
              <a:defRPr sz="900">
                <a:solidFill>
                  <a:srgbClr val="2F3136"/>
                </a:solidFill>
              </a:defRPr>
            </a:pPr>
            <a:r>
              <a:t>1.997</a:t>
            </a:r>
          </a:p>
        </p:txBody>
      </p:sp>
      <p:sp>
        <p:nvSpPr>
          <p:cNvPr id="72" name="">
            <a:extLst xmlns:a="http://schemas.openxmlformats.org/drawingml/2006/main">
              <a:ext uri="{FF2B5EF4-FFF2-40B4-BE49-F238E27FC236}">
                <a16:creationId xmlns:a16="http://schemas.microsoft.com/office/drawing/2014/main" id="{9F6813E9-3FDD-42E0-8BE7-0157B8C8208F}"/>
              </a:ext>
            </a:extLst>
          </p:cNvPr>
          <p:cNvSpPr>
            <a:spLocks xmlns:a="http://schemas.openxmlformats.org/drawingml/2006/main" noGrp="1"/>
          </p:cNvSpPr>
          <p:nvPr/>
        </p:nvSpPr>
        <p:spPr>
          <a:xfrm xmlns:a="http://schemas.openxmlformats.org/drawingml/2006/main">
            <a:off x="6153150" y="4267200"/>
            <a:ext cx="4286250" cy="80010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275">
                <a:solidFill>
                  <a:srgbClr val="2F3136"/>
                </a:solidFill>
              </a:defRPr>
            </a:pPr>
            <a:r>
              <a:t>Verdict : H2 est rejetée. Le macro ne renforce pas la détection et semble même affaiblir le signal sur la période inflationniste la plus importante.</a:t>
            </a:r>
          </a:p>
        </p:txBody>
      </p:sp>
      <p:sp>
        <p:nvSpPr>
          <p:cNvPr id="73" name="">
            <a:extLst xmlns:a="http://schemas.openxmlformats.org/drawingml/2006/main">
              <a:ext uri="{FF2B5EF4-FFF2-40B4-BE49-F238E27FC236}">
                <a16:creationId xmlns:a16="http://schemas.microsoft.com/office/drawing/2014/main" id="{5E65D51D-E8C7-4820-A7ED-A6DDDEAC0BCE}"/>
              </a:ext>
            </a:extLst>
          </p:cNvPr>
          <p:cNvSpPr>
            <a:spLocks xmlns:a="http://schemas.openxmlformats.org/drawingml/2006/main" noGrp="1"/>
          </p:cNvSpPr>
          <p:nvPr/>
        </p:nvSpPr>
        <p:spPr>
          <a:xfrm xmlns:a="http://schemas.openxmlformats.org/drawingml/2006/main">
            <a:off x="685800" y="6477000"/>
            <a:ext cx="4762500" cy="1714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825">
                <a:solidFill>
                  <a:srgbClr val="6C6A66"/>
                </a:solidFill>
              </a:defRPr>
            </a:pPr>
            <a:r>
              <a:t>ENSAM Meknes • Hypothèses</a:t>
            </a:r>
          </a:p>
        </p:txBody>
      </p:sp>
      <p:sp>
        <p:nvSpPr>
          <p:cNvPr id="74" name="">
            <a:extLst xmlns:a="http://schemas.openxmlformats.org/drawingml/2006/main">
              <a:ext uri="{FF2B5EF4-FFF2-40B4-BE49-F238E27FC236}">
                <a16:creationId xmlns:a16="http://schemas.microsoft.com/office/drawing/2014/main" id="{87EEE394-638D-4681-9D1A-B5BEA6C5EEE5}"/>
              </a:ext>
            </a:extLst>
          </p:cNvPr>
          <p:cNvSpPr>
            <a:spLocks xmlns:a="http://schemas.openxmlformats.org/drawingml/2006/main" noGrp="1"/>
          </p:cNvSpPr>
          <p:nvPr/>
        </p:nvSpPr>
        <p:spPr>
          <a:xfrm xmlns:a="http://schemas.openxmlformats.org/drawingml/2006/main">
            <a:off x="11049000" y="6477000"/>
            <a:ext cx="476250" cy="1714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lgn="r">
              <a:defRPr sz="825">
                <a:solidFill>
                  <a:srgbClr val="6C6A66"/>
                </a:solidFill>
              </a:defRPr>
            </a:pPr>
            <a:r>
              <a:t>14</a:t>
            </a:r>
          </a:p>
        </p:txBody>
      </p:sp>
    </p:spTree>
    <p:extLst>
      <p:ext uri="{BB962C8B-B14F-4D97-AF65-F5344CB8AC3E}">
        <p14:creationId xmlns:p14="http://schemas.microsoft.com/office/powerpoint/2010/main" val="680034014"/>
      </p:ext>
    </p:extLst>
  </p:cSld>
</p:sld>
</file>

<file path=ppt/slides/slide15.xml><?xml version="1.0" encoding="utf-8"?>
<p:sld xmlns:p="http://schemas.openxmlformats.org/presentationml/2006/main">
  <p:cSld>
    <p:bg>
      <p:bgPr>
        <a:solidFill xmlns:a="http://schemas.openxmlformats.org/drawingml/2006/main">
          <a:srgbClr val="F6F1E7"/>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CAF0A11C-AE2C-47FE-9DFB-6EC0E8774242}"/>
              </a:ext>
            </a:extLst>
          </p:cNvPr>
          <p:cNvSpPr>
            <a:spLocks xmlns:a="http://schemas.openxmlformats.org/drawingml/2006/main" noGrp="1"/>
          </p:cNvSpPr>
          <p:nvPr/>
        </p:nvSpPr>
        <p:spPr>
          <a:xfrm xmlns:a="http://schemas.openxmlformats.org/drawingml/2006/main">
            <a:off x="876300" y="704850"/>
            <a:ext cx="9334500" cy="5905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2400" b="1">
                <a:solidFill>
                  <a:srgbClr val="223A5E"/>
                </a:solidFill>
              </a:defRPr>
            </a:pPr>
            <a:r>
              <a:t>Extension NLP presse marocaine</a:t>
            </a:r>
          </a:p>
        </p:txBody>
      </p:sp>
      <p:sp>
        <p:nvSpPr>
          <p:cNvPr id="2" name="">
            <a:extLst xmlns:a="http://schemas.openxmlformats.org/drawingml/2006/main">
              <a:ext uri="{FF2B5EF4-FFF2-40B4-BE49-F238E27FC236}">
                <a16:creationId xmlns:a16="http://schemas.microsoft.com/office/drawing/2014/main" id="{7AB2A0F5-445D-4879-A65B-6B2E98677507}"/>
              </a:ext>
            </a:extLst>
          </p:cNvPr>
          <p:cNvSpPr>
            <a:spLocks xmlns:a="http://schemas.openxmlformats.org/drawingml/2006/main" noGrp="1"/>
          </p:cNvSpPr>
          <p:nvPr/>
        </p:nvSpPr>
        <p:spPr>
          <a:xfrm xmlns:a="http://schemas.openxmlformats.org/drawingml/2006/main">
            <a:off x="876300" y="1295400"/>
            <a:ext cx="9334500" cy="2857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200" b="1">
                <a:solidFill>
                  <a:srgbClr val="C86F4D"/>
                </a:solidFill>
              </a:defRPr>
            </a:pPr>
            <a:r>
              <a:t>Tester un signal textuel local en plus des Google Trends</a:t>
            </a:r>
          </a:p>
        </p:txBody>
      </p:sp>
      <p:sp>
        <p:nvSpPr>
          <p:cNvPr id="3" name="">
            <a:extLst xmlns:a="http://schemas.openxmlformats.org/drawingml/2006/main">
              <a:ext uri="{FF2B5EF4-FFF2-40B4-BE49-F238E27FC236}">
                <a16:creationId xmlns:a16="http://schemas.microsoft.com/office/drawing/2014/main" id="{C360C78D-C5BD-4B71-908E-5EC1EF4A1B60}"/>
              </a:ext>
            </a:extLst>
          </p:cNvPr>
          <p:cNvSpPr>
            <a:spLocks xmlns:a="http://schemas.openxmlformats.org/drawingml/2006/main" noGrp="1"/>
          </p:cNvSpPr>
          <p:nvPr/>
        </p:nvSpPr>
        <p:spPr>
          <a:xfrm xmlns:a="http://schemas.openxmlformats.org/drawingml/2006/main">
            <a:off x="685800" y="6477000"/>
            <a:ext cx="4762500" cy="1714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825">
                <a:solidFill>
                  <a:srgbClr val="6C6A66"/>
                </a:solidFill>
              </a:defRPr>
            </a:pPr>
            <a:r>
              <a:t>ENSAM Meknes • BESI V3</a:t>
            </a:r>
          </a:p>
        </p:txBody>
      </p:sp>
      <p:sp>
        <p:nvSpPr>
          <p:cNvPr id="4" name="">
            <a:extLst xmlns:a="http://schemas.openxmlformats.org/drawingml/2006/main">
              <a:ext uri="{FF2B5EF4-FFF2-40B4-BE49-F238E27FC236}">
                <a16:creationId xmlns:a16="http://schemas.microsoft.com/office/drawing/2014/main" id="{457FC326-5973-48EE-A51F-9ACECA065FF1}"/>
              </a:ext>
            </a:extLst>
          </p:cNvPr>
          <p:cNvSpPr>
            <a:spLocks xmlns:a="http://schemas.openxmlformats.org/drawingml/2006/main" noGrp="1"/>
          </p:cNvSpPr>
          <p:nvPr/>
        </p:nvSpPr>
        <p:spPr>
          <a:xfrm xmlns:a="http://schemas.openxmlformats.org/drawingml/2006/main">
            <a:off x="11049000" y="6477000"/>
            <a:ext cx="476250" cy="1714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lgn="r">
              <a:defRPr sz="825">
                <a:solidFill>
                  <a:srgbClr val="6C6A66"/>
                </a:solidFill>
              </a:defRPr>
            </a:pPr>
            <a:r>
              <a:t>15</a:t>
            </a:r>
          </a:p>
        </p:txBody>
      </p:sp>
      <p:sp>
        <p:nvSpPr>
          <p:cNvPr id="5" name="">
            <a:extLst xmlns:a="http://schemas.openxmlformats.org/drawingml/2006/main">
              <a:ext uri="{FF2B5EF4-FFF2-40B4-BE49-F238E27FC236}">
                <a16:creationId xmlns:a16="http://schemas.microsoft.com/office/drawing/2014/main" id="{0538B925-E655-44B3-937B-4307D0F2D973}"/>
              </a:ext>
            </a:extLst>
          </p:cNvPr>
          <p:cNvSpPr>
            <a:spLocks xmlns:a="http://schemas.openxmlformats.org/drawingml/2006/main" noGrp="1"/>
          </p:cNvSpPr>
          <p:nvPr/>
        </p:nvSpPr>
        <p:spPr>
          <a:xfrm xmlns:a="http://schemas.openxmlformats.org/drawingml/2006/main">
            <a:off x="990600" y="2057400"/>
            <a:ext cx="1714500" cy="342900"/>
          </a:xfrm>
          <a:prstGeom xmlns:a="http://schemas.openxmlformats.org/drawingml/2006/main" prst="roundRect">
            <a:avLst>
              <a:gd name="adj" fmla="val 22222"/>
            </a:avLst>
          </a:prstGeom>
          <a:solidFill xmlns:a="http://schemas.openxmlformats.org/drawingml/2006/main">
            <a:srgbClr val="223A5E"/>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6F92810B-6783-4FF7-ADB8-FB53B2FA67AE}"/>
              </a:ext>
            </a:extLst>
          </p:cNvPr>
          <p:cNvSpPr>
            <a:spLocks xmlns:a="http://schemas.openxmlformats.org/drawingml/2006/main" noGrp="1"/>
          </p:cNvSpPr>
          <p:nvPr/>
        </p:nvSpPr>
        <p:spPr>
          <a:xfrm xmlns:a="http://schemas.openxmlformats.org/drawingml/2006/main">
            <a:off x="990600" y="2057400"/>
            <a:ext cx="1714500" cy="34290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lgn="ctr">
              <a:defRPr sz="1125" b="1">
                <a:solidFill>
                  <a:srgbClr val="FFFFFF"/>
                </a:solidFill>
              </a:defRPr>
            </a:pPr>
            <a:r>
              <a:t>1. Collecte</a:t>
            </a:r>
          </a:p>
        </p:txBody>
      </p:sp>
      <p:sp>
        <p:nvSpPr>
          <p:cNvPr id="7" name="">
            <a:extLst xmlns:a="http://schemas.openxmlformats.org/drawingml/2006/main">
              <a:ext uri="{FF2B5EF4-FFF2-40B4-BE49-F238E27FC236}">
                <a16:creationId xmlns:a16="http://schemas.microsoft.com/office/drawing/2014/main" id="{B19C32B2-D18E-41E6-8024-24380B784208}"/>
              </a:ext>
            </a:extLst>
          </p:cNvPr>
          <p:cNvSpPr>
            <a:spLocks xmlns:a="http://schemas.openxmlformats.org/drawingml/2006/main" noGrp="1"/>
          </p:cNvSpPr>
          <p:nvPr/>
        </p:nvSpPr>
        <p:spPr>
          <a:xfrm xmlns:a="http://schemas.openxmlformats.org/drawingml/2006/main">
            <a:off x="3562350" y="2057400"/>
            <a:ext cx="1714500" cy="342900"/>
          </a:xfrm>
          <a:prstGeom xmlns:a="http://schemas.openxmlformats.org/drawingml/2006/main" prst="roundRect">
            <a:avLst>
              <a:gd name="adj" fmla="val 22222"/>
            </a:avLst>
          </a:prstGeom>
          <a:solidFill xmlns:a="http://schemas.openxmlformats.org/drawingml/2006/main">
            <a:srgbClr val="C86F4D"/>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EF262082-0863-4D27-8A05-195A5C4196CF}"/>
              </a:ext>
            </a:extLst>
          </p:cNvPr>
          <p:cNvSpPr>
            <a:spLocks xmlns:a="http://schemas.openxmlformats.org/drawingml/2006/main" noGrp="1"/>
          </p:cNvSpPr>
          <p:nvPr/>
        </p:nvSpPr>
        <p:spPr>
          <a:xfrm xmlns:a="http://schemas.openxmlformats.org/drawingml/2006/main">
            <a:off x="3562350" y="2057400"/>
            <a:ext cx="1714500" cy="34290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lgn="ctr">
              <a:defRPr sz="1125" b="1">
                <a:solidFill>
                  <a:srgbClr val="FFFFFF"/>
                </a:solidFill>
              </a:defRPr>
            </a:pPr>
            <a:r>
              <a:t>2. Nettoyage</a:t>
            </a:r>
          </a:p>
        </p:txBody>
      </p:sp>
      <p:sp>
        <p:nvSpPr>
          <p:cNvPr id="9" name="">
            <a:extLst xmlns:a="http://schemas.openxmlformats.org/drawingml/2006/main">
              <a:ext uri="{FF2B5EF4-FFF2-40B4-BE49-F238E27FC236}">
                <a16:creationId xmlns:a16="http://schemas.microsoft.com/office/drawing/2014/main" id="{394F6627-CE9D-45DB-A3C2-3015DD79A6FF}"/>
              </a:ext>
            </a:extLst>
          </p:cNvPr>
          <p:cNvSpPr>
            <a:spLocks xmlns:a="http://schemas.openxmlformats.org/drawingml/2006/main" noGrp="1"/>
          </p:cNvSpPr>
          <p:nvPr/>
        </p:nvSpPr>
        <p:spPr>
          <a:xfrm xmlns:a="http://schemas.openxmlformats.org/drawingml/2006/main">
            <a:off x="6134100" y="2057400"/>
            <a:ext cx="1714500" cy="342900"/>
          </a:xfrm>
          <a:prstGeom xmlns:a="http://schemas.openxmlformats.org/drawingml/2006/main" prst="roundRect">
            <a:avLst>
              <a:gd name="adj" fmla="val 22222"/>
            </a:avLst>
          </a:prstGeom>
          <a:solidFill xmlns:a="http://schemas.openxmlformats.org/drawingml/2006/main">
            <a:srgbClr val="5E7E6A"/>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229F2BE5-A95F-498E-9B1C-35AC19D08EEB}"/>
              </a:ext>
            </a:extLst>
          </p:cNvPr>
          <p:cNvSpPr>
            <a:spLocks xmlns:a="http://schemas.openxmlformats.org/drawingml/2006/main" noGrp="1"/>
          </p:cNvSpPr>
          <p:nvPr/>
        </p:nvSpPr>
        <p:spPr>
          <a:xfrm xmlns:a="http://schemas.openxmlformats.org/drawingml/2006/main">
            <a:off x="6134100" y="2057400"/>
            <a:ext cx="1714500" cy="34290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lgn="ctr">
              <a:defRPr sz="1125" b="1">
                <a:solidFill>
                  <a:srgbClr val="FFFFFF"/>
                </a:solidFill>
              </a:defRPr>
            </a:pPr>
            <a:r>
              <a:t>3. Scoring</a:t>
            </a:r>
          </a:p>
        </p:txBody>
      </p:sp>
      <p:sp>
        <p:nvSpPr>
          <p:cNvPr id="11" name="">
            <a:extLst xmlns:a="http://schemas.openxmlformats.org/drawingml/2006/main">
              <a:ext uri="{FF2B5EF4-FFF2-40B4-BE49-F238E27FC236}">
                <a16:creationId xmlns:a16="http://schemas.microsoft.com/office/drawing/2014/main" id="{16584F86-A180-45E7-BE80-24C6088B90FC}"/>
              </a:ext>
            </a:extLst>
          </p:cNvPr>
          <p:cNvSpPr>
            <a:spLocks xmlns:a="http://schemas.openxmlformats.org/drawingml/2006/main" noGrp="1"/>
          </p:cNvSpPr>
          <p:nvPr/>
        </p:nvSpPr>
        <p:spPr>
          <a:xfrm xmlns:a="http://schemas.openxmlformats.org/drawingml/2006/main">
            <a:off x="8705850" y="2057400"/>
            <a:ext cx="1714500" cy="342900"/>
          </a:xfrm>
          <a:prstGeom xmlns:a="http://schemas.openxmlformats.org/drawingml/2006/main" prst="roundRect">
            <a:avLst>
              <a:gd name="adj" fmla="val 22222"/>
            </a:avLst>
          </a:prstGeom>
          <a:solidFill xmlns:a="http://schemas.openxmlformats.org/drawingml/2006/main">
            <a:srgbClr val="A14B4B"/>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72A7086C-03F6-4073-81EC-EF8828D3B8C9}"/>
              </a:ext>
            </a:extLst>
          </p:cNvPr>
          <p:cNvSpPr>
            <a:spLocks xmlns:a="http://schemas.openxmlformats.org/drawingml/2006/main" noGrp="1"/>
          </p:cNvSpPr>
          <p:nvPr/>
        </p:nvSpPr>
        <p:spPr>
          <a:xfrm xmlns:a="http://schemas.openxmlformats.org/drawingml/2006/main">
            <a:off x="8705850" y="2057400"/>
            <a:ext cx="1714500" cy="34290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lgn="ctr">
              <a:defRPr sz="1125" b="1">
                <a:solidFill>
                  <a:srgbClr val="FFFFFF"/>
                </a:solidFill>
              </a:defRPr>
            </a:pPr>
            <a:r>
              <a:t>4. Intégration</a:t>
            </a:r>
          </a:p>
        </p:txBody>
      </p:sp>
      <p:sp>
        <p:nvSpPr>
          <p:cNvPr id="13" name="">
            <a:extLst xmlns:a="http://schemas.openxmlformats.org/drawingml/2006/main">
              <a:ext uri="{FF2B5EF4-FFF2-40B4-BE49-F238E27FC236}">
                <a16:creationId xmlns:a16="http://schemas.microsoft.com/office/drawing/2014/main" id="{4A5E5CED-AC7A-4C5A-BF3B-E6F154B44D16}"/>
              </a:ext>
            </a:extLst>
          </p:cNvPr>
          <p:cNvSpPr>
            <a:spLocks xmlns:a="http://schemas.openxmlformats.org/drawingml/2006/main" noGrp="1"/>
          </p:cNvSpPr>
          <p:nvPr/>
        </p:nvSpPr>
        <p:spPr>
          <a:xfrm xmlns:a="http://schemas.openxmlformats.org/drawingml/2006/main">
            <a:off x="876300" y="2590800"/>
            <a:ext cx="2190750" cy="2324100"/>
          </a:xfrm>
          <a:prstGeom xmlns:a="http://schemas.openxmlformats.org/drawingml/2006/main" prst="rect">
            <a:avLst/>
          </a:prstGeom>
          <a:solidFill xmlns:a="http://schemas.openxmlformats.org/drawingml/2006/main">
            <a:srgbClr val="FFFFFF"/>
          </a:solidFill>
          <a:ln xmlns:a="http://schemas.openxmlformats.org/drawingml/2006/main" w="9525">
            <a:solidFill>
              <a:srgbClr val="EEE4D3"/>
            </a:solidFill>
            <a:prstDash val="solid"/>
          </a:ln>
        </p:spPr>
      </p:sp>
      <p:sp>
        <p:nvSpPr>
          <p:cNvPr id="14" name="">
            <a:extLst xmlns:a="http://schemas.openxmlformats.org/drawingml/2006/main">
              <a:ext uri="{FF2B5EF4-FFF2-40B4-BE49-F238E27FC236}">
                <a16:creationId xmlns:a16="http://schemas.microsoft.com/office/drawing/2014/main" id="{5217609A-D2D1-4E5F-9115-AA7AD353E232}"/>
              </a:ext>
            </a:extLst>
          </p:cNvPr>
          <p:cNvSpPr>
            <a:spLocks xmlns:a="http://schemas.openxmlformats.org/drawingml/2006/main" noGrp="1"/>
          </p:cNvSpPr>
          <p:nvPr/>
        </p:nvSpPr>
        <p:spPr>
          <a:xfrm xmlns:a="http://schemas.openxmlformats.org/drawingml/2006/main">
            <a:off x="3448050" y="2590800"/>
            <a:ext cx="2190750" cy="2324100"/>
          </a:xfrm>
          <a:prstGeom xmlns:a="http://schemas.openxmlformats.org/drawingml/2006/main" prst="rect">
            <a:avLst/>
          </a:prstGeom>
          <a:solidFill xmlns:a="http://schemas.openxmlformats.org/drawingml/2006/main">
            <a:srgbClr val="FFFFFF"/>
          </a:solidFill>
          <a:ln xmlns:a="http://schemas.openxmlformats.org/drawingml/2006/main" w="9525">
            <a:solidFill>
              <a:srgbClr val="EEE4D3"/>
            </a:solidFill>
            <a:prstDash val="solid"/>
          </a:ln>
        </p:spPr>
      </p:sp>
      <p:sp>
        <p:nvSpPr>
          <p:cNvPr id="15" name="">
            <a:extLst xmlns:a="http://schemas.openxmlformats.org/drawingml/2006/main">
              <a:ext uri="{FF2B5EF4-FFF2-40B4-BE49-F238E27FC236}">
                <a16:creationId xmlns:a16="http://schemas.microsoft.com/office/drawing/2014/main" id="{5F8C805B-B9C5-4EF9-B2A4-6CA4D5189F83}"/>
              </a:ext>
            </a:extLst>
          </p:cNvPr>
          <p:cNvSpPr>
            <a:spLocks xmlns:a="http://schemas.openxmlformats.org/drawingml/2006/main" noGrp="1"/>
          </p:cNvSpPr>
          <p:nvPr/>
        </p:nvSpPr>
        <p:spPr>
          <a:xfrm xmlns:a="http://schemas.openxmlformats.org/drawingml/2006/main">
            <a:off x="6019800" y="2590800"/>
            <a:ext cx="2190750" cy="2324100"/>
          </a:xfrm>
          <a:prstGeom xmlns:a="http://schemas.openxmlformats.org/drawingml/2006/main" prst="rect">
            <a:avLst/>
          </a:prstGeom>
          <a:solidFill xmlns:a="http://schemas.openxmlformats.org/drawingml/2006/main">
            <a:srgbClr val="FFFFFF"/>
          </a:solidFill>
          <a:ln xmlns:a="http://schemas.openxmlformats.org/drawingml/2006/main" w="9525">
            <a:solidFill>
              <a:srgbClr val="EEE4D3"/>
            </a:solidFill>
            <a:prstDash val="solid"/>
          </a:ln>
        </p:spPr>
      </p:sp>
      <p:sp>
        <p:nvSpPr>
          <p:cNvPr id="16" name="">
            <a:extLst xmlns:a="http://schemas.openxmlformats.org/drawingml/2006/main">
              <a:ext uri="{FF2B5EF4-FFF2-40B4-BE49-F238E27FC236}">
                <a16:creationId xmlns:a16="http://schemas.microsoft.com/office/drawing/2014/main" id="{B919FD7E-D701-4DB8-951B-8E5A6CA025AB}"/>
              </a:ext>
            </a:extLst>
          </p:cNvPr>
          <p:cNvSpPr>
            <a:spLocks xmlns:a="http://schemas.openxmlformats.org/drawingml/2006/main" noGrp="1"/>
          </p:cNvSpPr>
          <p:nvPr/>
        </p:nvSpPr>
        <p:spPr>
          <a:xfrm xmlns:a="http://schemas.openxmlformats.org/drawingml/2006/main">
            <a:off x="8591550" y="2590800"/>
            <a:ext cx="2190750" cy="2324100"/>
          </a:xfrm>
          <a:prstGeom xmlns:a="http://schemas.openxmlformats.org/drawingml/2006/main" prst="rect">
            <a:avLst/>
          </a:prstGeom>
          <a:solidFill xmlns:a="http://schemas.openxmlformats.org/drawingml/2006/main">
            <a:srgbClr val="FFFFFF"/>
          </a:solidFill>
          <a:ln xmlns:a="http://schemas.openxmlformats.org/drawingml/2006/main" w="9525">
            <a:solidFill>
              <a:srgbClr val="EEE4D3"/>
            </a:solidFill>
            <a:prstDash val="solid"/>
          </a:ln>
        </p:spPr>
      </p:sp>
      <p:sp>
        <p:nvSpPr>
          <p:cNvPr id="17" name="">
            <a:extLst xmlns:a="http://schemas.openxmlformats.org/drawingml/2006/main">
              <a:ext uri="{FF2B5EF4-FFF2-40B4-BE49-F238E27FC236}">
                <a16:creationId xmlns:a16="http://schemas.microsoft.com/office/drawing/2014/main" id="{690CA97D-6EFA-4BAC-BBCE-9A3844DF34B8}"/>
              </a:ext>
            </a:extLst>
          </p:cNvPr>
          <p:cNvSpPr>
            <a:spLocks xmlns:a="http://schemas.openxmlformats.org/drawingml/2006/main" noGrp="1"/>
          </p:cNvSpPr>
          <p:nvPr/>
        </p:nvSpPr>
        <p:spPr>
          <a:xfrm xmlns:a="http://schemas.openxmlformats.org/drawingml/2006/main">
            <a:off x="1066800" y="2876550"/>
            <a:ext cx="1809750" cy="152400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275">
                <a:solidFill>
                  <a:srgbClr val="2F3136"/>
                </a:solidFill>
              </a:defRPr>
            </a:pPr>
            <a:r>
              <a:t>• API WordPress Hespress • Titres + extraits • 5 788 textes • 2017–2024</a:t>
            </a:r>
          </a:p>
        </p:txBody>
      </p:sp>
      <p:sp>
        <p:nvSpPr>
          <p:cNvPr id="18" name="">
            <a:extLst xmlns:a="http://schemas.openxmlformats.org/drawingml/2006/main">
              <a:ext uri="{FF2B5EF4-FFF2-40B4-BE49-F238E27FC236}">
                <a16:creationId xmlns:a16="http://schemas.microsoft.com/office/drawing/2014/main" id="{CA58E360-4813-44B3-9135-722F646D2A0B}"/>
              </a:ext>
            </a:extLst>
          </p:cNvPr>
          <p:cNvSpPr>
            <a:spLocks xmlns:a="http://schemas.openxmlformats.org/drawingml/2006/main" noGrp="1"/>
          </p:cNvSpPr>
          <p:nvPr/>
        </p:nvSpPr>
        <p:spPr>
          <a:xfrm xmlns:a="http://schemas.openxmlformats.org/drawingml/2006/main">
            <a:off x="3638550" y="2876550"/>
            <a:ext cx="1809750" cy="152400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275">
                <a:solidFill>
                  <a:srgbClr val="2F3136"/>
                </a:solidFill>
              </a:defRPr>
            </a:pPr>
            <a:r>
              <a:t>• Nettoyage URLs / emojis • Arabizi minimal • Stopwords simples • Profil linguistique</a:t>
            </a:r>
          </a:p>
        </p:txBody>
      </p:sp>
      <p:sp>
        <p:nvSpPr>
          <p:cNvPr id="19" name="">
            <a:extLst xmlns:a="http://schemas.openxmlformats.org/drawingml/2006/main">
              <a:ext uri="{FF2B5EF4-FFF2-40B4-BE49-F238E27FC236}">
                <a16:creationId xmlns:a16="http://schemas.microsoft.com/office/drawing/2014/main" id="{0300F3E9-3A20-40EB-A7E7-38E643B45F14}"/>
              </a:ext>
            </a:extLst>
          </p:cNvPr>
          <p:cNvSpPr>
            <a:spLocks xmlns:a="http://schemas.openxmlformats.org/drawingml/2006/main" noGrp="1"/>
          </p:cNvSpPr>
          <p:nvPr/>
        </p:nvSpPr>
        <p:spPr>
          <a:xfrm xmlns:a="http://schemas.openxmlformats.org/drawingml/2006/main">
            <a:off x="6210300" y="2876550"/>
            <a:ext cx="1809750" cy="152400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275">
                <a:solidFill>
                  <a:srgbClr val="2F3136"/>
                </a:solidFill>
              </a:defRPr>
            </a:pPr>
            <a:r>
              <a:t>• Lexique économique • Score lexical par texte • Agrégation mensuelle • Normalisation train only</a:t>
            </a:r>
          </a:p>
        </p:txBody>
      </p:sp>
      <p:sp>
        <p:nvSpPr>
          <p:cNvPr id="20" name="">
            <a:extLst xmlns:a="http://schemas.openxmlformats.org/drawingml/2006/main">
              <a:ext uri="{FF2B5EF4-FFF2-40B4-BE49-F238E27FC236}">
                <a16:creationId xmlns:a16="http://schemas.microsoft.com/office/drawing/2014/main" id="{E02D0C91-EE73-4B85-9BF4-943D652FD1B0}"/>
              </a:ext>
            </a:extLst>
          </p:cNvPr>
          <p:cNvSpPr>
            <a:spLocks xmlns:a="http://schemas.openxmlformats.org/drawingml/2006/main" noGrp="1"/>
          </p:cNvSpPr>
          <p:nvPr/>
        </p:nvSpPr>
        <p:spPr>
          <a:xfrm xmlns:a="http://schemas.openxmlformats.org/drawingml/2006/main">
            <a:off x="8782050" y="2876550"/>
            <a:ext cx="1809750" cy="152400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275">
                <a:solidFill>
                  <a:srgbClr val="2F3136"/>
                </a:solidFill>
              </a:defRPr>
            </a:pPr>
            <a:r>
              <a:t>• Merge avec Gold dataset • BESI v2a fixe • BESI v2b Lasso • NLP seul en diagnostic</a:t>
            </a:r>
          </a:p>
        </p:txBody>
      </p:sp>
      <p:sp>
        <p:nvSpPr>
          <p:cNvPr id="21" name="">
            <a:extLst xmlns:a="http://schemas.openxmlformats.org/drawingml/2006/main">
              <a:ext uri="{FF2B5EF4-FFF2-40B4-BE49-F238E27FC236}">
                <a16:creationId xmlns:a16="http://schemas.microsoft.com/office/drawing/2014/main" id="{AC377B05-6444-4BBA-AB73-7B0240CF4B7D}"/>
              </a:ext>
            </a:extLst>
          </p:cNvPr>
          <p:cNvSpPr>
            <a:spLocks xmlns:a="http://schemas.openxmlformats.org/drawingml/2006/main" noGrp="1"/>
          </p:cNvSpPr>
          <p:nvPr/>
        </p:nvSpPr>
        <p:spPr>
          <a:xfrm xmlns:a="http://schemas.openxmlformats.org/drawingml/2006/main">
            <a:off x="876300" y="5334000"/>
            <a:ext cx="10001250" cy="4000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350">
                <a:solidFill>
                  <a:srgbClr val="2F3136"/>
                </a:solidFill>
              </a:defRPr>
            </a:pPr>
            <a:r>
              <a:t>Point méthodologique crucial : ce signal est un signal presse éditorial, pas un vrai sentiment lecteur. Il enrichit le projet localement, mais doit être interprété avec prudence.</a:t>
            </a:r>
          </a:p>
        </p:txBody>
      </p:sp>
      <p:sp>
        <p:nvSpPr>
          <p:cNvPr id="22" name="">
            <a:extLst xmlns:a="http://schemas.openxmlformats.org/drawingml/2006/main">
              <a:ext uri="{FF2B5EF4-FFF2-40B4-BE49-F238E27FC236}">
                <a16:creationId xmlns:a16="http://schemas.microsoft.com/office/drawing/2014/main" id="{F38B29AD-D1CC-4289-AAF1-EF55166F8A0C}"/>
              </a:ext>
            </a:extLst>
          </p:cNvPr>
          <p:cNvSpPr>
            <a:spLocks xmlns:a="http://schemas.openxmlformats.org/drawingml/2006/main" noGrp="1"/>
          </p:cNvSpPr>
          <p:nvPr/>
        </p:nvSpPr>
        <p:spPr>
          <a:xfrm xmlns:a="http://schemas.openxmlformats.org/drawingml/2006/main">
            <a:off x="685800" y="6477000"/>
            <a:ext cx="4762500" cy="1714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825">
                <a:solidFill>
                  <a:srgbClr val="6C6A66"/>
                </a:solidFill>
              </a:defRPr>
            </a:pPr>
            <a:r>
              <a:t>ENSAM Meknes • Extension NLP</a:t>
            </a:r>
          </a:p>
        </p:txBody>
      </p:sp>
      <p:sp>
        <p:nvSpPr>
          <p:cNvPr id="23" name="">
            <a:extLst xmlns:a="http://schemas.openxmlformats.org/drawingml/2006/main">
              <a:ext uri="{FF2B5EF4-FFF2-40B4-BE49-F238E27FC236}">
                <a16:creationId xmlns:a16="http://schemas.microsoft.com/office/drawing/2014/main" id="{AB72B217-7C63-461E-9990-50C518386ECA}"/>
              </a:ext>
            </a:extLst>
          </p:cNvPr>
          <p:cNvSpPr>
            <a:spLocks xmlns:a="http://schemas.openxmlformats.org/drawingml/2006/main" noGrp="1"/>
          </p:cNvSpPr>
          <p:nvPr/>
        </p:nvSpPr>
        <p:spPr>
          <a:xfrm xmlns:a="http://schemas.openxmlformats.org/drawingml/2006/main">
            <a:off x="11049000" y="6477000"/>
            <a:ext cx="476250" cy="1714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lgn="r">
              <a:defRPr sz="825">
                <a:solidFill>
                  <a:srgbClr val="6C6A66"/>
                </a:solidFill>
              </a:defRPr>
            </a:pPr>
            <a:r>
              <a:t>15</a:t>
            </a:r>
          </a:p>
        </p:txBody>
      </p:sp>
    </p:spTree>
    <p:extLst>
      <p:ext uri="{BB962C8B-B14F-4D97-AF65-F5344CB8AC3E}">
        <p14:creationId xmlns:p14="http://schemas.microsoft.com/office/powerpoint/2010/main" val="766228672"/>
      </p:ext>
    </p:extLst>
  </p:cSld>
</p:sld>
</file>

<file path=ppt/slides/slide16.xml><?xml version="1.0" encoding="utf-8"?>
<p:sld xmlns:p="http://schemas.openxmlformats.org/presentationml/2006/main">
  <p:cSld>
    <p:bg>
      <p:bgPr>
        <a:solidFill xmlns:a="http://schemas.openxmlformats.org/drawingml/2006/main">
          <a:srgbClr val="F6F1E7"/>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754129BB-4C35-47B0-BA44-A4ECC12775D0}"/>
              </a:ext>
            </a:extLst>
          </p:cNvPr>
          <p:cNvSpPr>
            <a:spLocks xmlns:a="http://schemas.openxmlformats.org/drawingml/2006/main" noGrp="1"/>
          </p:cNvSpPr>
          <p:nvPr/>
        </p:nvSpPr>
        <p:spPr>
          <a:xfrm xmlns:a="http://schemas.openxmlformats.org/drawingml/2006/main">
            <a:off x="876300" y="704850"/>
            <a:ext cx="9334500" cy="5905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2400" b="1">
                <a:solidFill>
                  <a:srgbClr val="223A5E"/>
                </a:solidFill>
              </a:defRPr>
            </a:pPr>
            <a:r>
              <a:t>Résultats de l’extension NLP</a:t>
            </a:r>
          </a:p>
        </p:txBody>
      </p:sp>
      <p:sp>
        <p:nvSpPr>
          <p:cNvPr id="2" name="">
            <a:extLst xmlns:a="http://schemas.openxmlformats.org/drawingml/2006/main">
              <a:ext uri="{FF2B5EF4-FFF2-40B4-BE49-F238E27FC236}">
                <a16:creationId xmlns:a16="http://schemas.microsoft.com/office/drawing/2014/main" id="{E6200A4C-AB2E-4CFE-BAC5-6BDBDBD53701}"/>
              </a:ext>
            </a:extLst>
          </p:cNvPr>
          <p:cNvSpPr>
            <a:spLocks xmlns:a="http://schemas.openxmlformats.org/drawingml/2006/main" noGrp="1"/>
          </p:cNvSpPr>
          <p:nvPr/>
        </p:nvSpPr>
        <p:spPr>
          <a:xfrm xmlns:a="http://schemas.openxmlformats.org/drawingml/2006/main">
            <a:off x="876300" y="1295400"/>
            <a:ext cx="9334500" cy="2857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200" b="1">
                <a:solidFill>
                  <a:srgbClr val="C86F4D"/>
                </a:solidFill>
              </a:defRPr>
            </a:pPr>
            <a:r>
              <a:t>Une extension propre, mais non retenue dans le BESI principal</a:t>
            </a:r>
          </a:p>
        </p:txBody>
      </p:sp>
      <p:sp>
        <p:nvSpPr>
          <p:cNvPr id="3" name="">
            <a:extLst xmlns:a="http://schemas.openxmlformats.org/drawingml/2006/main">
              <a:ext uri="{FF2B5EF4-FFF2-40B4-BE49-F238E27FC236}">
                <a16:creationId xmlns:a16="http://schemas.microsoft.com/office/drawing/2014/main" id="{51D814FD-1DF5-4660-9B04-719A7C3B303C}"/>
              </a:ext>
            </a:extLst>
          </p:cNvPr>
          <p:cNvSpPr>
            <a:spLocks xmlns:a="http://schemas.openxmlformats.org/drawingml/2006/main" noGrp="1"/>
          </p:cNvSpPr>
          <p:nvPr/>
        </p:nvSpPr>
        <p:spPr>
          <a:xfrm xmlns:a="http://schemas.openxmlformats.org/drawingml/2006/main">
            <a:off x="685800" y="6477000"/>
            <a:ext cx="4762500" cy="1714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825">
                <a:solidFill>
                  <a:srgbClr val="6C6A66"/>
                </a:solidFill>
              </a:defRPr>
            </a:pPr>
            <a:r>
              <a:t>ENSAM Meknes • BESI V3</a:t>
            </a:r>
          </a:p>
        </p:txBody>
      </p:sp>
      <p:sp>
        <p:nvSpPr>
          <p:cNvPr id="4" name="">
            <a:extLst xmlns:a="http://schemas.openxmlformats.org/drawingml/2006/main">
              <a:ext uri="{FF2B5EF4-FFF2-40B4-BE49-F238E27FC236}">
                <a16:creationId xmlns:a16="http://schemas.microsoft.com/office/drawing/2014/main" id="{CBB163C9-6F55-4E64-8AB3-72CEFC8B79F7}"/>
              </a:ext>
            </a:extLst>
          </p:cNvPr>
          <p:cNvSpPr>
            <a:spLocks xmlns:a="http://schemas.openxmlformats.org/drawingml/2006/main" noGrp="1"/>
          </p:cNvSpPr>
          <p:nvPr/>
        </p:nvSpPr>
        <p:spPr>
          <a:xfrm xmlns:a="http://schemas.openxmlformats.org/drawingml/2006/main">
            <a:off x="11049000" y="6477000"/>
            <a:ext cx="476250" cy="1714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lgn="r">
              <a:defRPr sz="825">
                <a:solidFill>
                  <a:srgbClr val="6C6A66"/>
                </a:solidFill>
              </a:defRPr>
            </a:pPr>
            <a:r>
              <a:t>16</a:t>
            </a:r>
          </a:p>
        </p:txBody>
      </p:sp>
      <p:sp>
        <p:nvSpPr>
          <p:cNvPr id="5" name="">
            <a:extLst xmlns:a="http://schemas.openxmlformats.org/drawingml/2006/main">
              <a:ext uri="{FF2B5EF4-FFF2-40B4-BE49-F238E27FC236}">
                <a16:creationId xmlns:a16="http://schemas.microsoft.com/office/drawing/2014/main" id="{8D308336-D519-471D-A625-DEA25BC040C3}"/>
              </a:ext>
            </a:extLst>
          </p:cNvPr>
          <p:cNvSpPr>
            <a:spLocks xmlns:a="http://schemas.openxmlformats.org/drawingml/2006/main" noGrp="1"/>
          </p:cNvSpPr>
          <p:nvPr/>
        </p:nvSpPr>
        <p:spPr>
          <a:xfrm xmlns:a="http://schemas.openxmlformats.org/drawingml/2006/main">
            <a:off x="876300" y="1790700"/>
            <a:ext cx="2381250" cy="1181100"/>
          </a:xfrm>
          <a:prstGeom xmlns:a="http://schemas.openxmlformats.org/drawingml/2006/main" prst="rect">
            <a:avLst/>
          </a:prstGeom>
          <a:solidFill xmlns:a="http://schemas.openxmlformats.org/drawingml/2006/main">
            <a:srgbClr val="FFFFFF"/>
          </a:solidFill>
          <a:ln xmlns:a="http://schemas.openxmlformats.org/drawingml/2006/main" w="9525">
            <a:solidFill>
              <a:srgbClr val="EEE4D3"/>
            </a:solidFill>
            <a:prstDash val="solid"/>
          </a:ln>
        </p:spPr>
      </p:sp>
      <p:sp>
        <p:nvSpPr>
          <p:cNvPr id="6" name="">
            <a:extLst xmlns:a="http://schemas.openxmlformats.org/drawingml/2006/main">
              <a:ext uri="{FF2B5EF4-FFF2-40B4-BE49-F238E27FC236}">
                <a16:creationId xmlns:a16="http://schemas.microsoft.com/office/drawing/2014/main" id="{FD3C97E1-B23D-4D0D-9838-71831DF8F2CD}"/>
              </a:ext>
            </a:extLst>
          </p:cNvPr>
          <p:cNvSpPr>
            <a:spLocks xmlns:a="http://schemas.openxmlformats.org/drawingml/2006/main" noGrp="1"/>
          </p:cNvSpPr>
          <p:nvPr/>
        </p:nvSpPr>
        <p:spPr>
          <a:xfrm xmlns:a="http://schemas.openxmlformats.org/drawingml/2006/main">
            <a:off x="876300" y="1790700"/>
            <a:ext cx="76200" cy="1181100"/>
          </a:xfrm>
          <a:prstGeom xmlns:a="http://schemas.openxmlformats.org/drawingml/2006/main" prst="rect">
            <a:avLst/>
          </a:prstGeom>
          <a:solidFill xmlns:a="http://schemas.openxmlformats.org/drawingml/2006/main">
            <a:srgbClr val="223A5E"/>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348F9F73-B8BA-4542-87D2-DB29CF63CB0E}"/>
              </a:ext>
            </a:extLst>
          </p:cNvPr>
          <p:cNvSpPr>
            <a:spLocks xmlns:a="http://schemas.openxmlformats.org/drawingml/2006/main" noGrp="1"/>
          </p:cNvSpPr>
          <p:nvPr/>
        </p:nvSpPr>
        <p:spPr>
          <a:xfrm xmlns:a="http://schemas.openxmlformats.org/drawingml/2006/main">
            <a:off x="1104900" y="1962150"/>
            <a:ext cx="2000250" cy="19050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975" b="1">
                <a:solidFill>
                  <a:srgbClr val="6C6A66"/>
                </a:solidFill>
              </a:defRPr>
            </a:pPr>
            <a:r>
              <a:t>Couverture</a:t>
            </a:r>
          </a:p>
        </p:txBody>
      </p:sp>
      <p:sp>
        <p:nvSpPr>
          <p:cNvPr id="8" name="">
            <a:extLst xmlns:a="http://schemas.openxmlformats.org/drawingml/2006/main">
              <a:ext uri="{FF2B5EF4-FFF2-40B4-BE49-F238E27FC236}">
                <a16:creationId xmlns:a16="http://schemas.microsoft.com/office/drawing/2014/main" id="{9A68A665-4199-4F3F-AC89-BFFD379FA942}"/>
              </a:ext>
            </a:extLst>
          </p:cNvPr>
          <p:cNvSpPr>
            <a:spLocks xmlns:a="http://schemas.openxmlformats.org/drawingml/2006/main" noGrp="1"/>
          </p:cNvSpPr>
          <p:nvPr/>
        </p:nvSpPr>
        <p:spPr>
          <a:xfrm xmlns:a="http://schemas.openxmlformats.org/drawingml/2006/main">
            <a:off x="1104900" y="2190750"/>
            <a:ext cx="2000250" cy="38100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2100" b="1">
                <a:solidFill>
                  <a:srgbClr val="223A5E"/>
                </a:solidFill>
              </a:defRPr>
            </a:pPr>
            <a:r>
              <a:t>96/96 mois</a:t>
            </a:r>
          </a:p>
        </p:txBody>
      </p:sp>
      <p:sp>
        <p:nvSpPr>
          <p:cNvPr id="9" name="">
            <a:extLst xmlns:a="http://schemas.openxmlformats.org/drawingml/2006/main">
              <a:ext uri="{FF2B5EF4-FFF2-40B4-BE49-F238E27FC236}">
                <a16:creationId xmlns:a16="http://schemas.microsoft.com/office/drawing/2014/main" id="{851B1C99-20B9-4219-BC07-C7053E7D2864}"/>
              </a:ext>
            </a:extLst>
          </p:cNvPr>
          <p:cNvSpPr>
            <a:spLocks xmlns:a="http://schemas.openxmlformats.org/drawingml/2006/main" noGrp="1"/>
          </p:cNvSpPr>
          <p:nvPr/>
        </p:nvSpPr>
        <p:spPr>
          <a:xfrm xmlns:a="http://schemas.openxmlformats.org/drawingml/2006/main">
            <a:off x="1104900" y="2628900"/>
            <a:ext cx="2000250" cy="3238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900">
                <a:solidFill>
                  <a:srgbClr val="2F3136"/>
                </a:solidFill>
              </a:defRPr>
            </a:pPr>
            <a:r>
              <a:t>Aucune imputation mensuelle</a:t>
            </a:r>
          </a:p>
        </p:txBody>
      </p:sp>
      <p:sp>
        <p:nvSpPr>
          <p:cNvPr id="10" name="">
            <a:extLst xmlns:a="http://schemas.openxmlformats.org/drawingml/2006/main">
              <a:ext uri="{FF2B5EF4-FFF2-40B4-BE49-F238E27FC236}">
                <a16:creationId xmlns:a16="http://schemas.microsoft.com/office/drawing/2014/main" id="{2E32B6F6-7B98-40F0-A9B8-8813A23217F3}"/>
              </a:ext>
            </a:extLst>
          </p:cNvPr>
          <p:cNvSpPr>
            <a:spLocks xmlns:a="http://schemas.openxmlformats.org/drawingml/2006/main" noGrp="1"/>
          </p:cNvSpPr>
          <p:nvPr/>
        </p:nvSpPr>
        <p:spPr>
          <a:xfrm xmlns:a="http://schemas.openxmlformats.org/drawingml/2006/main">
            <a:off x="3467100" y="1790700"/>
            <a:ext cx="2381250" cy="1181100"/>
          </a:xfrm>
          <a:prstGeom xmlns:a="http://schemas.openxmlformats.org/drawingml/2006/main" prst="rect">
            <a:avLst/>
          </a:prstGeom>
          <a:solidFill xmlns:a="http://schemas.openxmlformats.org/drawingml/2006/main">
            <a:srgbClr val="FFFFFF"/>
          </a:solidFill>
          <a:ln xmlns:a="http://schemas.openxmlformats.org/drawingml/2006/main" w="9525">
            <a:solidFill>
              <a:srgbClr val="EEE4D3"/>
            </a:solidFill>
            <a:prstDash val="solid"/>
          </a:ln>
        </p:spPr>
      </p:sp>
      <p:sp>
        <p:nvSpPr>
          <p:cNvPr id="11" name="">
            <a:extLst xmlns:a="http://schemas.openxmlformats.org/drawingml/2006/main">
              <a:ext uri="{FF2B5EF4-FFF2-40B4-BE49-F238E27FC236}">
                <a16:creationId xmlns:a16="http://schemas.microsoft.com/office/drawing/2014/main" id="{850E11E1-4529-4039-A2E9-57D7C7EF6516}"/>
              </a:ext>
            </a:extLst>
          </p:cNvPr>
          <p:cNvSpPr>
            <a:spLocks xmlns:a="http://schemas.openxmlformats.org/drawingml/2006/main" noGrp="1"/>
          </p:cNvSpPr>
          <p:nvPr/>
        </p:nvSpPr>
        <p:spPr>
          <a:xfrm xmlns:a="http://schemas.openxmlformats.org/drawingml/2006/main">
            <a:off x="3467100" y="1790700"/>
            <a:ext cx="76200" cy="1181100"/>
          </a:xfrm>
          <a:prstGeom xmlns:a="http://schemas.openxmlformats.org/drawingml/2006/main" prst="rect">
            <a:avLst/>
          </a:prstGeom>
          <a:solidFill xmlns:a="http://schemas.openxmlformats.org/drawingml/2006/main">
            <a:srgbClr val="C86F4D"/>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1E584060-8767-4DAE-AF90-62CC1B0B31AD}"/>
              </a:ext>
            </a:extLst>
          </p:cNvPr>
          <p:cNvSpPr>
            <a:spLocks xmlns:a="http://schemas.openxmlformats.org/drawingml/2006/main" noGrp="1"/>
          </p:cNvSpPr>
          <p:nvPr/>
        </p:nvSpPr>
        <p:spPr>
          <a:xfrm xmlns:a="http://schemas.openxmlformats.org/drawingml/2006/main">
            <a:off x="3695700" y="1962150"/>
            <a:ext cx="2000250" cy="19050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975" b="1">
                <a:solidFill>
                  <a:srgbClr val="6C6A66"/>
                </a:solidFill>
              </a:defRPr>
            </a:pPr>
            <a:r>
              <a:t>Corpus</a:t>
            </a:r>
          </a:p>
        </p:txBody>
      </p:sp>
      <p:sp>
        <p:nvSpPr>
          <p:cNvPr id="13" name="">
            <a:extLst xmlns:a="http://schemas.openxmlformats.org/drawingml/2006/main">
              <a:ext uri="{FF2B5EF4-FFF2-40B4-BE49-F238E27FC236}">
                <a16:creationId xmlns:a16="http://schemas.microsoft.com/office/drawing/2014/main" id="{EDC626B3-BB6A-4549-B035-D6E45E9B8456}"/>
              </a:ext>
            </a:extLst>
          </p:cNvPr>
          <p:cNvSpPr>
            <a:spLocks xmlns:a="http://schemas.openxmlformats.org/drawingml/2006/main" noGrp="1"/>
          </p:cNvSpPr>
          <p:nvPr/>
        </p:nvSpPr>
        <p:spPr>
          <a:xfrm xmlns:a="http://schemas.openxmlformats.org/drawingml/2006/main">
            <a:off x="3695700" y="2190750"/>
            <a:ext cx="2000250" cy="38100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2100" b="1">
                <a:solidFill>
                  <a:srgbClr val="C86F4D"/>
                </a:solidFill>
              </a:defRPr>
            </a:pPr>
            <a:r>
              <a:t>5 788 textes</a:t>
            </a:r>
          </a:p>
        </p:txBody>
      </p:sp>
      <p:sp>
        <p:nvSpPr>
          <p:cNvPr id="14" name="">
            <a:extLst xmlns:a="http://schemas.openxmlformats.org/drawingml/2006/main">
              <a:ext uri="{FF2B5EF4-FFF2-40B4-BE49-F238E27FC236}">
                <a16:creationId xmlns:a16="http://schemas.microsoft.com/office/drawing/2014/main" id="{C32E2A88-D06D-4179-98CF-8FC495CDCA3A}"/>
              </a:ext>
            </a:extLst>
          </p:cNvPr>
          <p:cNvSpPr>
            <a:spLocks xmlns:a="http://schemas.openxmlformats.org/drawingml/2006/main" noGrp="1"/>
          </p:cNvSpPr>
          <p:nvPr/>
        </p:nvSpPr>
        <p:spPr>
          <a:xfrm xmlns:a="http://schemas.openxmlformats.org/drawingml/2006/main">
            <a:off x="3695700" y="2628900"/>
            <a:ext cx="2000250" cy="3238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900">
                <a:solidFill>
                  <a:srgbClr val="2F3136"/>
                </a:solidFill>
              </a:defRPr>
            </a:pPr>
            <a:r>
              <a:t>Source Hespress 2017–2024</a:t>
            </a:r>
          </a:p>
        </p:txBody>
      </p:sp>
      <p:sp>
        <p:nvSpPr>
          <p:cNvPr id="15" name="">
            <a:extLst xmlns:a="http://schemas.openxmlformats.org/drawingml/2006/main">
              <a:ext uri="{FF2B5EF4-FFF2-40B4-BE49-F238E27FC236}">
                <a16:creationId xmlns:a16="http://schemas.microsoft.com/office/drawing/2014/main" id="{65C74679-2B89-4FA4-BEA6-89812D446C5C}"/>
              </a:ext>
            </a:extLst>
          </p:cNvPr>
          <p:cNvSpPr>
            <a:spLocks xmlns:a="http://schemas.openxmlformats.org/drawingml/2006/main" noGrp="1"/>
          </p:cNvSpPr>
          <p:nvPr/>
        </p:nvSpPr>
        <p:spPr>
          <a:xfrm xmlns:a="http://schemas.openxmlformats.org/drawingml/2006/main">
            <a:off x="6057900" y="1790700"/>
            <a:ext cx="2381250" cy="1181100"/>
          </a:xfrm>
          <a:prstGeom xmlns:a="http://schemas.openxmlformats.org/drawingml/2006/main" prst="rect">
            <a:avLst/>
          </a:prstGeom>
          <a:solidFill xmlns:a="http://schemas.openxmlformats.org/drawingml/2006/main">
            <a:srgbClr val="FFFFFF"/>
          </a:solidFill>
          <a:ln xmlns:a="http://schemas.openxmlformats.org/drawingml/2006/main" w="9525">
            <a:solidFill>
              <a:srgbClr val="EEE4D3"/>
            </a:solidFill>
            <a:prstDash val="solid"/>
          </a:ln>
        </p:spPr>
      </p:sp>
      <p:sp>
        <p:nvSpPr>
          <p:cNvPr id="16" name="">
            <a:extLst xmlns:a="http://schemas.openxmlformats.org/drawingml/2006/main">
              <a:ext uri="{FF2B5EF4-FFF2-40B4-BE49-F238E27FC236}">
                <a16:creationId xmlns:a16="http://schemas.microsoft.com/office/drawing/2014/main" id="{C74BECFA-920A-4B2F-9C62-3058AE43B840}"/>
              </a:ext>
            </a:extLst>
          </p:cNvPr>
          <p:cNvSpPr>
            <a:spLocks xmlns:a="http://schemas.openxmlformats.org/drawingml/2006/main" noGrp="1"/>
          </p:cNvSpPr>
          <p:nvPr/>
        </p:nvSpPr>
        <p:spPr>
          <a:xfrm xmlns:a="http://schemas.openxmlformats.org/drawingml/2006/main">
            <a:off x="6057900" y="1790700"/>
            <a:ext cx="76200" cy="1181100"/>
          </a:xfrm>
          <a:prstGeom xmlns:a="http://schemas.openxmlformats.org/drawingml/2006/main" prst="rect">
            <a:avLst/>
          </a:prstGeom>
          <a:solidFill xmlns:a="http://schemas.openxmlformats.org/drawingml/2006/main">
            <a:srgbClr val="5E7E6A"/>
          </a:solidFill>
          <a:ln xmlns:a="http://schemas.openxmlformats.org/drawingml/2006/main" w="0">
            <a:noFill/>
            <a:prstDash val="solid"/>
          </a:ln>
        </p:spPr>
      </p:sp>
      <p:sp>
        <p:nvSpPr>
          <p:cNvPr id="17" name="">
            <a:extLst xmlns:a="http://schemas.openxmlformats.org/drawingml/2006/main">
              <a:ext uri="{FF2B5EF4-FFF2-40B4-BE49-F238E27FC236}">
                <a16:creationId xmlns:a16="http://schemas.microsoft.com/office/drawing/2014/main" id="{7FF924E3-659C-4822-9666-EA3ECC5667D9}"/>
              </a:ext>
            </a:extLst>
          </p:cNvPr>
          <p:cNvSpPr>
            <a:spLocks xmlns:a="http://schemas.openxmlformats.org/drawingml/2006/main" noGrp="1"/>
          </p:cNvSpPr>
          <p:nvPr/>
        </p:nvSpPr>
        <p:spPr>
          <a:xfrm xmlns:a="http://schemas.openxmlformats.org/drawingml/2006/main">
            <a:off x="6286500" y="1962150"/>
            <a:ext cx="2000250" cy="19050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975" b="1">
                <a:solidFill>
                  <a:srgbClr val="6C6A66"/>
                </a:solidFill>
              </a:defRPr>
            </a:pPr>
            <a:r>
              <a:t>Poids alpha</a:t>
            </a:r>
          </a:p>
        </p:txBody>
      </p:sp>
      <p:sp>
        <p:nvSpPr>
          <p:cNvPr id="18" name="">
            <a:extLst xmlns:a="http://schemas.openxmlformats.org/drawingml/2006/main">
              <a:ext uri="{FF2B5EF4-FFF2-40B4-BE49-F238E27FC236}">
                <a16:creationId xmlns:a16="http://schemas.microsoft.com/office/drawing/2014/main" id="{48D426A8-99D4-40C2-AEDB-87C41540503B}"/>
              </a:ext>
            </a:extLst>
          </p:cNvPr>
          <p:cNvSpPr>
            <a:spLocks xmlns:a="http://schemas.openxmlformats.org/drawingml/2006/main" noGrp="1"/>
          </p:cNvSpPr>
          <p:nvPr/>
        </p:nvSpPr>
        <p:spPr>
          <a:xfrm xmlns:a="http://schemas.openxmlformats.org/drawingml/2006/main">
            <a:off x="6286500" y="2190750"/>
            <a:ext cx="2000250" cy="38100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2100" b="1">
                <a:solidFill>
                  <a:srgbClr val="5E7E6A"/>
                </a:solidFill>
              </a:defRPr>
            </a:pPr>
            <a:r>
              <a:t>1.0</a:t>
            </a:r>
          </a:p>
        </p:txBody>
      </p:sp>
      <p:sp>
        <p:nvSpPr>
          <p:cNvPr id="19" name="">
            <a:extLst xmlns:a="http://schemas.openxmlformats.org/drawingml/2006/main">
              <a:ext uri="{FF2B5EF4-FFF2-40B4-BE49-F238E27FC236}">
                <a16:creationId xmlns:a16="http://schemas.microsoft.com/office/drawing/2014/main" id="{0769034B-5552-4017-B530-9FDE63514B57}"/>
              </a:ext>
            </a:extLst>
          </p:cNvPr>
          <p:cNvSpPr>
            <a:spLocks xmlns:a="http://schemas.openxmlformats.org/drawingml/2006/main" noGrp="1"/>
          </p:cNvSpPr>
          <p:nvPr/>
        </p:nvSpPr>
        <p:spPr>
          <a:xfrm xmlns:a="http://schemas.openxmlformats.org/drawingml/2006/main">
            <a:off x="6286500" y="2628900"/>
            <a:ext cx="2000250" cy="3238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900">
                <a:solidFill>
                  <a:srgbClr val="2F3136"/>
                </a:solidFill>
              </a:defRPr>
            </a:pPr>
            <a:r>
              <a:t>BESI Trends conservé intégralement</a:t>
            </a:r>
          </a:p>
        </p:txBody>
      </p:sp>
      <p:sp>
        <p:nvSpPr>
          <p:cNvPr id="20" name="">
            <a:extLst xmlns:a="http://schemas.openxmlformats.org/drawingml/2006/main">
              <a:ext uri="{FF2B5EF4-FFF2-40B4-BE49-F238E27FC236}">
                <a16:creationId xmlns:a16="http://schemas.microsoft.com/office/drawing/2014/main" id="{647B8D2D-B7A3-4EC3-88B9-9AD8A5CA60BA}"/>
              </a:ext>
            </a:extLst>
          </p:cNvPr>
          <p:cNvSpPr>
            <a:spLocks xmlns:a="http://schemas.openxmlformats.org/drawingml/2006/main" noGrp="1"/>
          </p:cNvSpPr>
          <p:nvPr/>
        </p:nvSpPr>
        <p:spPr>
          <a:xfrm xmlns:a="http://schemas.openxmlformats.org/drawingml/2006/main">
            <a:off x="8648700" y="1790700"/>
            <a:ext cx="2381250" cy="1181100"/>
          </a:xfrm>
          <a:prstGeom xmlns:a="http://schemas.openxmlformats.org/drawingml/2006/main" prst="rect">
            <a:avLst/>
          </a:prstGeom>
          <a:solidFill xmlns:a="http://schemas.openxmlformats.org/drawingml/2006/main">
            <a:srgbClr val="FFFFFF"/>
          </a:solidFill>
          <a:ln xmlns:a="http://schemas.openxmlformats.org/drawingml/2006/main" w="9525">
            <a:solidFill>
              <a:srgbClr val="EEE4D3"/>
            </a:solidFill>
            <a:prstDash val="solid"/>
          </a:ln>
        </p:spPr>
      </p:sp>
      <p:sp>
        <p:nvSpPr>
          <p:cNvPr id="21" name="">
            <a:extLst xmlns:a="http://schemas.openxmlformats.org/drawingml/2006/main">
              <a:ext uri="{FF2B5EF4-FFF2-40B4-BE49-F238E27FC236}">
                <a16:creationId xmlns:a16="http://schemas.microsoft.com/office/drawing/2014/main" id="{1B1A139F-20A6-4C52-9E7D-B9EE3C085E14}"/>
              </a:ext>
            </a:extLst>
          </p:cNvPr>
          <p:cNvSpPr>
            <a:spLocks xmlns:a="http://schemas.openxmlformats.org/drawingml/2006/main" noGrp="1"/>
          </p:cNvSpPr>
          <p:nvPr/>
        </p:nvSpPr>
        <p:spPr>
          <a:xfrm xmlns:a="http://schemas.openxmlformats.org/drawingml/2006/main">
            <a:off x="8648700" y="1790700"/>
            <a:ext cx="76200" cy="1181100"/>
          </a:xfrm>
          <a:prstGeom xmlns:a="http://schemas.openxmlformats.org/drawingml/2006/main" prst="rect">
            <a:avLst/>
          </a:prstGeom>
          <a:solidFill xmlns:a="http://schemas.openxmlformats.org/drawingml/2006/main">
            <a:srgbClr val="A14B4B"/>
          </a:solidFill>
          <a:ln xmlns:a="http://schemas.openxmlformats.org/drawingml/2006/main" w="0">
            <a:noFill/>
            <a:prstDash val="solid"/>
          </a:ln>
        </p:spPr>
      </p:sp>
      <p:sp>
        <p:nvSpPr>
          <p:cNvPr id="22" name="">
            <a:extLst xmlns:a="http://schemas.openxmlformats.org/drawingml/2006/main">
              <a:ext uri="{FF2B5EF4-FFF2-40B4-BE49-F238E27FC236}">
                <a16:creationId xmlns:a16="http://schemas.microsoft.com/office/drawing/2014/main" id="{BFA4DC5B-18D4-4F9F-9FBC-DB4E3997B041}"/>
              </a:ext>
            </a:extLst>
          </p:cNvPr>
          <p:cNvSpPr>
            <a:spLocks xmlns:a="http://schemas.openxmlformats.org/drawingml/2006/main" noGrp="1"/>
          </p:cNvSpPr>
          <p:nvPr/>
        </p:nvSpPr>
        <p:spPr>
          <a:xfrm xmlns:a="http://schemas.openxmlformats.org/drawingml/2006/main">
            <a:off x="8877300" y="1962150"/>
            <a:ext cx="2000250" cy="19050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975" b="1">
                <a:solidFill>
                  <a:srgbClr val="6C6A66"/>
                </a:solidFill>
              </a:defRPr>
            </a:pPr>
            <a:r>
              <a:t>Poids beta</a:t>
            </a:r>
          </a:p>
        </p:txBody>
      </p:sp>
      <p:sp>
        <p:nvSpPr>
          <p:cNvPr id="23" name="">
            <a:extLst xmlns:a="http://schemas.openxmlformats.org/drawingml/2006/main">
              <a:ext uri="{FF2B5EF4-FFF2-40B4-BE49-F238E27FC236}">
                <a16:creationId xmlns:a16="http://schemas.microsoft.com/office/drawing/2014/main" id="{5899DEAE-09B8-4C05-8977-D9E72F7B1337}"/>
              </a:ext>
            </a:extLst>
          </p:cNvPr>
          <p:cNvSpPr>
            <a:spLocks xmlns:a="http://schemas.openxmlformats.org/drawingml/2006/main" noGrp="1"/>
          </p:cNvSpPr>
          <p:nvPr/>
        </p:nvSpPr>
        <p:spPr>
          <a:xfrm xmlns:a="http://schemas.openxmlformats.org/drawingml/2006/main">
            <a:off x="8877300" y="2190750"/>
            <a:ext cx="2000250" cy="38100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2100" b="1">
                <a:solidFill>
                  <a:srgbClr val="A14B4B"/>
                </a:solidFill>
              </a:defRPr>
            </a:pPr>
            <a:r>
              <a:t>0.0</a:t>
            </a:r>
          </a:p>
        </p:txBody>
      </p:sp>
      <p:sp>
        <p:nvSpPr>
          <p:cNvPr id="24" name="">
            <a:extLst xmlns:a="http://schemas.openxmlformats.org/drawingml/2006/main">
              <a:ext uri="{FF2B5EF4-FFF2-40B4-BE49-F238E27FC236}">
                <a16:creationId xmlns:a16="http://schemas.microsoft.com/office/drawing/2014/main" id="{48C4A2CA-A673-4C73-800B-B9A09B24C4EF}"/>
              </a:ext>
            </a:extLst>
          </p:cNvPr>
          <p:cNvSpPr>
            <a:spLocks xmlns:a="http://schemas.openxmlformats.org/drawingml/2006/main" noGrp="1"/>
          </p:cNvSpPr>
          <p:nvPr/>
        </p:nvSpPr>
        <p:spPr>
          <a:xfrm xmlns:a="http://schemas.openxmlformats.org/drawingml/2006/main">
            <a:off x="8877300" y="2628900"/>
            <a:ext cx="2000250" cy="3238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900">
                <a:solidFill>
                  <a:srgbClr val="2F3136"/>
                </a:solidFill>
              </a:defRPr>
            </a:pPr>
            <a:r>
              <a:t>Le NLP n’ajoute pas d’info conditionnelle</a:t>
            </a:r>
          </a:p>
        </p:txBody>
      </p:sp>
      <p:sp>
        <p:nvSpPr>
          <p:cNvPr id="25" name="">
            <a:extLst xmlns:a="http://schemas.openxmlformats.org/drawingml/2006/main">
              <a:ext uri="{FF2B5EF4-FFF2-40B4-BE49-F238E27FC236}">
                <a16:creationId xmlns:a16="http://schemas.microsoft.com/office/drawing/2014/main" id="{4BFDACDD-1BA4-4705-B265-FFE9A4249B3A}"/>
              </a:ext>
            </a:extLst>
          </p:cNvPr>
          <p:cNvSpPr>
            <a:spLocks xmlns:a="http://schemas.openxmlformats.org/drawingml/2006/main" noGrp="1"/>
          </p:cNvSpPr>
          <p:nvPr/>
        </p:nvSpPr>
        <p:spPr>
          <a:xfrm xmlns:a="http://schemas.openxmlformats.org/drawingml/2006/main">
            <a:off x="876300" y="3314700"/>
            <a:ext cx="4953000" cy="2228850"/>
          </a:xfrm>
          <a:prstGeom xmlns:a="http://schemas.openxmlformats.org/drawingml/2006/main" prst="rect">
            <a:avLst/>
          </a:prstGeom>
          <a:solidFill xmlns:a="http://schemas.openxmlformats.org/drawingml/2006/main">
            <a:srgbClr val="FFFFFF"/>
          </a:solidFill>
          <a:ln xmlns:a="http://schemas.openxmlformats.org/drawingml/2006/main" w="9525">
            <a:solidFill>
              <a:srgbClr val="EEE4D3"/>
            </a:solidFill>
            <a:prstDash val="solid"/>
          </a:ln>
        </p:spPr>
      </p:sp>
      <p:sp>
        <p:nvSpPr>
          <p:cNvPr id="26" name="">
            <a:extLst xmlns:a="http://schemas.openxmlformats.org/drawingml/2006/main">
              <a:ext uri="{FF2B5EF4-FFF2-40B4-BE49-F238E27FC236}">
                <a16:creationId xmlns:a16="http://schemas.microsoft.com/office/drawing/2014/main" id="{7747CC93-D045-4B9A-B9AC-95C788E3C776}"/>
              </a:ext>
            </a:extLst>
          </p:cNvPr>
          <p:cNvSpPr>
            <a:spLocks xmlns:a="http://schemas.openxmlformats.org/drawingml/2006/main" noGrp="1"/>
          </p:cNvSpPr>
          <p:nvPr/>
        </p:nvSpPr>
        <p:spPr>
          <a:xfrm xmlns:a="http://schemas.openxmlformats.org/drawingml/2006/main">
            <a:off x="1123950" y="3562350"/>
            <a:ext cx="4191000" cy="22860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350" b="1">
                <a:solidFill>
                  <a:srgbClr val="223A5E"/>
                </a:solidFill>
              </a:defRPr>
            </a:pPr>
            <a:r>
              <a:t>Comparaison des variantes</a:t>
            </a:r>
          </a:p>
        </p:txBody>
      </p:sp>
      <p:sp>
        <p:nvSpPr>
          <p:cNvPr id="27" name="">
            <a:extLst xmlns:a="http://schemas.openxmlformats.org/drawingml/2006/main">
              <a:ext uri="{FF2B5EF4-FFF2-40B4-BE49-F238E27FC236}">
                <a16:creationId xmlns:a16="http://schemas.microsoft.com/office/drawing/2014/main" id="{10E6E43B-A18A-4B7F-A855-EBF1444ACB89}"/>
              </a:ext>
            </a:extLst>
          </p:cNvPr>
          <p:cNvSpPr>
            <a:spLocks xmlns:a="http://schemas.openxmlformats.org/drawingml/2006/main" noGrp="1"/>
          </p:cNvSpPr>
          <p:nvPr/>
        </p:nvSpPr>
        <p:spPr>
          <a:xfrm xmlns:a="http://schemas.openxmlformats.org/drawingml/2006/main">
            <a:off x="1123950" y="3943350"/>
            <a:ext cx="4762500" cy="1619250"/>
          </a:xfrm>
          <a:prstGeom xmlns:a="http://schemas.openxmlformats.org/drawingml/2006/main" prst="rect">
            <a:avLst/>
          </a:prstGeom>
          <a:solidFill xmlns:a="http://schemas.openxmlformats.org/drawingml/2006/main">
            <a:srgbClr val="FFFFFF"/>
          </a:solidFill>
          <a:ln xmlns:a="http://schemas.openxmlformats.org/drawingml/2006/main" w="9525">
            <a:solidFill>
              <a:srgbClr val="EEE4D3"/>
            </a:solidFill>
            <a:prstDash val="solid"/>
          </a:ln>
        </p:spPr>
      </p:sp>
      <p:sp>
        <p:nvSpPr>
          <p:cNvPr id="28" name="">
            <a:extLst xmlns:a="http://schemas.openxmlformats.org/drawingml/2006/main">
              <a:ext uri="{FF2B5EF4-FFF2-40B4-BE49-F238E27FC236}">
                <a16:creationId xmlns:a16="http://schemas.microsoft.com/office/drawing/2014/main" id="{1CD35282-7BD6-4BBD-8932-9299CF2CDFB4}"/>
              </a:ext>
            </a:extLst>
          </p:cNvPr>
          <p:cNvSpPr>
            <a:spLocks xmlns:a="http://schemas.openxmlformats.org/drawingml/2006/main" noGrp="1"/>
          </p:cNvSpPr>
          <p:nvPr/>
        </p:nvSpPr>
        <p:spPr>
          <a:xfrm xmlns:a="http://schemas.openxmlformats.org/drawingml/2006/main">
            <a:off x="1123950" y="3943350"/>
            <a:ext cx="1809750" cy="323850"/>
          </a:xfrm>
          <a:prstGeom xmlns:a="http://schemas.openxmlformats.org/drawingml/2006/main" prst="rect">
            <a:avLst/>
          </a:prstGeom>
          <a:solidFill xmlns:a="http://schemas.openxmlformats.org/drawingml/2006/main">
            <a:srgbClr val="223A5E"/>
          </a:solidFill>
          <a:ln xmlns:a="http://schemas.openxmlformats.org/drawingml/2006/main" w="9525">
            <a:solidFill>
              <a:srgbClr val="223A5E"/>
            </a:solidFill>
            <a:prstDash val="solid"/>
          </a:ln>
        </p:spPr>
      </p:sp>
      <p:sp>
        <p:nvSpPr>
          <p:cNvPr id="29" name="">
            <a:extLst xmlns:a="http://schemas.openxmlformats.org/drawingml/2006/main">
              <a:ext uri="{FF2B5EF4-FFF2-40B4-BE49-F238E27FC236}">
                <a16:creationId xmlns:a16="http://schemas.microsoft.com/office/drawing/2014/main" id="{B4091489-8BF4-4732-B59D-ABDADB2ABC83}"/>
              </a:ext>
            </a:extLst>
          </p:cNvPr>
          <p:cNvSpPr>
            <a:spLocks xmlns:a="http://schemas.openxmlformats.org/drawingml/2006/main" noGrp="1"/>
          </p:cNvSpPr>
          <p:nvPr/>
        </p:nvSpPr>
        <p:spPr>
          <a:xfrm xmlns:a="http://schemas.openxmlformats.org/drawingml/2006/main">
            <a:off x="1200150" y="4010025"/>
            <a:ext cx="1657350" cy="19050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lgn="ctr">
              <a:defRPr sz="975" b="1">
                <a:solidFill>
                  <a:srgbClr val="FFFFFF"/>
                </a:solidFill>
              </a:defRPr>
            </a:pPr>
            <a:r>
              <a:t>Variante</a:t>
            </a:r>
          </a:p>
        </p:txBody>
      </p:sp>
      <p:sp>
        <p:nvSpPr>
          <p:cNvPr id="30" name="">
            <a:extLst xmlns:a="http://schemas.openxmlformats.org/drawingml/2006/main">
              <a:ext uri="{FF2B5EF4-FFF2-40B4-BE49-F238E27FC236}">
                <a16:creationId xmlns:a16="http://schemas.microsoft.com/office/drawing/2014/main" id="{DE25A1AF-F071-427E-A4AE-A06960B175DC}"/>
              </a:ext>
            </a:extLst>
          </p:cNvPr>
          <p:cNvSpPr>
            <a:spLocks xmlns:a="http://schemas.openxmlformats.org/drawingml/2006/main" noGrp="1"/>
          </p:cNvSpPr>
          <p:nvPr/>
        </p:nvSpPr>
        <p:spPr>
          <a:xfrm xmlns:a="http://schemas.openxmlformats.org/drawingml/2006/main">
            <a:off x="2933700" y="3943350"/>
            <a:ext cx="1047750" cy="323850"/>
          </a:xfrm>
          <a:prstGeom xmlns:a="http://schemas.openxmlformats.org/drawingml/2006/main" prst="rect">
            <a:avLst/>
          </a:prstGeom>
          <a:solidFill xmlns:a="http://schemas.openxmlformats.org/drawingml/2006/main">
            <a:srgbClr val="223A5E"/>
          </a:solidFill>
          <a:ln xmlns:a="http://schemas.openxmlformats.org/drawingml/2006/main" w="9525">
            <a:solidFill>
              <a:srgbClr val="223A5E"/>
            </a:solidFill>
            <a:prstDash val="solid"/>
          </a:ln>
        </p:spPr>
      </p:sp>
      <p:sp>
        <p:nvSpPr>
          <p:cNvPr id="31" name="">
            <a:extLst xmlns:a="http://schemas.openxmlformats.org/drawingml/2006/main">
              <a:ext uri="{FF2B5EF4-FFF2-40B4-BE49-F238E27FC236}">
                <a16:creationId xmlns:a16="http://schemas.microsoft.com/office/drawing/2014/main" id="{3D7C8E08-01E8-4F29-BDD6-F7A1EF0DC8D4}"/>
              </a:ext>
            </a:extLst>
          </p:cNvPr>
          <p:cNvSpPr>
            <a:spLocks xmlns:a="http://schemas.openxmlformats.org/drawingml/2006/main" noGrp="1"/>
          </p:cNvSpPr>
          <p:nvPr/>
        </p:nvSpPr>
        <p:spPr>
          <a:xfrm xmlns:a="http://schemas.openxmlformats.org/drawingml/2006/main">
            <a:off x="3009900" y="4010025"/>
            <a:ext cx="895350" cy="19050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lgn="ctr">
              <a:defRPr sz="975" b="1">
                <a:solidFill>
                  <a:srgbClr val="FFFFFF"/>
                </a:solidFill>
              </a:defRPr>
            </a:pPr>
            <a:r>
              <a:t>RMSE B</a:t>
            </a:r>
          </a:p>
        </p:txBody>
      </p:sp>
      <p:sp>
        <p:nvSpPr>
          <p:cNvPr id="32" name="">
            <a:extLst xmlns:a="http://schemas.openxmlformats.org/drawingml/2006/main">
              <a:ext uri="{FF2B5EF4-FFF2-40B4-BE49-F238E27FC236}">
                <a16:creationId xmlns:a16="http://schemas.microsoft.com/office/drawing/2014/main" id="{F97DE72F-4B4D-4BCB-B1A8-F24C6A87BB80}"/>
              </a:ext>
            </a:extLst>
          </p:cNvPr>
          <p:cNvSpPr>
            <a:spLocks xmlns:a="http://schemas.openxmlformats.org/drawingml/2006/main" noGrp="1"/>
          </p:cNvSpPr>
          <p:nvPr/>
        </p:nvSpPr>
        <p:spPr>
          <a:xfrm xmlns:a="http://schemas.openxmlformats.org/drawingml/2006/main">
            <a:off x="3981450" y="3943350"/>
            <a:ext cx="952500" cy="323850"/>
          </a:xfrm>
          <a:prstGeom xmlns:a="http://schemas.openxmlformats.org/drawingml/2006/main" prst="rect">
            <a:avLst/>
          </a:prstGeom>
          <a:solidFill xmlns:a="http://schemas.openxmlformats.org/drawingml/2006/main">
            <a:srgbClr val="223A5E"/>
          </a:solidFill>
          <a:ln xmlns:a="http://schemas.openxmlformats.org/drawingml/2006/main" w="9525">
            <a:solidFill>
              <a:srgbClr val="223A5E"/>
            </a:solidFill>
            <a:prstDash val="solid"/>
          </a:ln>
        </p:spPr>
      </p:sp>
      <p:sp>
        <p:nvSpPr>
          <p:cNvPr id="33" name="">
            <a:extLst xmlns:a="http://schemas.openxmlformats.org/drawingml/2006/main">
              <a:ext uri="{FF2B5EF4-FFF2-40B4-BE49-F238E27FC236}">
                <a16:creationId xmlns:a16="http://schemas.microsoft.com/office/drawing/2014/main" id="{14308B6A-A8CF-41DF-B926-EDD74C73595E}"/>
              </a:ext>
            </a:extLst>
          </p:cNvPr>
          <p:cNvSpPr>
            <a:spLocks xmlns:a="http://schemas.openxmlformats.org/drawingml/2006/main" noGrp="1"/>
          </p:cNvSpPr>
          <p:nvPr/>
        </p:nvSpPr>
        <p:spPr>
          <a:xfrm xmlns:a="http://schemas.openxmlformats.org/drawingml/2006/main">
            <a:off x="4057650" y="4010025"/>
            <a:ext cx="800100" cy="19050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lgn="ctr">
              <a:defRPr sz="975" b="1">
                <a:solidFill>
                  <a:srgbClr val="FFFFFF"/>
                </a:solidFill>
              </a:defRPr>
            </a:pPr>
            <a:r>
              <a:t>Recall B</a:t>
            </a:r>
          </a:p>
        </p:txBody>
      </p:sp>
      <p:sp>
        <p:nvSpPr>
          <p:cNvPr id="34" name="">
            <a:extLst xmlns:a="http://schemas.openxmlformats.org/drawingml/2006/main">
              <a:ext uri="{FF2B5EF4-FFF2-40B4-BE49-F238E27FC236}">
                <a16:creationId xmlns:a16="http://schemas.microsoft.com/office/drawing/2014/main" id="{8EDCF9CC-EC81-4E0D-B7A2-B19079313115}"/>
              </a:ext>
            </a:extLst>
          </p:cNvPr>
          <p:cNvSpPr>
            <a:spLocks xmlns:a="http://schemas.openxmlformats.org/drawingml/2006/main" noGrp="1"/>
          </p:cNvSpPr>
          <p:nvPr/>
        </p:nvSpPr>
        <p:spPr>
          <a:xfrm xmlns:a="http://schemas.openxmlformats.org/drawingml/2006/main">
            <a:off x="4933950" y="3943350"/>
            <a:ext cx="952500" cy="323850"/>
          </a:xfrm>
          <a:prstGeom xmlns:a="http://schemas.openxmlformats.org/drawingml/2006/main" prst="rect">
            <a:avLst/>
          </a:prstGeom>
          <a:solidFill xmlns:a="http://schemas.openxmlformats.org/drawingml/2006/main">
            <a:srgbClr val="223A5E"/>
          </a:solidFill>
          <a:ln xmlns:a="http://schemas.openxmlformats.org/drawingml/2006/main" w="9525">
            <a:solidFill>
              <a:srgbClr val="223A5E"/>
            </a:solidFill>
            <a:prstDash val="solid"/>
          </a:ln>
        </p:spPr>
      </p:sp>
      <p:sp>
        <p:nvSpPr>
          <p:cNvPr id="35" name="">
            <a:extLst xmlns:a="http://schemas.openxmlformats.org/drawingml/2006/main">
              <a:ext uri="{FF2B5EF4-FFF2-40B4-BE49-F238E27FC236}">
                <a16:creationId xmlns:a16="http://schemas.microsoft.com/office/drawing/2014/main" id="{7FD19A99-0A4B-45E8-B750-4F510AFCDFE7}"/>
              </a:ext>
            </a:extLst>
          </p:cNvPr>
          <p:cNvSpPr>
            <a:spLocks xmlns:a="http://schemas.openxmlformats.org/drawingml/2006/main" noGrp="1"/>
          </p:cNvSpPr>
          <p:nvPr/>
        </p:nvSpPr>
        <p:spPr>
          <a:xfrm xmlns:a="http://schemas.openxmlformats.org/drawingml/2006/main">
            <a:off x="5010150" y="4010025"/>
            <a:ext cx="800100" cy="19050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lgn="ctr">
              <a:defRPr sz="975" b="1">
                <a:solidFill>
                  <a:srgbClr val="FFFFFF"/>
                </a:solidFill>
              </a:defRPr>
            </a:pPr>
            <a:r>
              <a:t>F1 B</a:t>
            </a:r>
          </a:p>
        </p:txBody>
      </p:sp>
      <p:sp>
        <p:nvSpPr>
          <p:cNvPr id="36" name="">
            <a:extLst xmlns:a="http://schemas.openxmlformats.org/drawingml/2006/main">
              <a:ext uri="{FF2B5EF4-FFF2-40B4-BE49-F238E27FC236}">
                <a16:creationId xmlns:a16="http://schemas.microsoft.com/office/drawing/2014/main" id="{02BB0ECE-420B-4B72-8F87-1DAB7C768363}"/>
              </a:ext>
            </a:extLst>
          </p:cNvPr>
          <p:cNvSpPr>
            <a:spLocks xmlns:a="http://schemas.openxmlformats.org/drawingml/2006/main" noGrp="1"/>
          </p:cNvSpPr>
          <p:nvPr/>
        </p:nvSpPr>
        <p:spPr>
          <a:xfrm xmlns:a="http://schemas.openxmlformats.org/drawingml/2006/main">
            <a:off x="1123950" y="4267200"/>
            <a:ext cx="1809750" cy="323850"/>
          </a:xfrm>
          <a:prstGeom xmlns:a="http://schemas.openxmlformats.org/drawingml/2006/main" prst="rect">
            <a:avLst/>
          </a:prstGeom>
          <a:solidFill xmlns:a="http://schemas.openxmlformats.org/drawingml/2006/main">
            <a:srgbClr val="FBF8F2"/>
          </a:solidFill>
          <a:ln xmlns:a="http://schemas.openxmlformats.org/drawingml/2006/main" w="9525">
            <a:solidFill>
              <a:srgbClr val="EEE4D3"/>
            </a:solidFill>
            <a:prstDash val="solid"/>
          </a:ln>
        </p:spPr>
      </p:sp>
      <p:sp>
        <p:nvSpPr>
          <p:cNvPr id="37" name="">
            <a:extLst xmlns:a="http://schemas.openxmlformats.org/drawingml/2006/main">
              <a:ext uri="{FF2B5EF4-FFF2-40B4-BE49-F238E27FC236}">
                <a16:creationId xmlns:a16="http://schemas.microsoft.com/office/drawing/2014/main" id="{905BB900-85B8-408E-9270-FAC73D0AA957}"/>
              </a:ext>
            </a:extLst>
          </p:cNvPr>
          <p:cNvSpPr>
            <a:spLocks xmlns:a="http://schemas.openxmlformats.org/drawingml/2006/main" noGrp="1"/>
          </p:cNvSpPr>
          <p:nvPr/>
        </p:nvSpPr>
        <p:spPr>
          <a:xfrm xmlns:a="http://schemas.openxmlformats.org/drawingml/2006/main">
            <a:off x="1200150" y="4333875"/>
            <a:ext cx="1657350" cy="19050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lgn="l">
              <a:defRPr sz="900">
                <a:solidFill>
                  <a:srgbClr val="2F3136"/>
                </a:solidFill>
              </a:defRPr>
            </a:pPr>
            <a:r>
              <a:t>BESI v1 Trends</a:t>
            </a:r>
          </a:p>
        </p:txBody>
      </p:sp>
      <p:sp>
        <p:nvSpPr>
          <p:cNvPr id="38" name="">
            <a:extLst xmlns:a="http://schemas.openxmlformats.org/drawingml/2006/main">
              <a:ext uri="{FF2B5EF4-FFF2-40B4-BE49-F238E27FC236}">
                <a16:creationId xmlns:a16="http://schemas.microsoft.com/office/drawing/2014/main" id="{4AF232FD-EBD4-4319-AE02-493680F94FE5}"/>
              </a:ext>
            </a:extLst>
          </p:cNvPr>
          <p:cNvSpPr>
            <a:spLocks xmlns:a="http://schemas.openxmlformats.org/drawingml/2006/main" noGrp="1"/>
          </p:cNvSpPr>
          <p:nvPr/>
        </p:nvSpPr>
        <p:spPr>
          <a:xfrm xmlns:a="http://schemas.openxmlformats.org/drawingml/2006/main">
            <a:off x="2933700" y="4267200"/>
            <a:ext cx="1047750" cy="323850"/>
          </a:xfrm>
          <a:prstGeom xmlns:a="http://schemas.openxmlformats.org/drawingml/2006/main" prst="rect">
            <a:avLst/>
          </a:prstGeom>
          <a:solidFill xmlns:a="http://schemas.openxmlformats.org/drawingml/2006/main">
            <a:srgbClr val="FBF8F2"/>
          </a:solidFill>
          <a:ln xmlns:a="http://schemas.openxmlformats.org/drawingml/2006/main" w="9525">
            <a:solidFill>
              <a:srgbClr val="EEE4D3"/>
            </a:solidFill>
            <a:prstDash val="solid"/>
          </a:ln>
        </p:spPr>
      </p:sp>
      <p:sp>
        <p:nvSpPr>
          <p:cNvPr id="39" name="">
            <a:extLst xmlns:a="http://schemas.openxmlformats.org/drawingml/2006/main">
              <a:ext uri="{FF2B5EF4-FFF2-40B4-BE49-F238E27FC236}">
                <a16:creationId xmlns:a16="http://schemas.microsoft.com/office/drawing/2014/main" id="{62851AE6-860A-43C0-976B-42FFA6C31CFB}"/>
              </a:ext>
            </a:extLst>
          </p:cNvPr>
          <p:cNvSpPr>
            <a:spLocks xmlns:a="http://schemas.openxmlformats.org/drawingml/2006/main" noGrp="1"/>
          </p:cNvSpPr>
          <p:nvPr/>
        </p:nvSpPr>
        <p:spPr>
          <a:xfrm xmlns:a="http://schemas.openxmlformats.org/drawingml/2006/main">
            <a:off x="3009900" y="4333875"/>
            <a:ext cx="895350" cy="19050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lgn="ctr">
              <a:defRPr sz="900">
                <a:solidFill>
                  <a:srgbClr val="2F3136"/>
                </a:solidFill>
              </a:defRPr>
            </a:pPr>
            <a:r>
              <a:t>1.976</a:t>
            </a:r>
          </a:p>
        </p:txBody>
      </p:sp>
      <p:sp>
        <p:nvSpPr>
          <p:cNvPr id="40" name="">
            <a:extLst xmlns:a="http://schemas.openxmlformats.org/drawingml/2006/main">
              <a:ext uri="{FF2B5EF4-FFF2-40B4-BE49-F238E27FC236}">
                <a16:creationId xmlns:a16="http://schemas.microsoft.com/office/drawing/2014/main" id="{C0B8B673-C6A8-49BA-92C8-4856C52A76AA}"/>
              </a:ext>
            </a:extLst>
          </p:cNvPr>
          <p:cNvSpPr>
            <a:spLocks xmlns:a="http://schemas.openxmlformats.org/drawingml/2006/main" noGrp="1"/>
          </p:cNvSpPr>
          <p:nvPr/>
        </p:nvSpPr>
        <p:spPr>
          <a:xfrm xmlns:a="http://schemas.openxmlformats.org/drawingml/2006/main">
            <a:off x="3981450" y="4267200"/>
            <a:ext cx="952500" cy="323850"/>
          </a:xfrm>
          <a:prstGeom xmlns:a="http://schemas.openxmlformats.org/drawingml/2006/main" prst="rect">
            <a:avLst/>
          </a:prstGeom>
          <a:solidFill xmlns:a="http://schemas.openxmlformats.org/drawingml/2006/main">
            <a:srgbClr val="FBF8F2"/>
          </a:solidFill>
          <a:ln xmlns:a="http://schemas.openxmlformats.org/drawingml/2006/main" w="9525">
            <a:solidFill>
              <a:srgbClr val="EEE4D3"/>
            </a:solidFill>
            <a:prstDash val="solid"/>
          </a:ln>
        </p:spPr>
      </p:sp>
      <p:sp>
        <p:nvSpPr>
          <p:cNvPr id="41" name="">
            <a:extLst xmlns:a="http://schemas.openxmlformats.org/drawingml/2006/main">
              <a:ext uri="{FF2B5EF4-FFF2-40B4-BE49-F238E27FC236}">
                <a16:creationId xmlns:a16="http://schemas.microsoft.com/office/drawing/2014/main" id="{CD9A8444-C56D-4E51-8AB6-1F55899CEEC5}"/>
              </a:ext>
            </a:extLst>
          </p:cNvPr>
          <p:cNvSpPr>
            <a:spLocks xmlns:a="http://schemas.openxmlformats.org/drawingml/2006/main" noGrp="1"/>
          </p:cNvSpPr>
          <p:nvPr/>
        </p:nvSpPr>
        <p:spPr>
          <a:xfrm xmlns:a="http://schemas.openxmlformats.org/drawingml/2006/main">
            <a:off x="4057650" y="4333875"/>
            <a:ext cx="800100" cy="19050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lgn="ctr">
              <a:defRPr sz="900">
                <a:solidFill>
                  <a:srgbClr val="2F3136"/>
                </a:solidFill>
              </a:defRPr>
            </a:pPr>
            <a:r>
              <a:t>1.000</a:t>
            </a:r>
          </a:p>
        </p:txBody>
      </p:sp>
      <p:sp>
        <p:nvSpPr>
          <p:cNvPr id="42" name="">
            <a:extLst xmlns:a="http://schemas.openxmlformats.org/drawingml/2006/main">
              <a:ext uri="{FF2B5EF4-FFF2-40B4-BE49-F238E27FC236}">
                <a16:creationId xmlns:a16="http://schemas.microsoft.com/office/drawing/2014/main" id="{A2B4A779-E5A1-4A73-8FEE-A4F421A6BD93}"/>
              </a:ext>
            </a:extLst>
          </p:cNvPr>
          <p:cNvSpPr>
            <a:spLocks xmlns:a="http://schemas.openxmlformats.org/drawingml/2006/main" noGrp="1"/>
          </p:cNvSpPr>
          <p:nvPr/>
        </p:nvSpPr>
        <p:spPr>
          <a:xfrm xmlns:a="http://schemas.openxmlformats.org/drawingml/2006/main">
            <a:off x="4933950" y="4267200"/>
            <a:ext cx="952500" cy="323850"/>
          </a:xfrm>
          <a:prstGeom xmlns:a="http://schemas.openxmlformats.org/drawingml/2006/main" prst="rect">
            <a:avLst/>
          </a:prstGeom>
          <a:solidFill xmlns:a="http://schemas.openxmlformats.org/drawingml/2006/main">
            <a:srgbClr val="FBF8F2"/>
          </a:solidFill>
          <a:ln xmlns:a="http://schemas.openxmlformats.org/drawingml/2006/main" w="9525">
            <a:solidFill>
              <a:srgbClr val="EEE4D3"/>
            </a:solidFill>
            <a:prstDash val="solid"/>
          </a:ln>
        </p:spPr>
      </p:sp>
      <p:sp>
        <p:nvSpPr>
          <p:cNvPr id="43" name="">
            <a:extLst xmlns:a="http://schemas.openxmlformats.org/drawingml/2006/main">
              <a:ext uri="{FF2B5EF4-FFF2-40B4-BE49-F238E27FC236}">
                <a16:creationId xmlns:a16="http://schemas.microsoft.com/office/drawing/2014/main" id="{391EF726-8DEA-462D-AA73-EA3E37982961}"/>
              </a:ext>
            </a:extLst>
          </p:cNvPr>
          <p:cNvSpPr>
            <a:spLocks xmlns:a="http://schemas.openxmlformats.org/drawingml/2006/main" noGrp="1"/>
          </p:cNvSpPr>
          <p:nvPr/>
        </p:nvSpPr>
        <p:spPr>
          <a:xfrm xmlns:a="http://schemas.openxmlformats.org/drawingml/2006/main">
            <a:off x="5010150" y="4333875"/>
            <a:ext cx="800100" cy="19050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lgn="ctr">
              <a:defRPr sz="900">
                <a:solidFill>
                  <a:srgbClr val="2F3136"/>
                </a:solidFill>
              </a:defRPr>
            </a:pPr>
            <a:r>
              <a:t>0.814</a:t>
            </a:r>
          </a:p>
        </p:txBody>
      </p:sp>
      <p:sp>
        <p:nvSpPr>
          <p:cNvPr id="44" name="">
            <a:extLst xmlns:a="http://schemas.openxmlformats.org/drawingml/2006/main">
              <a:ext uri="{FF2B5EF4-FFF2-40B4-BE49-F238E27FC236}">
                <a16:creationId xmlns:a16="http://schemas.microsoft.com/office/drawing/2014/main" id="{44DCF1EA-3EA9-4055-B182-0CADD909C749}"/>
              </a:ext>
            </a:extLst>
          </p:cNvPr>
          <p:cNvSpPr>
            <a:spLocks xmlns:a="http://schemas.openxmlformats.org/drawingml/2006/main" noGrp="1"/>
          </p:cNvSpPr>
          <p:nvPr/>
        </p:nvSpPr>
        <p:spPr>
          <a:xfrm xmlns:a="http://schemas.openxmlformats.org/drawingml/2006/main">
            <a:off x="1123950" y="4591050"/>
            <a:ext cx="1809750" cy="323850"/>
          </a:xfrm>
          <a:prstGeom xmlns:a="http://schemas.openxmlformats.org/drawingml/2006/main" prst="rect">
            <a:avLst/>
          </a:prstGeom>
          <a:solidFill xmlns:a="http://schemas.openxmlformats.org/drawingml/2006/main">
            <a:srgbClr val="FFFFFF"/>
          </a:solidFill>
          <a:ln xmlns:a="http://schemas.openxmlformats.org/drawingml/2006/main" w="9525">
            <a:solidFill>
              <a:srgbClr val="EEE4D3"/>
            </a:solidFill>
            <a:prstDash val="solid"/>
          </a:ln>
        </p:spPr>
      </p:sp>
      <p:sp>
        <p:nvSpPr>
          <p:cNvPr id="45" name="">
            <a:extLst xmlns:a="http://schemas.openxmlformats.org/drawingml/2006/main">
              <a:ext uri="{FF2B5EF4-FFF2-40B4-BE49-F238E27FC236}">
                <a16:creationId xmlns:a16="http://schemas.microsoft.com/office/drawing/2014/main" id="{528A5F28-F8BF-4C0C-B9A7-34670C6DEF98}"/>
              </a:ext>
            </a:extLst>
          </p:cNvPr>
          <p:cNvSpPr>
            <a:spLocks xmlns:a="http://schemas.openxmlformats.org/drawingml/2006/main" noGrp="1"/>
          </p:cNvSpPr>
          <p:nvPr/>
        </p:nvSpPr>
        <p:spPr>
          <a:xfrm xmlns:a="http://schemas.openxmlformats.org/drawingml/2006/main">
            <a:off x="1200150" y="4657725"/>
            <a:ext cx="1657350" cy="19050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lgn="l">
              <a:defRPr sz="900">
                <a:solidFill>
                  <a:srgbClr val="2F3136"/>
                </a:solidFill>
              </a:defRPr>
            </a:pPr>
            <a:r>
              <a:t>BESI v2a fixe</a:t>
            </a:r>
          </a:p>
        </p:txBody>
      </p:sp>
      <p:sp>
        <p:nvSpPr>
          <p:cNvPr id="46" name="">
            <a:extLst xmlns:a="http://schemas.openxmlformats.org/drawingml/2006/main">
              <a:ext uri="{FF2B5EF4-FFF2-40B4-BE49-F238E27FC236}">
                <a16:creationId xmlns:a16="http://schemas.microsoft.com/office/drawing/2014/main" id="{D1B61CCD-BCA4-478F-BA40-193DE51DA391}"/>
              </a:ext>
            </a:extLst>
          </p:cNvPr>
          <p:cNvSpPr>
            <a:spLocks xmlns:a="http://schemas.openxmlformats.org/drawingml/2006/main" noGrp="1"/>
          </p:cNvSpPr>
          <p:nvPr/>
        </p:nvSpPr>
        <p:spPr>
          <a:xfrm xmlns:a="http://schemas.openxmlformats.org/drawingml/2006/main">
            <a:off x="2933700" y="4591050"/>
            <a:ext cx="1047750" cy="323850"/>
          </a:xfrm>
          <a:prstGeom xmlns:a="http://schemas.openxmlformats.org/drawingml/2006/main" prst="rect">
            <a:avLst/>
          </a:prstGeom>
          <a:solidFill xmlns:a="http://schemas.openxmlformats.org/drawingml/2006/main">
            <a:srgbClr val="FFFFFF"/>
          </a:solidFill>
          <a:ln xmlns:a="http://schemas.openxmlformats.org/drawingml/2006/main" w="9525">
            <a:solidFill>
              <a:srgbClr val="EEE4D3"/>
            </a:solidFill>
            <a:prstDash val="solid"/>
          </a:ln>
        </p:spPr>
      </p:sp>
      <p:sp>
        <p:nvSpPr>
          <p:cNvPr id="47" name="">
            <a:extLst xmlns:a="http://schemas.openxmlformats.org/drawingml/2006/main">
              <a:ext uri="{FF2B5EF4-FFF2-40B4-BE49-F238E27FC236}">
                <a16:creationId xmlns:a16="http://schemas.microsoft.com/office/drawing/2014/main" id="{E90A74CB-D85C-4D39-9262-28A72DEF6631}"/>
              </a:ext>
            </a:extLst>
          </p:cNvPr>
          <p:cNvSpPr>
            <a:spLocks xmlns:a="http://schemas.openxmlformats.org/drawingml/2006/main" noGrp="1"/>
          </p:cNvSpPr>
          <p:nvPr/>
        </p:nvSpPr>
        <p:spPr>
          <a:xfrm xmlns:a="http://schemas.openxmlformats.org/drawingml/2006/main">
            <a:off x="3009900" y="4657725"/>
            <a:ext cx="895350" cy="19050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lgn="ctr">
              <a:defRPr sz="900">
                <a:solidFill>
                  <a:srgbClr val="2F3136"/>
                </a:solidFill>
              </a:defRPr>
            </a:pPr>
            <a:r>
              <a:t>1.986</a:t>
            </a:r>
          </a:p>
        </p:txBody>
      </p:sp>
      <p:sp>
        <p:nvSpPr>
          <p:cNvPr id="48" name="">
            <a:extLst xmlns:a="http://schemas.openxmlformats.org/drawingml/2006/main">
              <a:ext uri="{FF2B5EF4-FFF2-40B4-BE49-F238E27FC236}">
                <a16:creationId xmlns:a16="http://schemas.microsoft.com/office/drawing/2014/main" id="{F3ED4DCF-F74A-4445-820A-F3D3493BBAE0}"/>
              </a:ext>
            </a:extLst>
          </p:cNvPr>
          <p:cNvSpPr>
            <a:spLocks xmlns:a="http://schemas.openxmlformats.org/drawingml/2006/main" noGrp="1"/>
          </p:cNvSpPr>
          <p:nvPr/>
        </p:nvSpPr>
        <p:spPr>
          <a:xfrm xmlns:a="http://schemas.openxmlformats.org/drawingml/2006/main">
            <a:off x="3981450" y="4591050"/>
            <a:ext cx="952500" cy="323850"/>
          </a:xfrm>
          <a:prstGeom xmlns:a="http://schemas.openxmlformats.org/drawingml/2006/main" prst="rect">
            <a:avLst/>
          </a:prstGeom>
          <a:solidFill xmlns:a="http://schemas.openxmlformats.org/drawingml/2006/main">
            <a:srgbClr val="FFFFFF"/>
          </a:solidFill>
          <a:ln xmlns:a="http://schemas.openxmlformats.org/drawingml/2006/main" w="9525">
            <a:solidFill>
              <a:srgbClr val="EEE4D3"/>
            </a:solidFill>
            <a:prstDash val="solid"/>
          </a:ln>
        </p:spPr>
      </p:sp>
      <p:sp>
        <p:nvSpPr>
          <p:cNvPr id="49" name="">
            <a:extLst xmlns:a="http://schemas.openxmlformats.org/drawingml/2006/main">
              <a:ext uri="{FF2B5EF4-FFF2-40B4-BE49-F238E27FC236}">
                <a16:creationId xmlns:a16="http://schemas.microsoft.com/office/drawing/2014/main" id="{A65ED498-4FD3-4CBD-9E6B-4864BCB9C2B6}"/>
              </a:ext>
            </a:extLst>
          </p:cNvPr>
          <p:cNvSpPr>
            <a:spLocks xmlns:a="http://schemas.openxmlformats.org/drawingml/2006/main" noGrp="1"/>
          </p:cNvSpPr>
          <p:nvPr/>
        </p:nvSpPr>
        <p:spPr>
          <a:xfrm xmlns:a="http://schemas.openxmlformats.org/drawingml/2006/main">
            <a:off x="4057650" y="4657725"/>
            <a:ext cx="800100" cy="19050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lgn="ctr">
              <a:defRPr sz="900">
                <a:solidFill>
                  <a:srgbClr val="2F3136"/>
                </a:solidFill>
              </a:defRPr>
            </a:pPr>
            <a:r>
              <a:t>1.000</a:t>
            </a:r>
          </a:p>
        </p:txBody>
      </p:sp>
      <p:sp>
        <p:nvSpPr>
          <p:cNvPr id="50" name="">
            <a:extLst xmlns:a="http://schemas.openxmlformats.org/drawingml/2006/main">
              <a:ext uri="{FF2B5EF4-FFF2-40B4-BE49-F238E27FC236}">
                <a16:creationId xmlns:a16="http://schemas.microsoft.com/office/drawing/2014/main" id="{EE07F870-67FB-4204-8287-CD08DFAA579D}"/>
              </a:ext>
            </a:extLst>
          </p:cNvPr>
          <p:cNvSpPr>
            <a:spLocks xmlns:a="http://schemas.openxmlformats.org/drawingml/2006/main" noGrp="1"/>
          </p:cNvSpPr>
          <p:nvPr/>
        </p:nvSpPr>
        <p:spPr>
          <a:xfrm xmlns:a="http://schemas.openxmlformats.org/drawingml/2006/main">
            <a:off x="4933950" y="4591050"/>
            <a:ext cx="952500" cy="323850"/>
          </a:xfrm>
          <a:prstGeom xmlns:a="http://schemas.openxmlformats.org/drawingml/2006/main" prst="rect">
            <a:avLst/>
          </a:prstGeom>
          <a:solidFill xmlns:a="http://schemas.openxmlformats.org/drawingml/2006/main">
            <a:srgbClr val="FFFFFF"/>
          </a:solidFill>
          <a:ln xmlns:a="http://schemas.openxmlformats.org/drawingml/2006/main" w="9525">
            <a:solidFill>
              <a:srgbClr val="EEE4D3"/>
            </a:solidFill>
            <a:prstDash val="solid"/>
          </a:ln>
        </p:spPr>
      </p:sp>
      <p:sp>
        <p:nvSpPr>
          <p:cNvPr id="51" name="">
            <a:extLst xmlns:a="http://schemas.openxmlformats.org/drawingml/2006/main">
              <a:ext uri="{FF2B5EF4-FFF2-40B4-BE49-F238E27FC236}">
                <a16:creationId xmlns:a16="http://schemas.microsoft.com/office/drawing/2014/main" id="{A554F88B-EEFA-493C-AF76-E72D4F8D3FAE}"/>
              </a:ext>
            </a:extLst>
          </p:cNvPr>
          <p:cNvSpPr>
            <a:spLocks xmlns:a="http://schemas.openxmlformats.org/drawingml/2006/main" noGrp="1"/>
          </p:cNvSpPr>
          <p:nvPr/>
        </p:nvSpPr>
        <p:spPr>
          <a:xfrm xmlns:a="http://schemas.openxmlformats.org/drawingml/2006/main">
            <a:off x="5010150" y="4657725"/>
            <a:ext cx="800100" cy="19050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lgn="ctr">
              <a:defRPr sz="900">
                <a:solidFill>
                  <a:srgbClr val="2F3136"/>
                </a:solidFill>
              </a:defRPr>
            </a:pPr>
            <a:r>
              <a:t>0.814</a:t>
            </a:r>
          </a:p>
        </p:txBody>
      </p:sp>
      <p:sp>
        <p:nvSpPr>
          <p:cNvPr id="52" name="">
            <a:extLst xmlns:a="http://schemas.openxmlformats.org/drawingml/2006/main">
              <a:ext uri="{FF2B5EF4-FFF2-40B4-BE49-F238E27FC236}">
                <a16:creationId xmlns:a16="http://schemas.microsoft.com/office/drawing/2014/main" id="{853CA12E-7A20-4861-8858-9BFFB289DE02}"/>
              </a:ext>
            </a:extLst>
          </p:cNvPr>
          <p:cNvSpPr>
            <a:spLocks xmlns:a="http://schemas.openxmlformats.org/drawingml/2006/main" noGrp="1"/>
          </p:cNvSpPr>
          <p:nvPr/>
        </p:nvSpPr>
        <p:spPr>
          <a:xfrm xmlns:a="http://schemas.openxmlformats.org/drawingml/2006/main">
            <a:off x="1123950" y="4914900"/>
            <a:ext cx="1809750" cy="323850"/>
          </a:xfrm>
          <a:prstGeom xmlns:a="http://schemas.openxmlformats.org/drawingml/2006/main" prst="rect">
            <a:avLst/>
          </a:prstGeom>
          <a:solidFill xmlns:a="http://schemas.openxmlformats.org/drawingml/2006/main">
            <a:srgbClr val="FBF8F2"/>
          </a:solidFill>
          <a:ln xmlns:a="http://schemas.openxmlformats.org/drawingml/2006/main" w="9525">
            <a:solidFill>
              <a:srgbClr val="EEE4D3"/>
            </a:solidFill>
            <a:prstDash val="solid"/>
          </a:ln>
        </p:spPr>
      </p:sp>
      <p:sp>
        <p:nvSpPr>
          <p:cNvPr id="53" name="">
            <a:extLst xmlns:a="http://schemas.openxmlformats.org/drawingml/2006/main">
              <a:ext uri="{FF2B5EF4-FFF2-40B4-BE49-F238E27FC236}">
                <a16:creationId xmlns:a16="http://schemas.microsoft.com/office/drawing/2014/main" id="{5894B6A5-A5FF-46BD-A51D-AB39348A2A9A}"/>
              </a:ext>
            </a:extLst>
          </p:cNvPr>
          <p:cNvSpPr>
            <a:spLocks xmlns:a="http://schemas.openxmlformats.org/drawingml/2006/main" noGrp="1"/>
          </p:cNvSpPr>
          <p:nvPr/>
        </p:nvSpPr>
        <p:spPr>
          <a:xfrm xmlns:a="http://schemas.openxmlformats.org/drawingml/2006/main">
            <a:off x="1200150" y="4981575"/>
            <a:ext cx="1657350" cy="19050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lgn="l">
              <a:defRPr sz="900">
                <a:solidFill>
                  <a:srgbClr val="2F3136"/>
                </a:solidFill>
              </a:defRPr>
            </a:pPr>
            <a:r>
              <a:t>BESI v2b Lasso</a:t>
            </a:r>
          </a:p>
        </p:txBody>
      </p:sp>
      <p:sp>
        <p:nvSpPr>
          <p:cNvPr id="54" name="">
            <a:extLst xmlns:a="http://schemas.openxmlformats.org/drawingml/2006/main">
              <a:ext uri="{FF2B5EF4-FFF2-40B4-BE49-F238E27FC236}">
                <a16:creationId xmlns:a16="http://schemas.microsoft.com/office/drawing/2014/main" id="{DFD2AA4E-E6BB-4E61-8E9E-519F398F2BC8}"/>
              </a:ext>
            </a:extLst>
          </p:cNvPr>
          <p:cNvSpPr>
            <a:spLocks xmlns:a="http://schemas.openxmlformats.org/drawingml/2006/main" noGrp="1"/>
          </p:cNvSpPr>
          <p:nvPr/>
        </p:nvSpPr>
        <p:spPr>
          <a:xfrm xmlns:a="http://schemas.openxmlformats.org/drawingml/2006/main">
            <a:off x="2933700" y="4914900"/>
            <a:ext cx="1047750" cy="323850"/>
          </a:xfrm>
          <a:prstGeom xmlns:a="http://schemas.openxmlformats.org/drawingml/2006/main" prst="rect">
            <a:avLst/>
          </a:prstGeom>
          <a:solidFill xmlns:a="http://schemas.openxmlformats.org/drawingml/2006/main">
            <a:srgbClr val="FBF8F2"/>
          </a:solidFill>
          <a:ln xmlns:a="http://schemas.openxmlformats.org/drawingml/2006/main" w="9525">
            <a:solidFill>
              <a:srgbClr val="EEE4D3"/>
            </a:solidFill>
            <a:prstDash val="solid"/>
          </a:ln>
        </p:spPr>
      </p:sp>
      <p:sp>
        <p:nvSpPr>
          <p:cNvPr id="55" name="">
            <a:extLst xmlns:a="http://schemas.openxmlformats.org/drawingml/2006/main">
              <a:ext uri="{FF2B5EF4-FFF2-40B4-BE49-F238E27FC236}">
                <a16:creationId xmlns:a16="http://schemas.microsoft.com/office/drawing/2014/main" id="{F1780971-C78C-4CB6-8C77-F417B496C349}"/>
              </a:ext>
            </a:extLst>
          </p:cNvPr>
          <p:cNvSpPr>
            <a:spLocks xmlns:a="http://schemas.openxmlformats.org/drawingml/2006/main" noGrp="1"/>
          </p:cNvSpPr>
          <p:nvPr/>
        </p:nvSpPr>
        <p:spPr>
          <a:xfrm xmlns:a="http://schemas.openxmlformats.org/drawingml/2006/main">
            <a:off x="3009900" y="4981575"/>
            <a:ext cx="895350" cy="19050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lgn="ctr">
              <a:defRPr sz="900">
                <a:solidFill>
                  <a:srgbClr val="2F3136"/>
                </a:solidFill>
              </a:defRPr>
            </a:pPr>
            <a:r>
              <a:t>1.976</a:t>
            </a:r>
          </a:p>
        </p:txBody>
      </p:sp>
      <p:sp>
        <p:nvSpPr>
          <p:cNvPr id="56" name="">
            <a:extLst xmlns:a="http://schemas.openxmlformats.org/drawingml/2006/main">
              <a:ext uri="{FF2B5EF4-FFF2-40B4-BE49-F238E27FC236}">
                <a16:creationId xmlns:a16="http://schemas.microsoft.com/office/drawing/2014/main" id="{C418DA09-E70F-4D8C-9F8D-8FA3C4D3AD47}"/>
              </a:ext>
            </a:extLst>
          </p:cNvPr>
          <p:cNvSpPr>
            <a:spLocks xmlns:a="http://schemas.openxmlformats.org/drawingml/2006/main" noGrp="1"/>
          </p:cNvSpPr>
          <p:nvPr/>
        </p:nvSpPr>
        <p:spPr>
          <a:xfrm xmlns:a="http://schemas.openxmlformats.org/drawingml/2006/main">
            <a:off x="3981450" y="4914900"/>
            <a:ext cx="952500" cy="323850"/>
          </a:xfrm>
          <a:prstGeom xmlns:a="http://schemas.openxmlformats.org/drawingml/2006/main" prst="rect">
            <a:avLst/>
          </a:prstGeom>
          <a:solidFill xmlns:a="http://schemas.openxmlformats.org/drawingml/2006/main">
            <a:srgbClr val="FBF8F2"/>
          </a:solidFill>
          <a:ln xmlns:a="http://schemas.openxmlformats.org/drawingml/2006/main" w="9525">
            <a:solidFill>
              <a:srgbClr val="EEE4D3"/>
            </a:solidFill>
            <a:prstDash val="solid"/>
          </a:ln>
        </p:spPr>
      </p:sp>
      <p:sp>
        <p:nvSpPr>
          <p:cNvPr id="57" name="">
            <a:extLst xmlns:a="http://schemas.openxmlformats.org/drawingml/2006/main">
              <a:ext uri="{FF2B5EF4-FFF2-40B4-BE49-F238E27FC236}">
                <a16:creationId xmlns:a16="http://schemas.microsoft.com/office/drawing/2014/main" id="{75623B6B-AB5F-4A18-9E6E-4B2A10F4DB65}"/>
              </a:ext>
            </a:extLst>
          </p:cNvPr>
          <p:cNvSpPr>
            <a:spLocks xmlns:a="http://schemas.openxmlformats.org/drawingml/2006/main" noGrp="1"/>
          </p:cNvSpPr>
          <p:nvPr/>
        </p:nvSpPr>
        <p:spPr>
          <a:xfrm xmlns:a="http://schemas.openxmlformats.org/drawingml/2006/main">
            <a:off x="4057650" y="4981575"/>
            <a:ext cx="800100" cy="19050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lgn="ctr">
              <a:defRPr sz="900">
                <a:solidFill>
                  <a:srgbClr val="2F3136"/>
                </a:solidFill>
              </a:defRPr>
            </a:pPr>
            <a:r>
              <a:t>1.000</a:t>
            </a:r>
          </a:p>
        </p:txBody>
      </p:sp>
      <p:sp>
        <p:nvSpPr>
          <p:cNvPr id="58" name="">
            <a:extLst xmlns:a="http://schemas.openxmlformats.org/drawingml/2006/main">
              <a:ext uri="{FF2B5EF4-FFF2-40B4-BE49-F238E27FC236}">
                <a16:creationId xmlns:a16="http://schemas.microsoft.com/office/drawing/2014/main" id="{23795175-E998-4D05-9977-A71C9A7B952D}"/>
              </a:ext>
            </a:extLst>
          </p:cNvPr>
          <p:cNvSpPr>
            <a:spLocks xmlns:a="http://schemas.openxmlformats.org/drawingml/2006/main" noGrp="1"/>
          </p:cNvSpPr>
          <p:nvPr/>
        </p:nvSpPr>
        <p:spPr>
          <a:xfrm xmlns:a="http://schemas.openxmlformats.org/drawingml/2006/main">
            <a:off x="4933950" y="4914900"/>
            <a:ext cx="952500" cy="323850"/>
          </a:xfrm>
          <a:prstGeom xmlns:a="http://schemas.openxmlformats.org/drawingml/2006/main" prst="rect">
            <a:avLst/>
          </a:prstGeom>
          <a:solidFill xmlns:a="http://schemas.openxmlformats.org/drawingml/2006/main">
            <a:srgbClr val="FBF8F2"/>
          </a:solidFill>
          <a:ln xmlns:a="http://schemas.openxmlformats.org/drawingml/2006/main" w="9525">
            <a:solidFill>
              <a:srgbClr val="EEE4D3"/>
            </a:solidFill>
            <a:prstDash val="solid"/>
          </a:ln>
        </p:spPr>
      </p:sp>
      <p:sp>
        <p:nvSpPr>
          <p:cNvPr id="59" name="">
            <a:extLst xmlns:a="http://schemas.openxmlformats.org/drawingml/2006/main">
              <a:ext uri="{FF2B5EF4-FFF2-40B4-BE49-F238E27FC236}">
                <a16:creationId xmlns:a16="http://schemas.microsoft.com/office/drawing/2014/main" id="{E833813C-DE45-47A9-833C-DA9BF78E606E}"/>
              </a:ext>
            </a:extLst>
          </p:cNvPr>
          <p:cNvSpPr>
            <a:spLocks xmlns:a="http://schemas.openxmlformats.org/drawingml/2006/main" noGrp="1"/>
          </p:cNvSpPr>
          <p:nvPr/>
        </p:nvSpPr>
        <p:spPr>
          <a:xfrm xmlns:a="http://schemas.openxmlformats.org/drawingml/2006/main">
            <a:off x="5010150" y="4981575"/>
            <a:ext cx="800100" cy="19050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lgn="ctr">
              <a:defRPr sz="900">
                <a:solidFill>
                  <a:srgbClr val="2F3136"/>
                </a:solidFill>
              </a:defRPr>
            </a:pPr>
            <a:r>
              <a:t>0.814</a:t>
            </a:r>
          </a:p>
        </p:txBody>
      </p:sp>
      <p:sp>
        <p:nvSpPr>
          <p:cNvPr id="60" name="">
            <a:extLst xmlns:a="http://schemas.openxmlformats.org/drawingml/2006/main">
              <a:ext uri="{FF2B5EF4-FFF2-40B4-BE49-F238E27FC236}">
                <a16:creationId xmlns:a16="http://schemas.microsoft.com/office/drawing/2014/main" id="{925B0AC9-B5E9-43E9-B17D-3419F60549BC}"/>
              </a:ext>
            </a:extLst>
          </p:cNvPr>
          <p:cNvSpPr>
            <a:spLocks xmlns:a="http://schemas.openxmlformats.org/drawingml/2006/main" noGrp="1"/>
          </p:cNvSpPr>
          <p:nvPr/>
        </p:nvSpPr>
        <p:spPr>
          <a:xfrm xmlns:a="http://schemas.openxmlformats.org/drawingml/2006/main">
            <a:off x="1123950" y="5238750"/>
            <a:ext cx="1809750" cy="323850"/>
          </a:xfrm>
          <a:prstGeom xmlns:a="http://schemas.openxmlformats.org/drawingml/2006/main" prst="rect">
            <a:avLst/>
          </a:prstGeom>
          <a:solidFill xmlns:a="http://schemas.openxmlformats.org/drawingml/2006/main">
            <a:srgbClr val="FFFFFF"/>
          </a:solidFill>
          <a:ln xmlns:a="http://schemas.openxmlformats.org/drawingml/2006/main" w="9525">
            <a:solidFill>
              <a:srgbClr val="EEE4D3"/>
            </a:solidFill>
            <a:prstDash val="solid"/>
          </a:ln>
        </p:spPr>
      </p:sp>
      <p:sp>
        <p:nvSpPr>
          <p:cNvPr id="61" name="">
            <a:extLst xmlns:a="http://schemas.openxmlformats.org/drawingml/2006/main">
              <a:ext uri="{FF2B5EF4-FFF2-40B4-BE49-F238E27FC236}">
                <a16:creationId xmlns:a16="http://schemas.microsoft.com/office/drawing/2014/main" id="{5F74E262-B418-4FBE-B9FC-C5517BD63418}"/>
              </a:ext>
            </a:extLst>
          </p:cNvPr>
          <p:cNvSpPr>
            <a:spLocks xmlns:a="http://schemas.openxmlformats.org/drawingml/2006/main" noGrp="1"/>
          </p:cNvSpPr>
          <p:nvPr/>
        </p:nvSpPr>
        <p:spPr>
          <a:xfrm xmlns:a="http://schemas.openxmlformats.org/drawingml/2006/main">
            <a:off x="1200150" y="5305425"/>
            <a:ext cx="1657350" cy="19050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lgn="l">
              <a:defRPr sz="900">
                <a:solidFill>
                  <a:srgbClr val="2F3136"/>
                </a:solidFill>
              </a:defRPr>
            </a:pPr>
            <a:r>
              <a:t>NLP seul</a:t>
            </a:r>
          </a:p>
        </p:txBody>
      </p:sp>
      <p:sp>
        <p:nvSpPr>
          <p:cNvPr id="62" name="">
            <a:extLst xmlns:a="http://schemas.openxmlformats.org/drawingml/2006/main">
              <a:ext uri="{FF2B5EF4-FFF2-40B4-BE49-F238E27FC236}">
                <a16:creationId xmlns:a16="http://schemas.microsoft.com/office/drawing/2014/main" id="{0697CF45-255E-4E89-89B4-9A1AF1FA89BC}"/>
              </a:ext>
            </a:extLst>
          </p:cNvPr>
          <p:cNvSpPr>
            <a:spLocks xmlns:a="http://schemas.openxmlformats.org/drawingml/2006/main" noGrp="1"/>
          </p:cNvSpPr>
          <p:nvPr/>
        </p:nvSpPr>
        <p:spPr>
          <a:xfrm xmlns:a="http://schemas.openxmlformats.org/drawingml/2006/main">
            <a:off x="2933700" y="5238750"/>
            <a:ext cx="1047750" cy="323850"/>
          </a:xfrm>
          <a:prstGeom xmlns:a="http://schemas.openxmlformats.org/drawingml/2006/main" prst="rect">
            <a:avLst/>
          </a:prstGeom>
          <a:solidFill xmlns:a="http://schemas.openxmlformats.org/drawingml/2006/main">
            <a:srgbClr val="FFFFFF"/>
          </a:solidFill>
          <a:ln xmlns:a="http://schemas.openxmlformats.org/drawingml/2006/main" w="9525">
            <a:solidFill>
              <a:srgbClr val="EEE4D3"/>
            </a:solidFill>
            <a:prstDash val="solid"/>
          </a:ln>
        </p:spPr>
      </p:sp>
      <p:sp>
        <p:nvSpPr>
          <p:cNvPr id="63" name="">
            <a:extLst xmlns:a="http://schemas.openxmlformats.org/drawingml/2006/main">
              <a:ext uri="{FF2B5EF4-FFF2-40B4-BE49-F238E27FC236}">
                <a16:creationId xmlns:a16="http://schemas.microsoft.com/office/drawing/2014/main" id="{E8166104-6AD2-4D51-9F7F-E473F0D07CE3}"/>
              </a:ext>
            </a:extLst>
          </p:cNvPr>
          <p:cNvSpPr>
            <a:spLocks xmlns:a="http://schemas.openxmlformats.org/drawingml/2006/main" noGrp="1"/>
          </p:cNvSpPr>
          <p:nvPr/>
        </p:nvSpPr>
        <p:spPr>
          <a:xfrm xmlns:a="http://schemas.openxmlformats.org/drawingml/2006/main">
            <a:off x="3009900" y="5305425"/>
            <a:ext cx="895350" cy="19050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lgn="ctr">
              <a:defRPr sz="900">
                <a:solidFill>
                  <a:srgbClr val="2F3136"/>
                </a:solidFill>
              </a:defRPr>
            </a:pPr>
            <a:r>
              <a:t>1.905</a:t>
            </a:r>
          </a:p>
        </p:txBody>
      </p:sp>
      <p:sp>
        <p:nvSpPr>
          <p:cNvPr id="64" name="">
            <a:extLst xmlns:a="http://schemas.openxmlformats.org/drawingml/2006/main">
              <a:ext uri="{FF2B5EF4-FFF2-40B4-BE49-F238E27FC236}">
                <a16:creationId xmlns:a16="http://schemas.microsoft.com/office/drawing/2014/main" id="{EAA24516-0A36-4DFD-9170-9C353907185B}"/>
              </a:ext>
            </a:extLst>
          </p:cNvPr>
          <p:cNvSpPr>
            <a:spLocks xmlns:a="http://schemas.openxmlformats.org/drawingml/2006/main" noGrp="1"/>
          </p:cNvSpPr>
          <p:nvPr/>
        </p:nvSpPr>
        <p:spPr>
          <a:xfrm xmlns:a="http://schemas.openxmlformats.org/drawingml/2006/main">
            <a:off x="3981450" y="5238750"/>
            <a:ext cx="952500" cy="323850"/>
          </a:xfrm>
          <a:prstGeom xmlns:a="http://schemas.openxmlformats.org/drawingml/2006/main" prst="rect">
            <a:avLst/>
          </a:prstGeom>
          <a:solidFill xmlns:a="http://schemas.openxmlformats.org/drawingml/2006/main">
            <a:srgbClr val="FFFFFF"/>
          </a:solidFill>
          <a:ln xmlns:a="http://schemas.openxmlformats.org/drawingml/2006/main" w="9525">
            <a:solidFill>
              <a:srgbClr val="EEE4D3"/>
            </a:solidFill>
            <a:prstDash val="solid"/>
          </a:ln>
        </p:spPr>
      </p:sp>
      <p:sp>
        <p:nvSpPr>
          <p:cNvPr id="65" name="">
            <a:extLst xmlns:a="http://schemas.openxmlformats.org/drawingml/2006/main">
              <a:ext uri="{FF2B5EF4-FFF2-40B4-BE49-F238E27FC236}">
                <a16:creationId xmlns:a16="http://schemas.microsoft.com/office/drawing/2014/main" id="{4008F641-145F-4FDF-8153-3EF6EB367BC5}"/>
              </a:ext>
            </a:extLst>
          </p:cNvPr>
          <p:cNvSpPr>
            <a:spLocks xmlns:a="http://schemas.openxmlformats.org/drawingml/2006/main" noGrp="1"/>
          </p:cNvSpPr>
          <p:nvPr/>
        </p:nvSpPr>
        <p:spPr>
          <a:xfrm xmlns:a="http://schemas.openxmlformats.org/drawingml/2006/main">
            <a:off x="4057650" y="5305425"/>
            <a:ext cx="800100" cy="19050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lgn="ctr">
              <a:defRPr sz="900">
                <a:solidFill>
                  <a:srgbClr val="2F3136"/>
                </a:solidFill>
              </a:defRPr>
            </a:pPr>
            <a:r>
              <a:t>0.875</a:t>
            </a:r>
          </a:p>
        </p:txBody>
      </p:sp>
      <p:sp>
        <p:nvSpPr>
          <p:cNvPr id="66" name="">
            <a:extLst xmlns:a="http://schemas.openxmlformats.org/drawingml/2006/main">
              <a:ext uri="{FF2B5EF4-FFF2-40B4-BE49-F238E27FC236}">
                <a16:creationId xmlns:a16="http://schemas.microsoft.com/office/drawing/2014/main" id="{B73820F6-9A88-4A6E-820E-54C143C5121F}"/>
              </a:ext>
            </a:extLst>
          </p:cNvPr>
          <p:cNvSpPr>
            <a:spLocks xmlns:a="http://schemas.openxmlformats.org/drawingml/2006/main" noGrp="1"/>
          </p:cNvSpPr>
          <p:nvPr/>
        </p:nvSpPr>
        <p:spPr>
          <a:xfrm xmlns:a="http://schemas.openxmlformats.org/drawingml/2006/main">
            <a:off x="4933950" y="5238750"/>
            <a:ext cx="952500" cy="323850"/>
          </a:xfrm>
          <a:prstGeom xmlns:a="http://schemas.openxmlformats.org/drawingml/2006/main" prst="rect">
            <a:avLst/>
          </a:prstGeom>
          <a:solidFill xmlns:a="http://schemas.openxmlformats.org/drawingml/2006/main">
            <a:srgbClr val="FFFFFF"/>
          </a:solidFill>
          <a:ln xmlns:a="http://schemas.openxmlformats.org/drawingml/2006/main" w="9525">
            <a:solidFill>
              <a:srgbClr val="EEE4D3"/>
            </a:solidFill>
            <a:prstDash val="solid"/>
          </a:ln>
        </p:spPr>
      </p:sp>
      <p:sp>
        <p:nvSpPr>
          <p:cNvPr id="67" name="">
            <a:extLst xmlns:a="http://schemas.openxmlformats.org/drawingml/2006/main">
              <a:ext uri="{FF2B5EF4-FFF2-40B4-BE49-F238E27FC236}">
                <a16:creationId xmlns:a16="http://schemas.microsoft.com/office/drawing/2014/main" id="{DF815A42-593E-45B3-9156-B62E3835A60E}"/>
              </a:ext>
            </a:extLst>
          </p:cNvPr>
          <p:cNvSpPr>
            <a:spLocks xmlns:a="http://schemas.openxmlformats.org/drawingml/2006/main" noGrp="1"/>
          </p:cNvSpPr>
          <p:nvPr/>
        </p:nvSpPr>
        <p:spPr>
          <a:xfrm xmlns:a="http://schemas.openxmlformats.org/drawingml/2006/main">
            <a:off x="5010150" y="5305425"/>
            <a:ext cx="800100" cy="19050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lgn="ctr">
              <a:defRPr sz="900">
                <a:solidFill>
                  <a:srgbClr val="2F3136"/>
                </a:solidFill>
              </a:defRPr>
            </a:pPr>
            <a:r>
              <a:t>0.764</a:t>
            </a:r>
          </a:p>
        </p:txBody>
      </p:sp>
      <p:sp>
        <p:nvSpPr>
          <p:cNvPr id="68" name="">
            <a:extLst xmlns:a="http://schemas.openxmlformats.org/drawingml/2006/main">
              <a:ext uri="{FF2B5EF4-FFF2-40B4-BE49-F238E27FC236}">
                <a16:creationId xmlns:a16="http://schemas.microsoft.com/office/drawing/2014/main" id="{819F3038-F806-4037-866B-DF5F7286DBA4}"/>
              </a:ext>
            </a:extLst>
          </p:cNvPr>
          <p:cNvSpPr>
            <a:spLocks xmlns:a="http://schemas.openxmlformats.org/drawingml/2006/main" noGrp="1"/>
          </p:cNvSpPr>
          <p:nvPr/>
        </p:nvSpPr>
        <p:spPr>
          <a:xfrm xmlns:a="http://schemas.openxmlformats.org/drawingml/2006/main">
            <a:off x="6076950" y="3314700"/>
            <a:ext cx="4953000" cy="2228850"/>
          </a:xfrm>
          <a:prstGeom xmlns:a="http://schemas.openxmlformats.org/drawingml/2006/main" prst="rect">
            <a:avLst/>
          </a:prstGeom>
          <a:solidFill xmlns:a="http://schemas.openxmlformats.org/drawingml/2006/main">
            <a:srgbClr val="FFFFFF"/>
          </a:solidFill>
          <a:ln xmlns:a="http://schemas.openxmlformats.org/drawingml/2006/main" w="9525">
            <a:solidFill>
              <a:srgbClr val="EEE4D3"/>
            </a:solidFill>
            <a:prstDash val="solid"/>
          </a:ln>
        </p:spPr>
      </p:sp>
      <p:sp>
        <p:nvSpPr>
          <p:cNvPr id="69" name="">
            <a:extLst xmlns:a="http://schemas.openxmlformats.org/drawingml/2006/main">
              <a:ext uri="{FF2B5EF4-FFF2-40B4-BE49-F238E27FC236}">
                <a16:creationId xmlns:a16="http://schemas.microsoft.com/office/drawing/2014/main" id="{472A7D89-29CB-4463-BC74-6FA9D07B5681}"/>
              </a:ext>
            </a:extLst>
          </p:cNvPr>
          <p:cNvSpPr>
            <a:spLocks xmlns:a="http://schemas.openxmlformats.org/drawingml/2006/main" noGrp="1"/>
          </p:cNvSpPr>
          <p:nvPr/>
        </p:nvSpPr>
        <p:spPr>
          <a:xfrm xmlns:a="http://schemas.openxmlformats.org/drawingml/2006/main">
            <a:off x="6324600" y="3562350"/>
            <a:ext cx="4095750" cy="22860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500" b="1">
                <a:solidFill>
                  <a:srgbClr val="223A5E"/>
                </a:solidFill>
              </a:defRPr>
            </a:pPr>
            <a:r>
              <a:t>Verdict honnête : CAS C</a:t>
            </a:r>
          </a:p>
        </p:txBody>
      </p:sp>
      <p:sp>
        <p:nvSpPr>
          <p:cNvPr id="70" name="">
            <a:extLst xmlns:a="http://schemas.openxmlformats.org/drawingml/2006/main">
              <a:ext uri="{FF2B5EF4-FFF2-40B4-BE49-F238E27FC236}">
                <a16:creationId xmlns:a16="http://schemas.microsoft.com/office/drawing/2014/main" id="{68001BCE-20B1-4F57-A9BF-DBE47A37F68D}"/>
              </a:ext>
            </a:extLst>
          </p:cNvPr>
          <p:cNvSpPr>
            <a:spLocks xmlns:a="http://schemas.openxmlformats.org/drawingml/2006/main" noGrp="1"/>
          </p:cNvSpPr>
          <p:nvPr/>
        </p:nvSpPr>
        <p:spPr>
          <a:xfrm xmlns:a="http://schemas.openxmlformats.org/drawingml/2006/main">
            <a:off x="6324600" y="3962400"/>
            <a:ext cx="4095750" cy="125730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275">
                <a:solidFill>
                  <a:srgbClr val="2F3136"/>
                </a:solidFill>
              </a:defRPr>
            </a:pPr>
            <a:r>
              <a:t>• Le Lasso donne un poids nul au signal NLP face au BESI Trends. • Le signal presse est donc redondant ou insuffisamment informatif conditionnellement. • C’est un résultat négatif, mais propre et scientifiquement valable.</a:t>
            </a:r>
          </a:p>
        </p:txBody>
      </p:sp>
      <p:sp>
        <p:nvSpPr>
          <p:cNvPr id="71" name="">
            <a:extLst xmlns:a="http://schemas.openxmlformats.org/drawingml/2006/main">
              <a:ext uri="{FF2B5EF4-FFF2-40B4-BE49-F238E27FC236}">
                <a16:creationId xmlns:a16="http://schemas.microsoft.com/office/drawing/2014/main" id="{AFCBDDFC-0B76-4EFA-A5E9-968EF7E771CA}"/>
              </a:ext>
            </a:extLst>
          </p:cNvPr>
          <p:cNvSpPr>
            <a:spLocks xmlns:a="http://schemas.openxmlformats.org/drawingml/2006/main" noGrp="1"/>
          </p:cNvSpPr>
          <p:nvPr/>
        </p:nvSpPr>
        <p:spPr>
          <a:xfrm xmlns:a="http://schemas.openxmlformats.org/drawingml/2006/main">
            <a:off x="685800" y="6477000"/>
            <a:ext cx="4762500" cy="1714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825">
                <a:solidFill>
                  <a:srgbClr val="6C6A66"/>
                </a:solidFill>
              </a:defRPr>
            </a:pPr>
            <a:r>
              <a:t>ENSAM Meknes • Résultats NLP</a:t>
            </a:r>
          </a:p>
        </p:txBody>
      </p:sp>
      <p:sp>
        <p:nvSpPr>
          <p:cNvPr id="72" name="">
            <a:extLst xmlns:a="http://schemas.openxmlformats.org/drawingml/2006/main">
              <a:ext uri="{FF2B5EF4-FFF2-40B4-BE49-F238E27FC236}">
                <a16:creationId xmlns:a16="http://schemas.microsoft.com/office/drawing/2014/main" id="{151FC51C-19AF-4963-B8EE-75A3F5EBB289}"/>
              </a:ext>
            </a:extLst>
          </p:cNvPr>
          <p:cNvSpPr>
            <a:spLocks xmlns:a="http://schemas.openxmlformats.org/drawingml/2006/main" noGrp="1"/>
          </p:cNvSpPr>
          <p:nvPr/>
        </p:nvSpPr>
        <p:spPr>
          <a:xfrm xmlns:a="http://schemas.openxmlformats.org/drawingml/2006/main">
            <a:off x="11049000" y="6477000"/>
            <a:ext cx="476250" cy="1714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lgn="r">
              <a:defRPr sz="825">
                <a:solidFill>
                  <a:srgbClr val="6C6A66"/>
                </a:solidFill>
              </a:defRPr>
            </a:pPr>
            <a:r>
              <a:t>16</a:t>
            </a:r>
          </a:p>
        </p:txBody>
      </p:sp>
    </p:spTree>
    <p:extLst>
      <p:ext uri="{BB962C8B-B14F-4D97-AF65-F5344CB8AC3E}">
        <p14:creationId xmlns:p14="http://schemas.microsoft.com/office/powerpoint/2010/main" val="1374847921"/>
      </p:ext>
    </p:extLst>
  </p:cSld>
</p:sld>
</file>

<file path=ppt/slides/slide17.xml><?xml version="1.0" encoding="utf-8"?>
<p:sld xmlns:p="http://schemas.openxmlformats.org/presentationml/2006/main">
  <p:cSld>
    <p:bg>
      <p:bgPr>
        <a:solidFill xmlns:a="http://schemas.openxmlformats.org/drawingml/2006/main">
          <a:srgbClr val="F6F1E7"/>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247FC03B-1114-4EB5-905D-6CFA955678E8}"/>
              </a:ext>
            </a:extLst>
          </p:cNvPr>
          <p:cNvSpPr>
            <a:spLocks xmlns:a="http://schemas.openxmlformats.org/drawingml/2006/main" noGrp="1"/>
          </p:cNvSpPr>
          <p:nvPr/>
        </p:nvSpPr>
        <p:spPr>
          <a:xfrm xmlns:a="http://schemas.openxmlformats.org/drawingml/2006/main">
            <a:off x="876300" y="704850"/>
            <a:ext cx="9334500" cy="5905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2400" b="1">
                <a:solidFill>
                  <a:srgbClr val="223A5E"/>
                </a:solidFill>
              </a:defRPr>
            </a:pPr>
            <a:r>
              <a:t>Limites et leçons apprises</a:t>
            </a:r>
          </a:p>
        </p:txBody>
      </p:sp>
      <p:sp>
        <p:nvSpPr>
          <p:cNvPr id="2" name="">
            <a:extLst xmlns:a="http://schemas.openxmlformats.org/drawingml/2006/main">
              <a:ext uri="{FF2B5EF4-FFF2-40B4-BE49-F238E27FC236}">
                <a16:creationId xmlns:a16="http://schemas.microsoft.com/office/drawing/2014/main" id="{D72998E3-346A-4E67-991A-31750A474918}"/>
              </a:ext>
            </a:extLst>
          </p:cNvPr>
          <p:cNvSpPr>
            <a:spLocks xmlns:a="http://schemas.openxmlformats.org/drawingml/2006/main" noGrp="1"/>
          </p:cNvSpPr>
          <p:nvPr/>
        </p:nvSpPr>
        <p:spPr>
          <a:xfrm xmlns:a="http://schemas.openxmlformats.org/drawingml/2006/main">
            <a:off x="876300" y="1295400"/>
            <a:ext cx="9334500" cy="2857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200" b="1">
                <a:solidFill>
                  <a:srgbClr val="C86F4D"/>
                </a:solidFill>
              </a:defRPr>
            </a:pPr>
            <a:r>
              <a:t>Ce que le projet vaut aujourd’hui, et ce qu’il ne faut pas prétendre</a:t>
            </a:r>
          </a:p>
        </p:txBody>
      </p:sp>
      <p:sp>
        <p:nvSpPr>
          <p:cNvPr id="3" name="">
            <a:extLst xmlns:a="http://schemas.openxmlformats.org/drawingml/2006/main">
              <a:ext uri="{FF2B5EF4-FFF2-40B4-BE49-F238E27FC236}">
                <a16:creationId xmlns:a16="http://schemas.microsoft.com/office/drawing/2014/main" id="{58952104-DD68-4B39-BAFF-53B5B025CF88}"/>
              </a:ext>
            </a:extLst>
          </p:cNvPr>
          <p:cNvSpPr>
            <a:spLocks xmlns:a="http://schemas.openxmlformats.org/drawingml/2006/main" noGrp="1"/>
          </p:cNvSpPr>
          <p:nvPr/>
        </p:nvSpPr>
        <p:spPr>
          <a:xfrm xmlns:a="http://schemas.openxmlformats.org/drawingml/2006/main">
            <a:off x="685800" y="6477000"/>
            <a:ext cx="4762500" cy="1714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825">
                <a:solidFill>
                  <a:srgbClr val="6C6A66"/>
                </a:solidFill>
              </a:defRPr>
            </a:pPr>
            <a:r>
              <a:t>ENSAM Meknes • BESI V3</a:t>
            </a:r>
          </a:p>
        </p:txBody>
      </p:sp>
      <p:sp>
        <p:nvSpPr>
          <p:cNvPr id="4" name="">
            <a:extLst xmlns:a="http://schemas.openxmlformats.org/drawingml/2006/main">
              <a:ext uri="{FF2B5EF4-FFF2-40B4-BE49-F238E27FC236}">
                <a16:creationId xmlns:a16="http://schemas.microsoft.com/office/drawing/2014/main" id="{68472167-3B62-42E0-824F-CBFB5F8D8440}"/>
              </a:ext>
            </a:extLst>
          </p:cNvPr>
          <p:cNvSpPr>
            <a:spLocks xmlns:a="http://schemas.openxmlformats.org/drawingml/2006/main" noGrp="1"/>
          </p:cNvSpPr>
          <p:nvPr/>
        </p:nvSpPr>
        <p:spPr>
          <a:xfrm xmlns:a="http://schemas.openxmlformats.org/drawingml/2006/main">
            <a:off x="11049000" y="6477000"/>
            <a:ext cx="476250" cy="1714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lgn="r">
              <a:defRPr sz="825">
                <a:solidFill>
                  <a:srgbClr val="6C6A66"/>
                </a:solidFill>
              </a:defRPr>
            </a:pPr>
            <a:r>
              <a:t>17</a:t>
            </a:r>
          </a:p>
        </p:txBody>
      </p:sp>
      <p:sp>
        <p:nvSpPr>
          <p:cNvPr id="5" name="">
            <a:extLst xmlns:a="http://schemas.openxmlformats.org/drawingml/2006/main">
              <a:ext uri="{FF2B5EF4-FFF2-40B4-BE49-F238E27FC236}">
                <a16:creationId xmlns:a16="http://schemas.microsoft.com/office/drawing/2014/main" id="{6A0E1951-D54F-4B79-BE2A-683626A504F7}"/>
              </a:ext>
            </a:extLst>
          </p:cNvPr>
          <p:cNvSpPr>
            <a:spLocks xmlns:a="http://schemas.openxmlformats.org/drawingml/2006/main" noGrp="1"/>
          </p:cNvSpPr>
          <p:nvPr/>
        </p:nvSpPr>
        <p:spPr>
          <a:xfrm xmlns:a="http://schemas.openxmlformats.org/drawingml/2006/main">
            <a:off x="876300" y="1790700"/>
            <a:ext cx="4762500" cy="3752850"/>
          </a:xfrm>
          <a:prstGeom xmlns:a="http://schemas.openxmlformats.org/drawingml/2006/main" prst="rect">
            <a:avLst/>
          </a:prstGeom>
          <a:solidFill xmlns:a="http://schemas.openxmlformats.org/drawingml/2006/main">
            <a:srgbClr val="FFFFFF"/>
          </a:solidFill>
          <a:ln xmlns:a="http://schemas.openxmlformats.org/drawingml/2006/main" w="9525">
            <a:solidFill>
              <a:srgbClr val="EEE4D3"/>
            </a:solidFill>
            <a:prstDash val="solid"/>
          </a:ln>
        </p:spPr>
      </p:sp>
      <p:sp>
        <p:nvSpPr>
          <p:cNvPr id="6" name="">
            <a:extLst xmlns:a="http://schemas.openxmlformats.org/drawingml/2006/main">
              <a:ext uri="{FF2B5EF4-FFF2-40B4-BE49-F238E27FC236}">
                <a16:creationId xmlns:a16="http://schemas.microsoft.com/office/drawing/2014/main" id="{AA601A27-5F1A-4DE2-8F46-3A04749A3E64}"/>
              </a:ext>
            </a:extLst>
          </p:cNvPr>
          <p:cNvSpPr>
            <a:spLocks xmlns:a="http://schemas.openxmlformats.org/drawingml/2006/main" noGrp="1"/>
          </p:cNvSpPr>
          <p:nvPr/>
        </p:nvSpPr>
        <p:spPr>
          <a:xfrm xmlns:a="http://schemas.openxmlformats.org/drawingml/2006/main">
            <a:off x="1123950" y="2038350"/>
            <a:ext cx="4000500" cy="2476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500" b="1">
                <a:solidFill>
                  <a:srgbClr val="223A5E"/>
                </a:solidFill>
              </a:defRPr>
            </a:pPr>
            <a:r>
              <a:t>Limites importantes</a:t>
            </a:r>
          </a:p>
        </p:txBody>
      </p:sp>
      <p:sp>
        <p:nvSpPr>
          <p:cNvPr id="7" name="">
            <a:extLst xmlns:a="http://schemas.openxmlformats.org/drawingml/2006/main">
              <a:ext uri="{FF2B5EF4-FFF2-40B4-BE49-F238E27FC236}">
                <a16:creationId xmlns:a16="http://schemas.microsoft.com/office/drawing/2014/main" id="{79FABBEF-8B12-4F5B-A20D-4817BF878387}"/>
              </a:ext>
            </a:extLst>
          </p:cNvPr>
          <p:cNvSpPr>
            <a:spLocks xmlns:a="http://schemas.openxmlformats.org/drawingml/2006/main" noGrp="1"/>
          </p:cNvSpPr>
          <p:nvPr/>
        </p:nvSpPr>
        <p:spPr>
          <a:xfrm xmlns:a="http://schemas.openxmlformats.org/drawingml/2006/main">
            <a:off x="1123950" y="2457450"/>
            <a:ext cx="4000500" cy="23812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350">
                <a:solidFill>
                  <a:srgbClr val="2F3136"/>
                </a:solidFill>
              </a:defRPr>
            </a:pPr>
            <a:r>
              <a:t>• L’historique HCP exploité commence réellement en 2017. • Le modèle naïf reste meilleur en RMSE global. • Le signal behavioral sur-alerte encore certains épisodes. • Le signal NLP reste éditorial et non conversationnel. • Le macro mondial n’est pas assez spécifique au contexte marocain.</a:t>
            </a:r>
          </a:p>
        </p:txBody>
      </p:sp>
      <p:sp>
        <p:nvSpPr>
          <p:cNvPr id="8" name="">
            <a:extLst xmlns:a="http://schemas.openxmlformats.org/drawingml/2006/main">
              <a:ext uri="{FF2B5EF4-FFF2-40B4-BE49-F238E27FC236}">
                <a16:creationId xmlns:a16="http://schemas.microsoft.com/office/drawing/2014/main" id="{0B48B921-1E4A-4E1E-8357-57DEDE423A13}"/>
              </a:ext>
            </a:extLst>
          </p:cNvPr>
          <p:cNvSpPr>
            <a:spLocks xmlns:a="http://schemas.openxmlformats.org/drawingml/2006/main" noGrp="1"/>
          </p:cNvSpPr>
          <p:nvPr/>
        </p:nvSpPr>
        <p:spPr>
          <a:xfrm xmlns:a="http://schemas.openxmlformats.org/drawingml/2006/main">
            <a:off x="5905500" y="1790700"/>
            <a:ext cx="5124450" cy="3752850"/>
          </a:xfrm>
          <a:prstGeom xmlns:a="http://schemas.openxmlformats.org/drawingml/2006/main" prst="rect">
            <a:avLst/>
          </a:prstGeom>
          <a:solidFill xmlns:a="http://schemas.openxmlformats.org/drawingml/2006/main">
            <a:srgbClr val="FFFFFF"/>
          </a:solidFill>
          <a:ln xmlns:a="http://schemas.openxmlformats.org/drawingml/2006/main" w="9525">
            <a:solidFill>
              <a:srgbClr val="EEE4D3"/>
            </a:solidFill>
            <a:prstDash val="solid"/>
          </a:ln>
        </p:spPr>
      </p:sp>
      <p:sp>
        <p:nvSpPr>
          <p:cNvPr id="9" name="">
            <a:extLst xmlns:a="http://schemas.openxmlformats.org/drawingml/2006/main">
              <a:ext uri="{FF2B5EF4-FFF2-40B4-BE49-F238E27FC236}">
                <a16:creationId xmlns:a16="http://schemas.microsoft.com/office/drawing/2014/main" id="{033064D6-2248-4447-9821-8329EB254B37}"/>
              </a:ext>
            </a:extLst>
          </p:cNvPr>
          <p:cNvSpPr>
            <a:spLocks xmlns:a="http://schemas.openxmlformats.org/drawingml/2006/main" noGrp="1"/>
          </p:cNvSpPr>
          <p:nvPr/>
        </p:nvSpPr>
        <p:spPr>
          <a:xfrm xmlns:a="http://schemas.openxmlformats.org/drawingml/2006/main">
            <a:off x="6153150" y="2038350"/>
            <a:ext cx="4286250" cy="2476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500" b="1">
                <a:solidFill>
                  <a:srgbClr val="223A5E"/>
                </a:solidFill>
              </a:defRPr>
            </a:pPr>
            <a:r>
              <a:t>Leçons méthodologiques</a:t>
            </a:r>
          </a:p>
        </p:txBody>
      </p:sp>
      <p:sp>
        <p:nvSpPr>
          <p:cNvPr id="10" name="">
            <a:extLst xmlns:a="http://schemas.openxmlformats.org/drawingml/2006/main">
              <a:ext uri="{FF2B5EF4-FFF2-40B4-BE49-F238E27FC236}">
                <a16:creationId xmlns:a16="http://schemas.microsoft.com/office/drawing/2014/main" id="{3B66964D-CD24-4951-A67D-9B85C5F9FB87}"/>
              </a:ext>
            </a:extLst>
          </p:cNvPr>
          <p:cNvSpPr>
            <a:spLocks xmlns:a="http://schemas.openxmlformats.org/drawingml/2006/main" noGrp="1"/>
          </p:cNvSpPr>
          <p:nvPr/>
        </p:nvSpPr>
        <p:spPr>
          <a:xfrm xmlns:a="http://schemas.openxmlformats.org/drawingml/2006/main">
            <a:off x="6153150" y="2457450"/>
            <a:ext cx="4286250" cy="23812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350">
                <a:solidFill>
                  <a:srgbClr val="2F3136"/>
                </a:solidFill>
              </a:defRPr>
            </a:pPr>
            <a:r>
              <a:t>• Réduire la promesse améliore la crédibilité du projet. • Un bon signal d’alerte n’est pas forcément un bon modèle de prévision point par point. • Documenter un résultat négatif renforce la valeur scientifique du travail. • L’architecture data et la traçabilité sont une contribution à part entière.</a:t>
            </a:r>
          </a:p>
        </p:txBody>
      </p:sp>
      <p:sp>
        <p:nvSpPr>
          <p:cNvPr id="11" name="">
            <a:extLst xmlns:a="http://schemas.openxmlformats.org/drawingml/2006/main">
              <a:ext uri="{FF2B5EF4-FFF2-40B4-BE49-F238E27FC236}">
                <a16:creationId xmlns:a16="http://schemas.microsoft.com/office/drawing/2014/main" id="{6CA519D7-C61A-48AC-B927-CAD9C4865094}"/>
              </a:ext>
            </a:extLst>
          </p:cNvPr>
          <p:cNvSpPr>
            <a:spLocks xmlns:a="http://schemas.openxmlformats.org/drawingml/2006/main" noGrp="1"/>
          </p:cNvSpPr>
          <p:nvPr/>
        </p:nvSpPr>
        <p:spPr>
          <a:xfrm xmlns:a="http://schemas.openxmlformats.org/drawingml/2006/main">
            <a:off x="685800" y="6477000"/>
            <a:ext cx="4762500" cy="1714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825">
                <a:solidFill>
                  <a:srgbClr val="6C6A66"/>
                </a:solidFill>
              </a:defRPr>
            </a:pPr>
            <a:r>
              <a:t>ENSAM Meknes • Limites</a:t>
            </a:r>
          </a:p>
        </p:txBody>
      </p:sp>
      <p:sp>
        <p:nvSpPr>
          <p:cNvPr id="12" name="">
            <a:extLst xmlns:a="http://schemas.openxmlformats.org/drawingml/2006/main">
              <a:ext uri="{FF2B5EF4-FFF2-40B4-BE49-F238E27FC236}">
                <a16:creationId xmlns:a16="http://schemas.microsoft.com/office/drawing/2014/main" id="{5DDD04D8-0880-4CDB-9A55-C4AD0A9E6A82}"/>
              </a:ext>
            </a:extLst>
          </p:cNvPr>
          <p:cNvSpPr>
            <a:spLocks xmlns:a="http://schemas.openxmlformats.org/drawingml/2006/main" noGrp="1"/>
          </p:cNvSpPr>
          <p:nvPr/>
        </p:nvSpPr>
        <p:spPr>
          <a:xfrm xmlns:a="http://schemas.openxmlformats.org/drawingml/2006/main">
            <a:off x="11049000" y="6477000"/>
            <a:ext cx="476250" cy="1714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lgn="r">
              <a:defRPr sz="825">
                <a:solidFill>
                  <a:srgbClr val="6C6A66"/>
                </a:solidFill>
              </a:defRPr>
            </a:pPr>
            <a:r>
              <a:t>17</a:t>
            </a:r>
          </a:p>
        </p:txBody>
      </p:sp>
    </p:spTree>
    <p:extLst>
      <p:ext uri="{BB962C8B-B14F-4D97-AF65-F5344CB8AC3E}">
        <p14:creationId xmlns:p14="http://schemas.microsoft.com/office/powerpoint/2010/main" val="1946563633"/>
      </p:ext>
    </p:extLst>
  </p:cSld>
</p:sld>
</file>

<file path=ppt/slides/slide18.xml><?xml version="1.0" encoding="utf-8"?>
<p:sld xmlns:p="http://schemas.openxmlformats.org/presentationml/2006/main">
  <p:cSld>
    <p:bg>
      <p:bgPr>
        <a:solidFill xmlns:a="http://schemas.openxmlformats.org/drawingml/2006/main">
          <a:srgbClr val="F6F1E7"/>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A5D1D13D-A056-4476-BF72-838D246B94E3}"/>
              </a:ext>
            </a:extLst>
          </p:cNvPr>
          <p:cNvSpPr>
            <a:spLocks xmlns:a="http://schemas.openxmlformats.org/drawingml/2006/main" noGrp="1"/>
          </p:cNvSpPr>
          <p:nvPr/>
        </p:nvSpPr>
        <p:spPr>
          <a:xfrm xmlns:a="http://schemas.openxmlformats.org/drawingml/2006/main">
            <a:off x="552450" y="457200"/>
            <a:ext cx="11087100" cy="5943600"/>
          </a:xfrm>
          <a:prstGeom xmlns:a="http://schemas.openxmlformats.org/drawingml/2006/main" prst="rect">
            <a:avLst/>
          </a:prstGeom>
          <a:solidFill xmlns:a="http://schemas.openxmlformats.org/drawingml/2006/main">
            <a:srgbClr val="FFFDF8"/>
          </a:solidFill>
          <a:ln xmlns:a="http://schemas.openxmlformats.org/drawingml/2006/main" w="19050">
            <a:solidFill>
              <a:srgbClr val="D8BC8C"/>
            </a:solidFill>
            <a:prstDash val="solid"/>
          </a:ln>
        </p:spPr>
      </p:sp>
      <p:sp>
        <p:nvSpPr>
          <p:cNvPr id="2" name="">
            <a:extLst xmlns:a="http://schemas.openxmlformats.org/drawingml/2006/main">
              <a:ext uri="{FF2B5EF4-FFF2-40B4-BE49-F238E27FC236}">
                <a16:creationId xmlns:a16="http://schemas.microsoft.com/office/drawing/2014/main" id="{ACCFBF9A-19DD-4455-997A-0D7EC9C11E8C}"/>
              </a:ext>
            </a:extLst>
          </p:cNvPr>
          <p:cNvSpPr>
            <a:spLocks xmlns:a="http://schemas.openxmlformats.org/drawingml/2006/main" noGrp="1"/>
          </p:cNvSpPr>
          <p:nvPr/>
        </p:nvSpPr>
        <p:spPr>
          <a:xfrm xmlns:a="http://schemas.openxmlformats.org/drawingml/2006/main">
            <a:off x="876300" y="876300"/>
            <a:ext cx="8763000" cy="53340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2550" b="1">
                <a:solidFill>
                  <a:srgbClr val="223A5E"/>
                </a:solidFill>
              </a:defRPr>
            </a:pPr>
            <a:r>
              <a:t>Conclusion générale</a:t>
            </a:r>
          </a:p>
        </p:txBody>
      </p:sp>
      <p:sp>
        <p:nvSpPr>
          <p:cNvPr id="3" name="">
            <a:extLst xmlns:a="http://schemas.openxmlformats.org/drawingml/2006/main">
              <a:ext uri="{FF2B5EF4-FFF2-40B4-BE49-F238E27FC236}">
                <a16:creationId xmlns:a16="http://schemas.microsoft.com/office/drawing/2014/main" id="{7FB67613-49F5-4628-9CA3-3F30C94A4410}"/>
              </a:ext>
            </a:extLst>
          </p:cNvPr>
          <p:cNvSpPr>
            <a:spLocks xmlns:a="http://schemas.openxmlformats.org/drawingml/2006/main" noGrp="1"/>
          </p:cNvSpPr>
          <p:nvPr/>
        </p:nvSpPr>
        <p:spPr>
          <a:xfrm xmlns:a="http://schemas.openxmlformats.org/drawingml/2006/main">
            <a:off x="876300" y="1524000"/>
            <a:ext cx="9144000" cy="102870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800">
                <a:solidFill>
                  <a:srgbClr val="2F3136"/>
                </a:solidFill>
              </a:defRPr>
            </a:pPr>
            <a:r>
              <a:t>Le BESI V3 montre qu’un signal comportemental digital marocain peut aider à détecter des régimes d’inflation, surtout lors du choc 2022–2024. En revanche, il ne démontre pas encore une supériorité robuste en prévision point par point face à la baseline naïve.</a:t>
            </a:r>
          </a:p>
        </p:txBody>
      </p:sp>
      <p:sp>
        <p:nvSpPr>
          <p:cNvPr id="4" name="">
            <a:extLst xmlns:a="http://schemas.openxmlformats.org/drawingml/2006/main">
              <a:ext uri="{FF2B5EF4-FFF2-40B4-BE49-F238E27FC236}">
                <a16:creationId xmlns:a16="http://schemas.microsoft.com/office/drawing/2014/main" id="{246A0880-B4FE-444F-8581-26DF093CC33E}"/>
              </a:ext>
            </a:extLst>
          </p:cNvPr>
          <p:cNvSpPr>
            <a:spLocks xmlns:a="http://schemas.openxmlformats.org/drawingml/2006/main" noGrp="1"/>
          </p:cNvSpPr>
          <p:nvPr/>
        </p:nvSpPr>
        <p:spPr>
          <a:xfrm xmlns:a="http://schemas.openxmlformats.org/drawingml/2006/main">
            <a:off x="876300" y="3009900"/>
            <a:ext cx="2952750" cy="1428750"/>
          </a:xfrm>
          <a:prstGeom xmlns:a="http://schemas.openxmlformats.org/drawingml/2006/main" prst="rect">
            <a:avLst/>
          </a:prstGeom>
          <a:solidFill xmlns:a="http://schemas.openxmlformats.org/drawingml/2006/main">
            <a:srgbClr val="FFFFFF"/>
          </a:solidFill>
          <a:ln xmlns:a="http://schemas.openxmlformats.org/drawingml/2006/main" w="9525">
            <a:solidFill>
              <a:srgbClr val="EEE4D3"/>
            </a:solidFill>
            <a:prstDash val="solid"/>
          </a:ln>
        </p:spPr>
      </p:sp>
      <p:sp>
        <p:nvSpPr>
          <p:cNvPr id="5" name="">
            <a:extLst xmlns:a="http://schemas.openxmlformats.org/drawingml/2006/main">
              <a:ext uri="{FF2B5EF4-FFF2-40B4-BE49-F238E27FC236}">
                <a16:creationId xmlns:a16="http://schemas.microsoft.com/office/drawing/2014/main" id="{C009E96F-42B7-496F-9CE6-CCF0A5142B26}"/>
              </a:ext>
            </a:extLst>
          </p:cNvPr>
          <p:cNvSpPr>
            <a:spLocks xmlns:a="http://schemas.openxmlformats.org/drawingml/2006/main" noGrp="1"/>
          </p:cNvSpPr>
          <p:nvPr/>
        </p:nvSpPr>
        <p:spPr>
          <a:xfrm xmlns:a="http://schemas.openxmlformats.org/drawingml/2006/main">
            <a:off x="876300" y="3009900"/>
            <a:ext cx="76200" cy="1428750"/>
          </a:xfrm>
          <a:prstGeom xmlns:a="http://schemas.openxmlformats.org/drawingml/2006/main" prst="rect">
            <a:avLst/>
          </a:prstGeom>
          <a:solidFill xmlns:a="http://schemas.openxmlformats.org/drawingml/2006/main">
            <a:srgbClr val="223A5E"/>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395579F5-6532-4A8A-92CB-002E1030F984}"/>
              </a:ext>
            </a:extLst>
          </p:cNvPr>
          <p:cNvSpPr>
            <a:spLocks xmlns:a="http://schemas.openxmlformats.org/drawingml/2006/main" noGrp="1"/>
          </p:cNvSpPr>
          <p:nvPr/>
        </p:nvSpPr>
        <p:spPr>
          <a:xfrm xmlns:a="http://schemas.openxmlformats.org/drawingml/2006/main">
            <a:off x="1104900" y="3181350"/>
            <a:ext cx="2571750" cy="19050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975" b="1">
                <a:solidFill>
                  <a:srgbClr val="6C6A66"/>
                </a:solidFill>
              </a:defRPr>
            </a:pPr>
            <a:r>
              <a:t>Contribution la plus forte</a:t>
            </a:r>
          </a:p>
        </p:txBody>
      </p:sp>
      <p:sp>
        <p:nvSpPr>
          <p:cNvPr id="7" name="">
            <a:extLst xmlns:a="http://schemas.openxmlformats.org/drawingml/2006/main">
              <a:ext uri="{FF2B5EF4-FFF2-40B4-BE49-F238E27FC236}">
                <a16:creationId xmlns:a16="http://schemas.microsoft.com/office/drawing/2014/main" id="{985A43A1-556A-49A5-AB32-06363D4CB886}"/>
              </a:ext>
            </a:extLst>
          </p:cNvPr>
          <p:cNvSpPr>
            <a:spLocks xmlns:a="http://schemas.openxmlformats.org/drawingml/2006/main" noGrp="1"/>
          </p:cNvSpPr>
          <p:nvPr/>
        </p:nvSpPr>
        <p:spPr>
          <a:xfrm xmlns:a="http://schemas.openxmlformats.org/drawingml/2006/main">
            <a:off x="1104900" y="3409950"/>
            <a:ext cx="2571750" cy="38100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2100" b="1">
                <a:solidFill>
                  <a:srgbClr val="223A5E"/>
                </a:solidFill>
              </a:defRPr>
            </a:pPr>
            <a:r>
              <a:t>Détection de régime</a:t>
            </a:r>
          </a:p>
        </p:txBody>
      </p:sp>
      <p:sp>
        <p:nvSpPr>
          <p:cNvPr id="8" name="">
            <a:extLst xmlns:a="http://schemas.openxmlformats.org/drawingml/2006/main">
              <a:ext uri="{FF2B5EF4-FFF2-40B4-BE49-F238E27FC236}">
                <a16:creationId xmlns:a16="http://schemas.microsoft.com/office/drawing/2014/main" id="{DA764A50-BD65-4C70-9972-B69DA0ECCE90}"/>
              </a:ext>
            </a:extLst>
          </p:cNvPr>
          <p:cNvSpPr>
            <a:spLocks xmlns:a="http://schemas.openxmlformats.org/drawingml/2006/main" noGrp="1"/>
          </p:cNvSpPr>
          <p:nvPr/>
        </p:nvSpPr>
        <p:spPr>
          <a:xfrm xmlns:a="http://schemas.openxmlformats.org/drawingml/2006/main">
            <a:off x="1104900" y="3848100"/>
            <a:ext cx="2571750" cy="3238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900">
                <a:solidFill>
                  <a:srgbClr val="2F3136"/>
                </a:solidFill>
              </a:defRPr>
            </a:pPr>
            <a:r>
              <a:t>Recall de 1.00 sur les épisodes inflationnistes du bloc 2022–2024</a:t>
            </a:r>
          </a:p>
        </p:txBody>
      </p:sp>
      <p:sp>
        <p:nvSpPr>
          <p:cNvPr id="9" name="">
            <a:extLst xmlns:a="http://schemas.openxmlformats.org/drawingml/2006/main">
              <a:ext uri="{FF2B5EF4-FFF2-40B4-BE49-F238E27FC236}">
                <a16:creationId xmlns:a16="http://schemas.microsoft.com/office/drawing/2014/main" id="{4BC15351-9B90-4FF3-8726-9192AE4A451F}"/>
              </a:ext>
            </a:extLst>
          </p:cNvPr>
          <p:cNvSpPr>
            <a:spLocks xmlns:a="http://schemas.openxmlformats.org/drawingml/2006/main" noGrp="1"/>
          </p:cNvSpPr>
          <p:nvPr/>
        </p:nvSpPr>
        <p:spPr>
          <a:xfrm xmlns:a="http://schemas.openxmlformats.org/drawingml/2006/main">
            <a:off x="4095750" y="3009900"/>
            <a:ext cx="2952750" cy="1428750"/>
          </a:xfrm>
          <a:prstGeom xmlns:a="http://schemas.openxmlformats.org/drawingml/2006/main" prst="rect">
            <a:avLst/>
          </a:prstGeom>
          <a:solidFill xmlns:a="http://schemas.openxmlformats.org/drawingml/2006/main">
            <a:srgbClr val="FFFFFF"/>
          </a:solidFill>
          <a:ln xmlns:a="http://schemas.openxmlformats.org/drawingml/2006/main" w="9525">
            <a:solidFill>
              <a:srgbClr val="EEE4D3"/>
            </a:solidFill>
            <a:prstDash val="solid"/>
          </a:ln>
        </p:spPr>
      </p:sp>
      <p:sp>
        <p:nvSpPr>
          <p:cNvPr id="10" name="">
            <a:extLst xmlns:a="http://schemas.openxmlformats.org/drawingml/2006/main">
              <a:ext uri="{FF2B5EF4-FFF2-40B4-BE49-F238E27FC236}">
                <a16:creationId xmlns:a16="http://schemas.microsoft.com/office/drawing/2014/main" id="{73457295-1792-44E8-A419-2DA05B0F55D3}"/>
              </a:ext>
            </a:extLst>
          </p:cNvPr>
          <p:cNvSpPr>
            <a:spLocks xmlns:a="http://schemas.openxmlformats.org/drawingml/2006/main" noGrp="1"/>
          </p:cNvSpPr>
          <p:nvPr/>
        </p:nvSpPr>
        <p:spPr>
          <a:xfrm xmlns:a="http://schemas.openxmlformats.org/drawingml/2006/main">
            <a:off x="4095750" y="3009900"/>
            <a:ext cx="76200" cy="1428750"/>
          </a:xfrm>
          <a:prstGeom xmlns:a="http://schemas.openxmlformats.org/drawingml/2006/main" prst="rect">
            <a:avLst/>
          </a:prstGeom>
          <a:solidFill xmlns:a="http://schemas.openxmlformats.org/drawingml/2006/main">
            <a:srgbClr val="C86F4D"/>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F837D532-CB1E-4127-BEEC-2C58685E25C5}"/>
              </a:ext>
            </a:extLst>
          </p:cNvPr>
          <p:cNvSpPr>
            <a:spLocks xmlns:a="http://schemas.openxmlformats.org/drawingml/2006/main" noGrp="1"/>
          </p:cNvSpPr>
          <p:nvPr/>
        </p:nvSpPr>
        <p:spPr>
          <a:xfrm xmlns:a="http://schemas.openxmlformats.org/drawingml/2006/main">
            <a:off x="4324350" y="3181350"/>
            <a:ext cx="2571750" cy="19050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975" b="1">
                <a:solidFill>
                  <a:srgbClr val="6C6A66"/>
                </a:solidFill>
              </a:defRPr>
            </a:pPr>
            <a:r>
              <a:t>Résultat à assumer</a:t>
            </a:r>
          </a:p>
        </p:txBody>
      </p:sp>
      <p:sp>
        <p:nvSpPr>
          <p:cNvPr id="12" name="">
            <a:extLst xmlns:a="http://schemas.openxmlformats.org/drawingml/2006/main">
              <a:ext uri="{FF2B5EF4-FFF2-40B4-BE49-F238E27FC236}">
                <a16:creationId xmlns:a16="http://schemas.microsoft.com/office/drawing/2014/main" id="{BFEEE463-D6B2-4784-AA09-FF5F0463EF6E}"/>
              </a:ext>
            </a:extLst>
          </p:cNvPr>
          <p:cNvSpPr>
            <a:spLocks xmlns:a="http://schemas.openxmlformats.org/drawingml/2006/main" noGrp="1"/>
          </p:cNvSpPr>
          <p:nvPr/>
        </p:nvSpPr>
        <p:spPr>
          <a:xfrm xmlns:a="http://schemas.openxmlformats.org/drawingml/2006/main">
            <a:off x="4324350" y="3409950"/>
            <a:ext cx="2571750" cy="38100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2100" b="1">
                <a:solidFill>
                  <a:srgbClr val="C86F4D"/>
                </a:solidFill>
              </a:defRPr>
            </a:pPr>
            <a:r>
              <a:t>Naïf &gt; RMSE</a:t>
            </a:r>
          </a:p>
        </p:txBody>
      </p:sp>
      <p:sp>
        <p:nvSpPr>
          <p:cNvPr id="13" name="">
            <a:extLst xmlns:a="http://schemas.openxmlformats.org/drawingml/2006/main">
              <a:ext uri="{FF2B5EF4-FFF2-40B4-BE49-F238E27FC236}">
                <a16:creationId xmlns:a16="http://schemas.microsoft.com/office/drawing/2014/main" id="{C847AAAA-C728-4B46-9686-A5DA3EB0C8B7}"/>
              </a:ext>
            </a:extLst>
          </p:cNvPr>
          <p:cNvSpPr>
            <a:spLocks xmlns:a="http://schemas.openxmlformats.org/drawingml/2006/main" noGrp="1"/>
          </p:cNvSpPr>
          <p:nvPr/>
        </p:nvSpPr>
        <p:spPr>
          <a:xfrm xmlns:a="http://schemas.openxmlformats.org/drawingml/2006/main">
            <a:off x="4324350" y="3848100"/>
            <a:ext cx="2571750" cy="3238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900">
                <a:solidFill>
                  <a:srgbClr val="2F3136"/>
                </a:solidFill>
              </a:defRPr>
            </a:pPr>
            <a:r>
              <a:t>La baseline simple reste meilleure pour la prévision globale</a:t>
            </a:r>
          </a:p>
        </p:txBody>
      </p:sp>
      <p:sp>
        <p:nvSpPr>
          <p:cNvPr id="14" name="">
            <a:extLst xmlns:a="http://schemas.openxmlformats.org/drawingml/2006/main">
              <a:ext uri="{FF2B5EF4-FFF2-40B4-BE49-F238E27FC236}">
                <a16:creationId xmlns:a16="http://schemas.microsoft.com/office/drawing/2014/main" id="{61719625-FA30-4594-A62D-7478C42D637C}"/>
              </a:ext>
            </a:extLst>
          </p:cNvPr>
          <p:cNvSpPr>
            <a:spLocks xmlns:a="http://schemas.openxmlformats.org/drawingml/2006/main" noGrp="1"/>
          </p:cNvSpPr>
          <p:nvPr/>
        </p:nvSpPr>
        <p:spPr>
          <a:xfrm xmlns:a="http://schemas.openxmlformats.org/drawingml/2006/main">
            <a:off x="7315200" y="3009900"/>
            <a:ext cx="2952750" cy="1428750"/>
          </a:xfrm>
          <a:prstGeom xmlns:a="http://schemas.openxmlformats.org/drawingml/2006/main" prst="rect">
            <a:avLst/>
          </a:prstGeom>
          <a:solidFill xmlns:a="http://schemas.openxmlformats.org/drawingml/2006/main">
            <a:srgbClr val="FFFFFF"/>
          </a:solidFill>
          <a:ln xmlns:a="http://schemas.openxmlformats.org/drawingml/2006/main" w="9525">
            <a:solidFill>
              <a:srgbClr val="EEE4D3"/>
            </a:solidFill>
            <a:prstDash val="solid"/>
          </a:ln>
        </p:spPr>
      </p:sp>
      <p:sp>
        <p:nvSpPr>
          <p:cNvPr id="15" name="">
            <a:extLst xmlns:a="http://schemas.openxmlformats.org/drawingml/2006/main">
              <a:ext uri="{FF2B5EF4-FFF2-40B4-BE49-F238E27FC236}">
                <a16:creationId xmlns:a16="http://schemas.microsoft.com/office/drawing/2014/main" id="{6DEA6392-C12D-4234-8D83-9C27399AFC35}"/>
              </a:ext>
            </a:extLst>
          </p:cNvPr>
          <p:cNvSpPr>
            <a:spLocks xmlns:a="http://schemas.openxmlformats.org/drawingml/2006/main" noGrp="1"/>
          </p:cNvSpPr>
          <p:nvPr/>
        </p:nvSpPr>
        <p:spPr>
          <a:xfrm xmlns:a="http://schemas.openxmlformats.org/drawingml/2006/main">
            <a:off x="7315200" y="3009900"/>
            <a:ext cx="76200" cy="1428750"/>
          </a:xfrm>
          <a:prstGeom xmlns:a="http://schemas.openxmlformats.org/drawingml/2006/main" prst="rect">
            <a:avLst/>
          </a:prstGeom>
          <a:solidFill xmlns:a="http://schemas.openxmlformats.org/drawingml/2006/main">
            <a:srgbClr val="5E7E6A"/>
          </a:solidFill>
          <a:ln xmlns:a="http://schemas.openxmlformats.org/drawingml/2006/main" w="0">
            <a:noFill/>
            <a:prstDash val="solid"/>
          </a:ln>
        </p:spPr>
      </p:sp>
      <p:sp>
        <p:nvSpPr>
          <p:cNvPr id="16" name="">
            <a:extLst xmlns:a="http://schemas.openxmlformats.org/drawingml/2006/main">
              <a:ext uri="{FF2B5EF4-FFF2-40B4-BE49-F238E27FC236}">
                <a16:creationId xmlns:a16="http://schemas.microsoft.com/office/drawing/2014/main" id="{262B10D9-122A-494E-A32B-AF0CAF1AC61B}"/>
              </a:ext>
            </a:extLst>
          </p:cNvPr>
          <p:cNvSpPr>
            <a:spLocks xmlns:a="http://schemas.openxmlformats.org/drawingml/2006/main" noGrp="1"/>
          </p:cNvSpPr>
          <p:nvPr/>
        </p:nvSpPr>
        <p:spPr>
          <a:xfrm xmlns:a="http://schemas.openxmlformats.org/drawingml/2006/main">
            <a:off x="7543800" y="3181350"/>
            <a:ext cx="2571750" cy="19050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975" b="1">
                <a:solidFill>
                  <a:srgbClr val="6C6A66"/>
                </a:solidFill>
              </a:defRPr>
            </a:pPr>
            <a:r>
              <a:t>Résultat exploratoire</a:t>
            </a:r>
          </a:p>
        </p:txBody>
      </p:sp>
      <p:sp>
        <p:nvSpPr>
          <p:cNvPr id="17" name="">
            <a:extLst xmlns:a="http://schemas.openxmlformats.org/drawingml/2006/main">
              <a:ext uri="{FF2B5EF4-FFF2-40B4-BE49-F238E27FC236}">
                <a16:creationId xmlns:a16="http://schemas.microsoft.com/office/drawing/2014/main" id="{B6EC7F53-F12A-4A70-973C-3095295329AC}"/>
              </a:ext>
            </a:extLst>
          </p:cNvPr>
          <p:cNvSpPr>
            <a:spLocks xmlns:a="http://schemas.openxmlformats.org/drawingml/2006/main" noGrp="1"/>
          </p:cNvSpPr>
          <p:nvPr/>
        </p:nvSpPr>
        <p:spPr>
          <a:xfrm xmlns:a="http://schemas.openxmlformats.org/drawingml/2006/main">
            <a:off x="7543800" y="3409950"/>
            <a:ext cx="2571750" cy="38100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2100" b="1">
                <a:solidFill>
                  <a:srgbClr val="5E7E6A"/>
                </a:solidFill>
              </a:defRPr>
            </a:pPr>
            <a:r>
              <a:t>NLP = CAS C</a:t>
            </a:r>
          </a:p>
        </p:txBody>
      </p:sp>
      <p:sp>
        <p:nvSpPr>
          <p:cNvPr id="18" name="">
            <a:extLst xmlns:a="http://schemas.openxmlformats.org/drawingml/2006/main">
              <a:ext uri="{FF2B5EF4-FFF2-40B4-BE49-F238E27FC236}">
                <a16:creationId xmlns:a16="http://schemas.microsoft.com/office/drawing/2014/main" id="{84046068-A73A-4B96-BA25-6094E56F2D23}"/>
              </a:ext>
            </a:extLst>
          </p:cNvPr>
          <p:cNvSpPr>
            <a:spLocks xmlns:a="http://schemas.openxmlformats.org/drawingml/2006/main" noGrp="1"/>
          </p:cNvSpPr>
          <p:nvPr/>
        </p:nvSpPr>
        <p:spPr>
          <a:xfrm xmlns:a="http://schemas.openxmlformats.org/drawingml/2006/main">
            <a:off x="7543800" y="3848100"/>
            <a:ext cx="2571750" cy="3238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900">
                <a:solidFill>
                  <a:srgbClr val="2F3136"/>
                </a:solidFill>
              </a:defRPr>
            </a:pPr>
            <a:r>
              <a:t>Extension locale documentée proprement, mais non retenue</a:t>
            </a:r>
          </a:p>
        </p:txBody>
      </p:sp>
      <p:sp>
        <p:nvSpPr>
          <p:cNvPr id="19" name="">
            <a:extLst xmlns:a="http://schemas.openxmlformats.org/drawingml/2006/main">
              <a:ext uri="{FF2B5EF4-FFF2-40B4-BE49-F238E27FC236}">
                <a16:creationId xmlns:a16="http://schemas.microsoft.com/office/drawing/2014/main" id="{8F47BB2D-5ACB-4739-920C-208034EFF8EF}"/>
              </a:ext>
            </a:extLst>
          </p:cNvPr>
          <p:cNvSpPr>
            <a:spLocks xmlns:a="http://schemas.openxmlformats.org/drawingml/2006/main" noGrp="1"/>
          </p:cNvSpPr>
          <p:nvPr/>
        </p:nvSpPr>
        <p:spPr>
          <a:xfrm xmlns:a="http://schemas.openxmlformats.org/drawingml/2006/main">
            <a:off x="876300" y="4895850"/>
            <a:ext cx="9334500" cy="87630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500">
                <a:solidFill>
                  <a:srgbClr val="2F3136"/>
                </a:solidFill>
              </a:defRPr>
            </a:pPr>
            <a:r>
              <a:t>Phrase finale à défendre : notre projet ne présente pas un modèle miracle de prévision de l’inflation. Il présente une pipeline rigoureuse, fondée sur des données réelles, qui montre qu’un signal comportemental marocain peut servir de capteur d’épisodes inflationnistes, avec des limites clairement identifiées.</a:t>
            </a:r>
          </a:p>
        </p:txBody>
      </p:sp>
      <p:sp>
        <p:nvSpPr>
          <p:cNvPr id="20" name="">
            <a:extLst xmlns:a="http://schemas.openxmlformats.org/drawingml/2006/main">
              <a:ext uri="{FF2B5EF4-FFF2-40B4-BE49-F238E27FC236}">
                <a16:creationId xmlns:a16="http://schemas.microsoft.com/office/drawing/2014/main" id="{5B79763A-5CB2-4AF9-A09D-CD4BC4199C7A}"/>
              </a:ext>
            </a:extLst>
          </p:cNvPr>
          <p:cNvSpPr>
            <a:spLocks xmlns:a="http://schemas.openxmlformats.org/drawingml/2006/main" noGrp="1"/>
          </p:cNvSpPr>
          <p:nvPr/>
        </p:nvSpPr>
        <p:spPr>
          <a:xfrm xmlns:a="http://schemas.openxmlformats.org/drawingml/2006/main">
            <a:off x="876300" y="6096000"/>
            <a:ext cx="4000500" cy="26670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650" b="1">
                <a:solidFill>
                  <a:srgbClr val="C86F4D"/>
                </a:solidFill>
              </a:defRPr>
            </a:pPr>
            <a:r>
              <a:t>Merci — Questions</a:t>
            </a:r>
          </a:p>
        </p:txBody>
      </p:sp>
      <p:sp>
        <p:nvSpPr>
          <p:cNvPr id="21" name="">
            <a:extLst xmlns:a="http://schemas.openxmlformats.org/drawingml/2006/main">
              <a:ext uri="{FF2B5EF4-FFF2-40B4-BE49-F238E27FC236}">
                <a16:creationId xmlns:a16="http://schemas.microsoft.com/office/drawing/2014/main" id="{227C7B55-545F-481C-99D8-C859B1D0874E}"/>
              </a:ext>
            </a:extLst>
          </p:cNvPr>
          <p:cNvSpPr>
            <a:spLocks xmlns:a="http://schemas.openxmlformats.org/drawingml/2006/main" noGrp="1"/>
          </p:cNvSpPr>
          <p:nvPr/>
        </p:nvSpPr>
        <p:spPr>
          <a:xfrm xmlns:a="http://schemas.openxmlformats.org/drawingml/2006/main">
            <a:off x="685800" y="6477000"/>
            <a:ext cx="4762500" cy="1714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825">
                <a:solidFill>
                  <a:srgbClr val="6C6A66"/>
                </a:solidFill>
              </a:defRPr>
            </a:pPr>
            <a:r>
              <a:t>ENSAM Meknes • Conclusion</a:t>
            </a:r>
          </a:p>
        </p:txBody>
      </p:sp>
      <p:sp>
        <p:nvSpPr>
          <p:cNvPr id="22" name="">
            <a:extLst xmlns:a="http://schemas.openxmlformats.org/drawingml/2006/main">
              <a:ext uri="{FF2B5EF4-FFF2-40B4-BE49-F238E27FC236}">
                <a16:creationId xmlns:a16="http://schemas.microsoft.com/office/drawing/2014/main" id="{1F985B6A-CF12-4FFC-AF92-E704A58182B6}"/>
              </a:ext>
            </a:extLst>
          </p:cNvPr>
          <p:cNvSpPr>
            <a:spLocks xmlns:a="http://schemas.openxmlformats.org/drawingml/2006/main" noGrp="1"/>
          </p:cNvSpPr>
          <p:nvPr/>
        </p:nvSpPr>
        <p:spPr>
          <a:xfrm xmlns:a="http://schemas.openxmlformats.org/drawingml/2006/main">
            <a:off x="11049000" y="6477000"/>
            <a:ext cx="476250" cy="1714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lgn="r">
              <a:defRPr sz="825">
                <a:solidFill>
                  <a:srgbClr val="6C6A66"/>
                </a:solidFill>
              </a:defRPr>
            </a:pPr>
            <a:r>
              <a:t>18</a:t>
            </a:r>
          </a:p>
        </p:txBody>
      </p:sp>
    </p:spTree>
    <p:extLst>
      <p:ext uri="{BB962C8B-B14F-4D97-AF65-F5344CB8AC3E}">
        <p14:creationId xmlns:p14="http://schemas.microsoft.com/office/powerpoint/2010/main" val="2035692472"/>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solidFill>
          <a:schemeClr val="dk1"/>
        </a:solidFill>
        <a:solidFill>
          <a:schemeClr val="accent1"/>
        </a:soli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2026-05-29T03:39:39.0610000Z</dcterms:created>
  <dcterms:modified xsi:type="dcterms:W3CDTF">2026-05-29T03:39:39.0620000Z</dcterms:modified>
</coreProperties>
</file>