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914400"/>
            <a:ext cx="9089136" cy="4572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1737360"/>
            <a:ext cx="9089136" cy="4572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2560320"/>
            <a:ext cx="9089136" cy="4572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" y="3383280"/>
            <a:ext cx="9089136" cy="4572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" y="4206240"/>
            <a:ext cx="9089136" cy="4572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"/>
            <a:ext cx="2926080" cy="29260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SÉRIES TEMPORELLES · ÉTAT D'AVANCEMENT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Détection Précoce du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15361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</a:rPr>
              <a:t>Stress Économique des Ménages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 Maroc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D34D"/>
                </a:solidFill>
              </a:rPr>
              <a:t>Modélisation SARIMAX &amp; Signaux Comportementaux Multi-Sources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3401568"/>
            <a:ext cx="1417320" cy="32918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Pipeline ✓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37360" y="3401568"/>
            <a:ext cx="1417320" cy="32918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BESI Index ✓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3401568"/>
            <a:ext cx="1417320" cy="32918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 Selection ✓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3401568"/>
            <a:ext cx="1417320" cy="32918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Stationnarité 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3401568"/>
            <a:ext cx="1417320" cy="32918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SARIMA baseline ✓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0" y="3401568"/>
            <a:ext cx="1417320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401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SARIMAX — En cours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8289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Douae · Adama  |  ENSAM Meknès  |  Avril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</a:rPr>
              <a:t>LOGIQUE MÉTHODOLOGIQUE — Chaîne de validation en 4 niveaux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95097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Transformer les signaux web en données propres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1704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Collecte → Alignement mensuel → Normalisation [0,1] → Dataset maître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64208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8653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" y="1755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Construire un indice comportemental interprétable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2084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BESI = 0.40×Trends + 0.30×Reddit + 0.20×YouTube + 0.10×IPC_change → 3 niveaux de stress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78608"/>
            <a:ext cx="54864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779776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8408" y="2670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Filtrer statistiquement les variables utiles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29992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Lag correlation · Granger causality (p&lt;0.05) · Pearson + Spearman → variables candidates validées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93008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69417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Visualiser pour valider économiquement la cohérence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39136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BESI vs IPC · rupture 2022 · heatmap lag · distributions → confirmation visuelle des tests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CD34D"/>
                </a:solidFill>
              </a:rPr>
              <a:t>"La méthode n'est pas 'collecter puis prédire' directement — on impose d'abord une chaîne de validation rigoureuse"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E8F0"/>
                </a:solidFill>
              </a:rPr>
              <a:t>ÉTAPES TERMINÉES — data_pipeline · BESI · features · stationnarité · SARIMA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6868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Collecte &amp; Normalisation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777240"/>
            <a:ext cx="1417320" cy="20116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777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Data Pipeline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" y="10698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Google Trends · Reddit r/Morocco · YouTube API v3 · IPC HCP — alignement mensuel · normalisation 0-1 · master_dataset.csv (180 mois × 9 col)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527048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27048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70992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Construction du BESI Index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1618488"/>
            <a:ext cx="1417320" cy="201168"/>
          </a:xfrm>
          <a:prstGeom prst="rect">
            <a:avLst/>
          </a:prstGeom>
          <a:solidFill>
            <a:srgbClr val="D1FAE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6184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BESI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" y="1911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Indice composite pondéré · 3 niveaux de stress (Normal 41% / Warning 34% / High Stress 25%) · pic détecté 2022–2024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68296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68296"/>
            <a:ext cx="54864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2551176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" y="2432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Feature Selection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2459736"/>
            <a:ext cx="1417320" cy="201168"/>
          </a:xfrm>
          <a:prstGeom prst="rect">
            <a:avLst/>
          </a:prstGeom>
          <a:solidFill>
            <a:srgbClr val="FFEDD5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2459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Sélection variables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" y="27523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Lag correlation (0→6 mois) · Causalité de Granger (p&lt;0.05) · Pearson + Spearman · export CSV/TXT tracabilité automatique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209544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09544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39242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Visualisation &amp; storytelling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03320" y="3300984"/>
            <a:ext cx="1417320" cy="20116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3300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Visualisation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" y="3593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BESI vs IPC · rupture 2022 · heatmap lag · distributions stress · validation économique visuelle des patterns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05079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050792"/>
            <a:ext cx="54864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" y="423367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Stationnarité + SARIMA baseline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03320" y="4142232"/>
            <a:ext cx="1417320" cy="201168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4142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Modélisation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0392" y="4434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ADF + KPSS sur IPC · décomposition STL · ACF/PACF → ordres p,d,q,P,D,Q · SARIMA estimé · walk-forward validé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master_dataset.csv · 180 mois · 9 colonnes · BESI construit · features validées · SARIMA baseline estimée et walk-forward validée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</a:rPr>
              <a:t>DONNÉES PRODUITES — master_dataset.csv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965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7782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891B2"/>
                </a:solidFill>
              </a:rPr>
              <a:t>180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mois de données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82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2010 →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749808"/>
            <a:ext cx="1965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749808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7782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9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46888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colonnes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682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variables alignées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749808"/>
            <a:ext cx="1965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49808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87782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</a:rPr>
              <a:t>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niveaux de stress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682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Normal · Warning · High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749808"/>
            <a:ext cx="1965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749808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87782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7316"/>
                </a:solidFill>
              </a:rPr>
              <a:t>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67512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sources de données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682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Trends+Reddit+YT+IPC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48840"/>
            <a:ext cx="502920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Distribution des niveaux de stress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Normal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0" y="2688336"/>
            <a:ext cx="29260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51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73 mois (41%)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054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Warning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3090672"/>
            <a:ext cx="246888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054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62 mois (34%)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4564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 Stress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0" y="3493008"/>
            <a:ext cx="182880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45 mois (25%)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2148840"/>
            <a:ext cx="32918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2148840"/>
            <a:ext cx="32918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91B2"/>
                </a:solidFill>
              </a:rPr>
              <a:t>Statistiques BESI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26334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0.081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2633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Moyenne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92440" y="26334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0.422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809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0.870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Pic inflation YoY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92440" y="29809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6.57 %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69280" y="3328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Période pic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3328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2022–2024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23760" y="3328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Données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92440" y="33284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168 / 180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CD34D"/>
                </a:solidFill>
              </a:rPr>
              <a:t>Données simulées (mode mock) · Prochaine étape : remplacer par IPC réel HCP + vraies APIs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</a:rPr>
              <a:t>RÉSULTATS INTERMÉDIAIRES &amp; PROCHAINE ÉTAPE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029200" cy="3730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5029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595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</a:rPr>
              <a:t>Ce que les résultats disent à ce stade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16736"/>
            <a:ext cx="274320" cy="2743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2984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 BESI suit fortement la dynamique de l'IPC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1572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corrélation confirmée visuellement et statistiquement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274320" cy="2743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95681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 rupture 2022 apparaît clairement dans les séries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22311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détectée dans BESI, IPC et tous les signaux comportementaux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274320" cy="2743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Features candidates solides identifiées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2889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Granger p&lt;0.05 · lag optimal identifié · variables retenues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📊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2735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IPC stationnaire après différenciation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3547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ADF + KPSS concluants · ordres SARIMA(p,d,q)(P,D,Q)s identifiés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274320" cy="27432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9319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SARIMA baseline estimée et walk-forward validée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modèle de référence en place · RMSE/MAE calculés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32120" y="749808"/>
            <a:ext cx="3337560" cy="3730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749808"/>
            <a:ext cx="33375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859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Prochaine logique d'exécution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131673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62472" y="12984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SARIMAX avec variantes exogènes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62472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Google seul · BESI · toutes features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0" y="206654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62472" y="2048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Walk-forward RMSE/MAE/MAPE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62472" y="23225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comparaison directe avec SARIMA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9280" y="281635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62472" y="2798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 de Chow — rupture 2022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62472" y="3072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paramètres avant vs après choc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77840" y="3547872"/>
            <a:ext cx="3200400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36210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</a:rPr>
              <a:t>Objectif H1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3877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0D1B2A"/>
                </a:solidFill>
              </a:rPr>
              <a:t>"Combien l'ajout des signaux comportementaux améliore-t-il la prédiction ?"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La base est solide — il reste à transformer cette fondation en preuve comparative via SARIMAX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Roadmap — 8 Semaines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3657600"/>
          </a:xfrm>
          <a:prstGeom prst="rect">
            <a:avLst/>
          </a:prstGeom>
          <a:solidFill>
            <a:srgbClr val="0D2B1A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S1–S2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15544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COMPLÉTÉ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232257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data_pipeline.py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7066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master_dataset.csv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0906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9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BESI index construit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822960"/>
            <a:ext cx="2011680" cy="3657600"/>
          </a:xfrm>
          <a:prstGeom prst="rect">
            <a:avLst/>
          </a:prstGeom>
          <a:solidFill>
            <a:srgbClr val="0D2B1A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82296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S3–S4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Stationnarité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SARIMA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88920" y="1828800"/>
            <a:ext cx="15544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COMPLÉTÉ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24912" y="232257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ADF + KPSS + STL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24912" y="27066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ACF/PACF → ordres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24912" y="30906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2999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SARIMA walk-forward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822960"/>
            <a:ext cx="2011680" cy="3657600"/>
          </a:xfrm>
          <a:prstGeom prst="rect">
            <a:avLst/>
          </a:prstGeom>
          <a:solidFill>
            <a:srgbClr val="1A1A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2296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S5–S6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SARIMAX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Analyse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83480" y="1828800"/>
            <a:ext cx="155448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 COURS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9472" y="23225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CD34D"/>
                </a:solidFill>
              </a:rPr>
              <a:t>SARIMAX + BESI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19472" y="27066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CD34D"/>
                </a:solidFill>
              </a:rPr>
              <a:t>Test de Chow 2022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19472" y="30906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999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CD34D"/>
                </a:solidFill>
              </a:rPr>
              <a:t>Early warning lag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49440" y="822960"/>
            <a:ext cx="2011680" cy="3657600"/>
          </a:xfrm>
          <a:prstGeom prst="rect">
            <a:avLst/>
          </a:prstGeom>
          <a:solidFill>
            <a:srgbClr val="1A2030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49440" y="822960"/>
            <a:ext cx="20116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S7–S8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0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final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78040" y="1828800"/>
            <a:ext cx="1554480" cy="256032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À VENIR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14032" y="2322576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LSTM comparison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114032" y="27066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Dashboard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114032" y="309067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9480" y="2999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Rapport + slides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4572000"/>
            <a:ext cx="8412480" cy="9144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572000"/>
            <a:ext cx="504748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13248" y="4553712"/>
            <a:ext cx="1682496" cy="128016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Avancement global : ~60%  |  Data + BESI + Feature Selection + Stationnarité + SARIMA terminés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2026-04-21T21:20:54Z</dcterms:created>
  <dcterms:modified xsi:type="dcterms:W3CDTF">2026-04-21T21:20:54Z</dcterms:modified>
</cp:coreProperties>
</file>