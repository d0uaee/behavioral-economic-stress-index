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D76F61-0C90-4B42-B59A-9A0517EF6205}" v="1" dt="2026-05-12T08:39:58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62" y="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uae Ahadji" userId="981d5584dfa725b0" providerId="LiveId" clId="{A2BAF7E8-3892-495B-9245-0CFFD07560B0}"/>
    <pc:docChg chg="custSel modSld">
      <pc:chgData name="Douae Ahadji" userId="981d5584dfa725b0" providerId="LiveId" clId="{A2BAF7E8-3892-495B-9245-0CFFD07560B0}" dt="2026-05-12T08:40:09.114" v="31" actId="255"/>
      <pc:docMkLst>
        <pc:docMk/>
      </pc:docMkLst>
      <pc:sldChg chg="delSp modSp mod">
        <pc:chgData name="Douae Ahadji" userId="981d5584dfa725b0" providerId="LiveId" clId="{A2BAF7E8-3892-495B-9245-0CFFD07560B0}" dt="2026-05-12T07:44:40.226" v="3" actId="478"/>
        <pc:sldMkLst>
          <pc:docMk/>
          <pc:sldMk cId="0" sldId="257"/>
        </pc:sldMkLst>
        <pc:spChg chg="del">
          <ac:chgData name="Douae Ahadji" userId="981d5584dfa725b0" providerId="LiveId" clId="{A2BAF7E8-3892-495B-9245-0CFFD07560B0}" dt="2026-05-12T07:44:40.226" v="3" actId="478"/>
          <ac:spMkLst>
            <pc:docMk/>
            <pc:sldMk cId="0" sldId="257"/>
            <ac:spMk id="41" creationId="{00000000-0000-0000-0000-000000000000}"/>
          </ac:spMkLst>
        </pc:spChg>
        <pc:spChg chg="del">
          <ac:chgData name="Douae Ahadji" userId="981d5584dfa725b0" providerId="LiveId" clId="{A2BAF7E8-3892-495B-9245-0CFFD07560B0}" dt="2026-05-12T07:44:40.226" v="3" actId="478"/>
          <ac:spMkLst>
            <pc:docMk/>
            <pc:sldMk cId="0" sldId="257"/>
            <ac:spMk id="42" creationId="{00000000-0000-0000-0000-000000000000}"/>
          </ac:spMkLst>
        </pc:spChg>
        <pc:spChg chg="del">
          <ac:chgData name="Douae Ahadji" userId="981d5584dfa725b0" providerId="LiveId" clId="{A2BAF7E8-3892-495B-9245-0CFFD07560B0}" dt="2026-05-12T07:44:40.226" v="3" actId="478"/>
          <ac:spMkLst>
            <pc:docMk/>
            <pc:sldMk cId="0" sldId="257"/>
            <ac:spMk id="43" creationId="{00000000-0000-0000-0000-000000000000}"/>
          </ac:spMkLst>
        </pc:spChg>
        <pc:spChg chg="del">
          <ac:chgData name="Douae Ahadji" userId="981d5584dfa725b0" providerId="LiveId" clId="{A2BAF7E8-3892-495B-9245-0CFFD07560B0}" dt="2026-05-12T07:44:40.226" v="3" actId="478"/>
          <ac:spMkLst>
            <pc:docMk/>
            <pc:sldMk cId="0" sldId="257"/>
            <ac:spMk id="44" creationId="{00000000-0000-0000-0000-000000000000}"/>
          </ac:spMkLst>
        </pc:spChg>
        <pc:spChg chg="del">
          <ac:chgData name="Douae Ahadji" userId="981d5584dfa725b0" providerId="LiveId" clId="{A2BAF7E8-3892-495B-9245-0CFFD07560B0}" dt="2026-05-12T07:44:40.226" v="3" actId="478"/>
          <ac:spMkLst>
            <pc:docMk/>
            <pc:sldMk cId="0" sldId="257"/>
            <ac:spMk id="45" creationId="{00000000-0000-0000-0000-000000000000}"/>
          </ac:spMkLst>
        </pc:spChg>
        <pc:spChg chg="mod">
          <ac:chgData name="Douae Ahadji" userId="981d5584dfa725b0" providerId="LiveId" clId="{A2BAF7E8-3892-495B-9245-0CFFD07560B0}" dt="2026-05-12T07:44:26.375" v="2" actId="20577"/>
          <ac:spMkLst>
            <pc:docMk/>
            <pc:sldMk cId="0" sldId="257"/>
            <ac:spMk id="46" creationId="{00000000-0000-0000-0000-000000000000}"/>
          </ac:spMkLst>
        </pc:spChg>
      </pc:sldChg>
      <pc:sldChg chg="modSp mod">
        <pc:chgData name="Douae Ahadji" userId="981d5584dfa725b0" providerId="LiveId" clId="{A2BAF7E8-3892-495B-9245-0CFFD07560B0}" dt="2026-05-12T08:38:16.878" v="15" actId="113"/>
        <pc:sldMkLst>
          <pc:docMk/>
          <pc:sldMk cId="0" sldId="258"/>
        </pc:sldMkLst>
        <pc:spChg chg="mod">
          <ac:chgData name="Douae Ahadji" userId="981d5584dfa725b0" providerId="LiveId" clId="{A2BAF7E8-3892-495B-9245-0CFFD07560B0}" dt="2026-05-12T08:33:06.059" v="9" actId="113"/>
          <ac:spMkLst>
            <pc:docMk/>
            <pc:sldMk cId="0" sldId="258"/>
            <ac:spMk id="8" creationId="{00000000-0000-0000-0000-000000000000}"/>
          </ac:spMkLst>
        </pc:spChg>
        <pc:spChg chg="mod">
          <ac:chgData name="Douae Ahadji" userId="981d5584dfa725b0" providerId="LiveId" clId="{A2BAF7E8-3892-495B-9245-0CFFD07560B0}" dt="2026-05-12T08:38:16.878" v="15" actId="113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Douae Ahadji" userId="981d5584dfa725b0" providerId="LiveId" clId="{A2BAF7E8-3892-495B-9245-0CFFD07560B0}" dt="2026-05-12T08:40:09.114" v="31" actId="255"/>
        <pc:sldMkLst>
          <pc:docMk/>
          <pc:sldMk cId="0" sldId="259"/>
        </pc:sldMkLst>
        <pc:spChg chg="mod">
          <ac:chgData name="Douae Ahadji" userId="981d5584dfa725b0" providerId="LiveId" clId="{A2BAF7E8-3892-495B-9245-0CFFD07560B0}" dt="2026-05-12T08:40:09.114" v="31" actId="255"/>
          <ac:spMkLst>
            <pc:docMk/>
            <pc:sldMk cId="0" sldId="259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Detection Precoce du Stress Economique des Menages au Maroc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7F0E"/>
                </a:solidFill>
              </a:rPr>
              <a:t>BESI — Behavioral Economic Stress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Douae Ahadji &amp; Adama Basse  |  Séries Temporelles — ENSAM Meknes  | 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ETAT D'AVANCEMENT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686800" cy="566928"/>
          </a:xfrm>
          <a:prstGeom prst="rect">
            <a:avLst/>
          </a:prstGeom>
          <a:solidFill>
            <a:srgbClr val="F0FA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06840" y="1051560"/>
            <a:ext cx="2834640" cy="566928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24712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  Donnees &amp;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124712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IPC HCP + Google Trends + BESI composite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1430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 TERMINE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73352"/>
            <a:ext cx="8686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006840" y="1673352"/>
            <a:ext cx="2834640" cy="566928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746504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  Stationnarité + SARIMA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46504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ADF/KPSS, ACF/PACF, grille AIC, walk-forward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76479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 TERMINE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95144"/>
            <a:ext cx="8686800" cy="566928"/>
          </a:xfrm>
          <a:prstGeom prst="rect">
            <a:avLst/>
          </a:prstGeom>
          <a:solidFill>
            <a:srgbClr val="F0FA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06840" y="2295144"/>
            <a:ext cx="2834640" cy="566928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368296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  SARIMAX + BESI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368296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BESI_trends, comparaison v2, sous-periodes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38658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 TERMINE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16936"/>
            <a:ext cx="8686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2916936"/>
            <a:ext cx="2834640" cy="566928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990088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  Analyse statistique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990088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Chow, Granger, Early Warning, Markov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00837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 TERMINE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38728"/>
            <a:ext cx="8686800" cy="566928"/>
          </a:xfrm>
          <a:prstGeom prst="rect">
            <a:avLst/>
          </a:prstGeom>
          <a:solidFill>
            <a:srgbClr val="F0FA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06840" y="3538728"/>
            <a:ext cx="2834640" cy="566928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611880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  Deep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611880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LSTM 4 fenetres × 2 configs + Prophet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6301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 TERMINE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160520"/>
            <a:ext cx="8686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06840" y="4160520"/>
            <a:ext cx="2834640" cy="566928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4233672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  NLP Maroc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233672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Scraping presse + scoring Darija/Arabe/Francais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25196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 TERMINE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782312"/>
            <a:ext cx="8686800" cy="566928"/>
          </a:xfrm>
          <a:prstGeom prst="rect">
            <a:avLst/>
          </a:prstGeom>
          <a:solidFill>
            <a:srgbClr val="F0FA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06840" y="4782312"/>
            <a:ext cx="2834640" cy="566928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4855464"/>
            <a:ext cx="29260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E4A"/>
                </a:solidFill>
              </a:rPr>
              <a:t>  Notebooks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855464"/>
            <a:ext cx="56692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4 notebooks avec outputs (exploration→résultats)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8737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✓  TERMINE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172200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1F77B4"/>
                </a:solidFill>
              </a:rPr>
              <a:t>Avancement</a:t>
            </a:r>
            <a:endParaRPr sz="1400" b="1" i="0" dirty="0">
              <a:solidFill>
                <a:srgbClr val="1F77B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0E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Contexte &amp; Hypothese de Recherche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36576" cy="55778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57784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22222"/>
                </a:solidFill>
              </a:rPr>
              <a:t>PROBLEMATIQUE</a:t>
            </a:r>
            <a:r>
              <a:rPr sz="1300" b="0" i="0" dirty="0">
                <a:solidFill>
                  <a:srgbClr val="222222"/>
                </a:solidFill>
              </a:rPr>
              <a:t>
Les </a:t>
            </a:r>
            <a:r>
              <a:rPr sz="1300" b="0" i="0" dirty="0" err="1">
                <a:solidFill>
                  <a:srgbClr val="222222"/>
                </a:solidFill>
              </a:rPr>
              <a:t>statistiques</a:t>
            </a:r>
            <a:r>
              <a:rPr sz="1300" b="0" i="0" dirty="0">
                <a:solidFill>
                  <a:srgbClr val="222222"/>
                </a:solidFill>
              </a:rPr>
              <a:t> </a:t>
            </a:r>
            <a:r>
              <a:rPr sz="1300" b="0" i="0" dirty="0" err="1">
                <a:solidFill>
                  <a:srgbClr val="222222"/>
                </a:solidFill>
              </a:rPr>
              <a:t>officielles</a:t>
            </a:r>
            <a:r>
              <a:rPr sz="1300" b="0" i="0" dirty="0">
                <a:solidFill>
                  <a:srgbClr val="222222"/>
                </a:solidFill>
              </a:rPr>
              <a:t> de </a:t>
            </a:r>
            <a:r>
              <a:rPr sz="1300" b="0" i="0" dirty="0" err="1">
                <a:solidFill>
                  <a:srgbClr val="222222"/>
                </a:solidFill>
              </a:rPr>
              <a:t>l'IPC</a:t>
            </a:r>
            <a:r>
              <a:rPr sz="1300" b="0" i="0" dirty="0">
                <a:solidFill>
                  <a:srgbClr val="222222"/>
                </a:solidFill>
              </a:rPr>
              <a:t>
(HCP) </a:t>
            </a:r>
            <a:r>
              <a:rPr sz="1300" b="0" i="0" dirty="0" err="1">
                <a:solidFill>
                  <a:srgbClr val="222222"/>
                </a:solidFill>
              </a:rPr>
              <a:t>sont</a:t>
            </a:r>
            <a:r>
              <a:rPr sz="1300" b="0" i="0" dirty="0">
                <a:solidFill>
                  <a:srgbClr val="222222"/>
                </a:solidFill>
              </a:rPr>
              <a:t> </a:t>
            </a:r>
            <a:r>
              <a:rPr sz="1300" b="0" i="0" dirty="0" err="1">
                <a:solidFill>
                  <a:srgbClr val="222222"/>
                </a:solidFill>
              </a:rPr>
              <a:t>publiees</a:t>
            </a:r>
            <a:r>
              <a:rPr sz="1300" b="0" i="0" dirty="0">
                <a:solidFill>
                  <a:srgbClr val="222222"/>
                </a:solidFill>
              </a:rPr>
              <a:t> avec 1 </a:t>
            </a:r>
            <a:r>
              <a:rPr sz="1300" b="0" i="0" dirty="0" err="1">
                <a:solidFill>
                  <a:srgbClr val="222222"/>
                </a:solidFill>
              </a:rPr>
              <a:t>mois</a:t>
            </a:r>
            <a:r>
              <a:rPr sz="1300" b="0" i="0" dirty="0">
                <a:solidFill>
                  <a:srgbClr val="222222"/>
                </a:solidFill>
              </a:rPr>
              <a:t> de
</a:t>
            </a:r>
            <a:r>
              <a:rPr sz="1300" b="0" i="0" dirty="0" err="1">
                <a:solidFill>
                  <a:srgbClr val="222222"/>
                </a:solidFill>
              </a:rPr>
              <a:t>delai</a:t>
            </a:r>
            <a:r>
              <a:rPr sz="1300" b="0" i="0" dirty="0">
                <a:solidFill>
                  <a:srgbClr val="222222"/>
                </a:solidFill>
              </a:rPr>
              <a:t> et ne </a:t>
            </a:r>
            <a:r>
              <a:rPr sz="1300" b="0" i="0" dirty="0" err="1">
                <a:solidFill>
                  <a:srgbClr val="222222"/>
                </a:solidFill>
              </a:rPr>
              <a:t>capturent</a:t>
            </a:r>
            <a:r>
              <a:rPr sz="1300" b="0" i="0" dirty="0">
                <a:solidFill>
                  <a:srgbClr val="222222"/>
                </a:solidFill>
              </a:rPr>
              <a:t> pas le </a:t>
            </a:r>
            <a:r>
              <a:rPr sz="1300" b="0" i="0" dirty="0" err="1">
                <a:solidFill>
                  <a:srgbClr val="222222"/>
                </a:solidFill>
              </a:rPr>
              <a:t>ressenti</a:t>
            </a:r>
            <a:r>
              <a:rPr sz="1300" b="0" i="0" dirty="0">
                <a:solidFill>
                  <a:srgbClr val="222222"/>
                </a:solidFill>
              </a:rPr>
              <a:t>
des menages </a:t>
            </a:r>
            <a:r>
              <a:rPr sz="1300" b="0" i="0" dirty="0" err="1">
                <a:solidFill>
                  <a:srgbClr val="222222"/>
                </a:solidFill>
              </a:rPr>
              <a:t>en</a:t>
            </a:r>
            <a:r>
              <a:rPr sz="1300" b="0" i="0" dirty="0">
                <a:solidFill>
                  <a:srgbClr val="222222"/>
                </a:solidFill>
              </a:rPr>
              <a:t> temps reel.
=&gt; </a:t>
            </a:r>
            <a:r>
              <a:rPr sz="1300" b="0" i="0" dirty="0" err="1">
                <a:solidFill>
                  <a:srgbClr val="222222"/>
                </a:solidFill>
              </a:rPr>
              <a:t>Peut</a:t>
            </a:r>
            <a:r>
              <a:rPr sz="1300" b="0" i="0" dirty="0">
                <a:solidFill>
                  <a:srgbClr val="222222"/>
                </a:solidFill>
              </a:rPr>
              <a:t>-on </a:t>
            </a:r>
            <a:r>
              <a:rPr sz="1300" b="0" i="0" dirty="0" err="1">
                <a:solidFill>
                  <a:srgbClr val="222222"/>
                </a:solidFill>
              </a:rPr>
              <a:t>detecter</a:t>
            </a:r>
            <a:r>
              <a:rPr sz="1300" b="0" i="0" dirty="0">
                <a:solidFill>
                  <a:srgbClr val="222222"/>
                </a:solidFill>
              </a:rPr>
              <a:t> le stress
   </a:t>
            </a:r>
            <a:r>
              <a:rPr sz="1300" b="0" i="0" dirty="0" err="1">
                <a:solidFill>
                  <a:srgbClr val="222222"/>
                </a:solidFill>
              </a:rPr>
              <a:t>economique</a:t>
            </a:r>
            <a:r>
              <a:rPr sz="1300" b="0" i="0" dirty="0">
                <a:solidFill>
                  <a:srgbClr val="222222"/>
                </a:solidFill>
              </a:rPr>
              <a:t> AVANT </a:t>
            </a:r>
            <a:r>
              <a:rPr sz="1300" b="0" i="0" dirty="0" err="1">
                <a:solidFill>
                  <a:srgbClr val="222222"/>
                </a:solidFill>
              </a:rPr>
              <a:t>qu'il</a:t>
            </a:r>
            <a:r>
              <a:rPr sz="1300" b="0" i="0" dirty="0">
                <a:solidFill>
                  <a:srgbClr val="222222"/>
                </a:solidFill>
              </a:rPr>
              <a:t>
   </a:t>
            </a:r>
            <a:r>
              <a:rPr sz="1300" b="0" i="0" dirty="0" err="1">
                <a:solidFill>
                  <a:srgbClr val="222222"/>
                </a:solidFill>
              </a:rPr>
              <a:t>apparaisse</a:t>
            </a:r>
            <a:r>
              <a:rPr sz="1300" b="0" i="0" dirty="0">
                <a:solidFill>
                  <a:srgbClr val="222222"/>
                </a:solidFill>
              </a:rPr>
              <a:t> dans </a:t>
            </a:r>
            <a:r>
              <a:rPr sz="1300" b="0" i="0" dirty="0" err="1">
                <a:solidFill>
                  <a:srgbClr val="222222"/>
                </a:solidFill>
              </a:rPr>
              <a:t>l'IPC</a:t>
            </a:r>
            <a:r>
              <a:rPr sz="1300" b="0" i="0" dirty="0">
                <a:solidFill>
                  <a:srgbClr val="222222"/>
                </a:solidFill>
              </a:rPr>
              <a:t> ?
</a:t>
            </a:r>
            <a:r>
              <a:rPr sz="1600" b="1" i="0" dirty="0">
                <a:solidFill>
                  <a:srgbClr val="222222"/>
                </a:solidFill>
              </a:rPr>
              <a:t>CONTEXTE</a:t>
            </a:r>
            <a:r>
              <a:rPr sz="1300" b="0" i="0" dirty="0">
                <a:solidFill>
                  <a:srgbClr val="222222"/>
                </a:solidFill>
              </a:rPr>
              <a:t>
Choc </a:t>
            </a:r>
            <a:r>
              <a:rPr sz="1300" b="0" i="0" dirty="0" err="1">
                <a:solidFill>
                  <a:srgbClr val="222222"/>
                </a:solidFill>
              </a:rPr>
              <a:t>inflationniste</a:t>
            </a:r>
            <a:r>
              <a:rPr sz="1300" b="0" i="0" dirty="0">
                <a:solidFill>
                  <a:srgbClr val="222222"/>
                </a:solidFill>
              </a:rPr>
              <a:t> 2022 :
  Inflation YoY max = 6.57% (mars 2022)
  Record </a:t>
            </a:r>
            <a:r>
              <a:rPr sz="1300" b="0" i="0" dirty="0" err="1">
                <a:solidFill>
                  <a:srgbClr val="222222"/>
                </a:solidFill>
              </a:rPr>
              <a:t>depuis</a:t>
            </a:r>
            <a:r>
              <a:rPr sz="1300" b="0" i="0" dirty="0">
                <a:solidFill>
                  <a:srgbClr val="222222"/>
                </a:solidFill>
              </a:rPr>
              <a:t> 30 </a:t>
            </a:r>
            <a:r>
              <a:rPr sz="1300" b="0" i="0" dirty="0" err="1">
                <a:solidFill>
                  <a:srgbClr val="222222"/>
                </a:solidFill>
              </a:rPr>
              <a:t>ans</a:t>
            </a:r>
            <a:r>
              <a:rPr sz="1300" b="0" i="0" dirty="0">
                <a:solidFill>
                  <a:srgbClr val="222222"/>
                </a:solidFill>
              </a:rPr>
              <a:t> au Maroc
  Guerre Ukraine =&gt; prix </a:t>
            </a:r>
            <a:r>
              <a:rPr sz="1300" b="0" i="0" dirty="0" err="1">
                <a:solidFill>
                  <a:srgbClr val="222222"/>
                </a:solidFill>
              </a:rPr>
              <a:t>energie</a:t>
            </a:r>
            <a:r>
              <a:rPr sz="1300" b="0" i="0" dirty="0">
                <a:solidFill>
                  <a:srgbClr val="222222"/>
                </a:solidFill>
              </a:rPr>
              <a:t> +50%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22222"/>
                </a:solidFill>
              </a:rPr>
              <a:t>HYPOTHESE H1</a:t>
            </a:r>
            <a:r>
              <a:rPr sz="1300" b="0" i="0" dirty="0">
                <a:solidFill>
                  <a:srgbClr val="222222"/>
                </a:solidFill>
              </a:rPr>
              <a:t>
"Les </a:t>
            </a:r>
            <a:r>
              <a:rPr sz="1300" b="0" i="0" dirty="0" err="1">
                <a:solidFill>
                  <a:srgbClr val="222222"/>
                </a:solidFill>
              </a:rPr>
              <a:t>signaux</a:t>
            </a:r>
            <a:r>
              <a:rPr sz="1300" b="0" i="0" dirty="0">
                <a:solidFill>
                  <a:srgbClr val="222222"/>
                </a:solidFill>
              </a:rPr>
              <a:t> </a:t>
            </a:r>
            <a:r>
              <a:rPr sz="1300" b="0" i="0" dirty="0" err="1">
                <a:solidFill>
                  <a:srgbClr val="222222"/>
                </a:solidFill>
              </a:rPr>
              <a:t>comportementaux</a:t>
            </a:r>
            <a:r>
              <a:rPr sz="1300" b="0" i="0" dirty="0">
                <a:solidFill>
                  <a:srgbClr val="222222"/>
                </a:solidFill>
              </a:rPr>
              <a:t>
</a:t>
            </a:r>
            <a:r>
              <a:rPr sz="1300" b="0" i="0" dirty="0" err="1">
                <a:solidFill>
                  <a:srgbClr val="222222"/>
                </a:solidFill>
              </a:rPr>
              <a:t>digitaux</a:t>
            </a:r>
            <a:r>
              <a:rPr sz="1300" b="0" i="0" dirty="0">
                <a:solidFill>
                  <a:srgbClr val="222222"/>
                </a:solidFill>
              </a:rPr>
              <a:t> (Google Trends, Reddit,
YouTube) </a:t>
            </a:r>
            <a:r>
              <a:rPr sz="1300" b="0" i="0" dirty="0" err="1">
                <a:solidFill>
                  <a:srgbClr val="222222"/>
                </a:solidFill>
              </a:rPr>
              <a:t>integres</a:t>
            </a:r>
            <a:r>
              <a:rPr sz="1300" b="0" i="0" dirty="0">
                <a:solidFill>
                  <a:srgbClr val="222222"/>
                </a:solidFill>
              </a:rPr>
              <a:t> dans BESI
</a:t>
            </a:r>
            <a:r>
              <a:rPr sz="1300" b="0" i="0" dirty="0" err="1">
                <a:solidFill>
                  <a:srgbClr val="222222"/>
                </a:solidFill>
              </a:rPr>
              <a:t>permettent</a:t>
            </a:r>
            <a:r>
              <a:rPr sz="1300" b="0" i="0" dirty="0">
                <a:solidFill>
                  <a:srgbClr val="222222"/>
                </a:solidFill>
              </a:rPr>
              <a:t> de </a:t>
            </a:r>
            <a:r>
              <a:rPr sz="1300" b="0" i="0" dirty="0" err="1">
                <a:solidFill>
                  <a:srgbClr val="222222"/>
                </a:solidFill>
              </a:rPr>
              <a:t>detecter</a:t>
            </a:r>
            <a:r>
              <a:rPr sz="1300" b="0" i="0" dirty="0">
                <a:solidFill>
                  <a:srgbClr val="222222"/>
                </a:solidFill>
              </a:rPr>
              <a:t> le stress
</a:t>
            </a:r>
            <a:r>
              <a:rPr sz="1300" b="0" i="0" dirty="0" err="1">
                <a:solidFill>
                  <a:srgbClr val="222222"/>
                </a:solidFill>
              </a:rPr>
              <a:t>economique</a:t>
            </a:r>
            <a:r>
              <a:rPr sz="1300" b="0" i="0" dirty="0">
                <a:solidFill>
                  <a:srgbClr val="222222"/>
                </a:solidFill>
              </a:rPr>
              <a:t> 1 a 2 </a:t>
            </a:r>
            <a:r>
              <a:rPr sz="1300" b="0" i="0" dirty="0" err="1">
                <a:solidFill>
                  <a:srgbClr val="222222"/>
                </a:solidFill>
              </a:rPr>
              <a:t>mois</a:t>
            </a:r>
            <a:r>
              <a:rPr sz="1300" b="0" i="0" dirty="0">
                <a:solidFill>
                  <a:srgbClr val="222222"/>
                </a:solidFill>
              </a:rPr>
              <a:t> avant
</a:t>
            </a:r>
            <a:r>
              <a:rPr sz="1300" b="0" i="0" dirty="0" err="1">
                <a:solidFill>
                  <a:srgbClr val="222222"/>
                </a:solidFill>
              </a:rPr>
              <a:t>l'IPC</a:t>
            </a:r>
            <a:r>
              <a:rPr sz="1300" b="0" i="0" dirty="0">
                <a:solidFill>
                  <a:srgbClr val="222222"/>
                </a:solidFill>
              </a:rPr>
              <a:t> du HCP."
</a:t>
            </a:r>
            <a:r>
              <a:rPr sz="1600" b="1" i="0" dirty="0">
                <a:solidFill>
                  <a:srgbClr val="222222"/>
                </a:solidFill>
              </a:rPr>
              <a:t>CONTRIBUTION ORIGINALE</a:t>
            </a:r>
            <a:r>
              <a:rPr sz="1300" b="0" i="0" dirty="0">
                <a:solidFill>
                  <a:srgbClr val="222222"/>
                </a:solidFill>
              </a:rPr>
              <a:t>
=&gt; BESI : 1er </a:t>
            </a:r>
            <a:r>
              <a:rPr sz="1300" b="0" i="0" dirty="0" err="1">
                <a:solidFill>
                  <a:srgbClr val="222222"/>
                </a:solidFill>
              </a:rPr>
              <a:t>indice</a:t>
            </a:r>
            <a:r>
              <a:rPr sz="1300" b="0" i="0" dirty="0">
                <a:solidFill>
                  <a:srgbClr val="222222"/>
                </a:solidFill>
              </a:rPr>
              <a:t> composite
   marocain base sur </a:t>
            </a:r>
            <a:r>
              <a:rPr sz="1300" b="0" i="0" dirty="0" err="1">
                <a:solidFill>
                  <a:srgbClr val="222222"/>
                </a:solidFill>
              </a:rPr>
              <a:t>signaux</a:t>
            </a:r>
            <a:r>
              <a:rPr sz="1300" b="0" i="0" dirty="0">
                <a:solidFill>
                  <a:srgbClr val="222222"/>
                </a:solidFill>
              </a:rPr>
              <a:t>
   </a:t>
            </a:r>
            <a:r>
              <a:rPr sz="1300" b="0" i="0" dirty="0" err="1">
                <a:solidFill>
                  <a:srgbClr val="222222"/>
                </a:solidFill>
              </a:rPr>
              <a:t>digitaux</a:t>
            </a:r>
            <a:r>
              <a:rPr sz="1300" b="0" i="0" dirty="0">
                <a:solidFill>
                  <a:srgbClr val="222222"/>
                </a:solidFill>
              </a:rPr>
              <a:t> (</a:t>
            </a:r>
            <a:r>
              <a:rPr sz="1300" b="0" i="0" dirty="0" err="1">
                <a:solidFill>
                  <a:srgbClr val="222222"/>
                </a:solidFill>
              </a:rPr>
              <a:t>Darija+Arabe+Fr</a:t>
            </a:r>
            <a:r>
              <a:rPr sz="1300" b="0" i="0" dirty="0">
                <a:solidFill>
                  <a:srgbClr val="222222"/>
                </a:solidFill>
              </a:rPr>
              <a:t>)
=&gt; Pipeline NLP </a:t>
            </a:r>
            <a:r>
              <a:rPr sz="1300" b="0" i="0" dirty="0" err="1">
                <a:solidFill>
                  <a:srgbClr val="222222"/>
                </a:solidFill>
              </a:rPr>
              <a:t>multilingue</a:t>
            </a:r>
            <a:r>
              <a:rPr sz="1300" b="0" i="0" dirty="0">
                <a:solidFill>
                  <a:srgbClr val="222222"/>
                </a:solidFill>
              </a:rPr>
              <a:t>
=&gt; </a:t>
            </a:r>
            <a:r>
              <a:rPr sz="1300" b="0" i="0" dirty="0" err="1">
                <a:solidFill>
                  <a:srgbClr val="222222"/>
                </a:solidFill>
              </a:rPr>
              <a:t>Comparaison</a:t>
            </a:r>
            <a:r>
              <a:rPr sz="1300" b="0" i="0" dirty="0">
                <a:solidFill>
                  <a:srgbClr val="222222"/>
                </a:solidFill>
              </a:rPr>
              <a:t> 7 </a:t>
            </a:r>
            <a:r>
              <a:rPr sz="1300" b="0" i="0" dirty="0" err="1">
                <a:solidFill>
                  <a:srgbClr val="222222"/>
                </a:solidFill>
              </a:rPr>
              <a:t>modeles</a:t>
            </a:r>
            <a:endParaRPr sz="1300" b="0" i="0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0E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Donnees &amp; Indice BESI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22222"/>
                </a:solidFill>
              </a:rPr>
              <a:t>VARIABLE CIBLE : </a:t>
            </a:r>
            <a:endParaRPr lang="fr-MA" b="1" i="0" dirty="0">
              <a:solidFill>
                <a:srgbClr val="222222"/>
              </a:solidFill>
            </a:endParaRPr>
          </a:p>
          <a:p>
            <a:r>
              <a:rPr sz="1400" b="0" i="0" dirty="0">
                <a:solidFill>
                  <a:srgbClr val="222222"/>
                </a:solidFill>
              </a:rPr>
              <a:t>IPC </a:t>
            </a:r>
            <a:r>
              <a:rPr sz="1400" b="0" i="0" dirty="0" err="1">
                <a:solidFill>
                  <a:srgbClr val="222222"/>
                </a:solidFill>
              </a:rPr>
              <a:t>mensuel</a:t>
            </a:r>
            <a:r>
              <a:rPr sz="1400" b="0" i="0" dirty="0">
                <a:solidFill>
                  <a:srgbClr val="222222"/>
                </a:solidFill>
              </a:rPr>
              <a:t> Maroc (HCP)  |  2010-01 a 2024-12  |  180 observations  |  </a:t>
            </a:r>
            <a:r>
              <a:rPr sz="1400" b="0" i="0" dirty="0" err="1">
                <a:solidFill>
                  <a:srgbClr val="222222"/>
                </a:solidFill>
              </a:rPr>
              <a:t>freq</a:t>
            </a:r>
            <a:r>
              <a:rPr sz="1400" b="0" i="0" dirty="0">
                <a:solidFill>
                  <a:srgbClr val="222222"/>
                </a:solidFill>
              </a:rPr>
              <a:t>=MS</a:t>
            </a:r>
            <a:r>
              <a:rPr lang="fr-MA" sz="1400" b="0" i="0" dirty="0">
                <a:solidFill>
                  <a:srgbClr val="222222"/>
                </a:solidFill>
              </a:rPr>
              <a:t> (</a:t>
            </a:r>
            <a:r>
              <a:rPr lang="fr-FR" sz="1400" dirty="0"/>
              <a:t>mensuelle)</a:t>
            </a:r>
            <a:r>
              <a:rPr sz="1400" b="0" i="0" dirty="0">
                <a:solidFill>
                  <a:srgbClr val="222222"/>
                </a:solidFill>
              </a:rPr>
              <a:t>
</a:t>
            </a:r>
            <a:r>
              <a:rPr b="1" i="0" dirty="0">
                <a:solidFill>
                  <a:srgbClr val="222222"/>
                </a:solidFill>
              </a:rPr>
              <a:t>SIGNAUX COMPORTEMENTAUX COLLECTES :</a:t>
            </a:r>
            <a:r>
              <a:rPr sz="1400" b="0" i="0" dirty="0">
                <a:solidFill>
                  <a:srgbClr val="222222"/>
                </a:solidFill>
              </a:rPr>
              <a:t>
  • Google Trends (</a:t>
            </a:r>
            <a:r>
              <a:rPr sz="1400" b="0" i="0" dirty="0" err="1">
                <a:solidFill>
                  <a:srgbClr val="222222"/>
                </a:solidFill>
              </a:rPr>
              <a:t>pytrends</a:t>
            </a:r>
            <a:r>
              <a:rPr sz="1400" b="0" i="0" dirty="0">
                <a:solidFill>
                  <a:srgbClr val="222222"/>
                </a:solidFill>
              </a:rPr>
              <a:t>, geo=MA) : 7 mots-</a:t>
            </a:r>
            <a:r>
              <a:rPr sz="1400" b="0" i="0" dirty="0" err="1">
                <a:solidFill>
                  <a:srgbClr val="222222"/>
                </a:solidFill>
              </a:rPr>
              <a:t>cles</a:t>
            </a:r>
            <a:r>
              <a:rPr sz="1400" b="0" i="0" dirty="0">
                <a:solidFill>
                  <a:srgbClr val="222222"/>
                </a:solidFill>
              </a:rPr>
              <a:t> — "inflation </a:t>
            </a:r>
            <a:r>
              <a:rPr sz="1400" b="0" i="0" dirty="0" err="1">
                <a:solidFill>
                  <a:srgbClr val="222222"/>
                </a:solidFill>
              </a:rPr>
              <a:t>maroc</a:t>
            </a:r>
            <a:r>
              <a:rPr sz="1400" b="0" i="0" dirty="0">
                <a:solidFill>
                  <a:srgbClr val="222222"/>
                </a:solidFill>
              </a:rPr>
              <a:t>", "prix </a:t>
            </a:r>
            <a:r>
              <a:rPr sz="1400" b="0" i="0" dirty="0" err="1">
                <a:solidFill>
                  <a:srgbClr val="222222"/>
                </a:solidFill>
              </a:rPr>
              <a:t>huile</a:t>
            </a:r>
            <a:r>
              <a:rPr sz="1400" b="0" i="0" dirty="0">
                <a:solidFill>
                  <a:srgbClr val="222222"/>
                </a:solidFill>
              </a:rPr>
              <a:t>",
    "</a:t>
            </a:r>
            <a:r>
              <a:rPr sz="1400" b="0" i="0" dirty="0" err="1">
                <a:solidFill>
                  <a:srgbClr val="222222"/>
                </a:solidFill>
              </a:rPr>
              <a:t>hausse</a:t>
            </a:r>
            <a:r>
              <a:rPr sz="1400" b="0" i="0" dirty="0">
                <a:solidFill>
                  <a:srgbClr val="222222"/>
                </a:solidFill>
              </a:rPr>
              <a:t> prix", "credit </a:t>
            </a:r>
            <a:r>
              <a:rPr sz="1400" b="0" i="0" dirty="0" err="1">
                <a:solidFill>
                  <a:srgbClr val="222222"/>
                </a:solidFill>
              </a:rPr>
              <a:t>consommation</a:t>
            </a:r>
            <a:r>
              <a:rPr sz="1400" b="0" i="0" dirty="0">
                <a:solidFill>
                  <a:srgbClr val="222222"/>
                </a:solidFill>
              </a:rPr>
              <a:t>", "</a:t>
            </a:r>
            <a:r>
              <a:rPr sz="1400" b="0" i="0" dirty="0" err="1">
                <a:solidFill>
                  <a:srgbClr val="222222"/>
                </a:solidFill>
              </a:rPr>
              <a:t>chomage</a:t>
            </a:r>
            <a:r>
              <a:rPr sz="1400" b="0" i="0" dirty="0">
                <a:solidFill>
                  <a:srgbClr val="222222"/>
                </a:solidFill>
              </a:rPr>
              <a:t> </a:t>
            </a:r>
            <a:r>
              <a:rPr sz="1400" b="0" i="0" dirty="0" err="1">
                <a:solidFill>
                  <a:srgbClr val="222222"/>
                </a:solidFill>
              </a:rPr>
              <a:t>maroc</a:t>
            </a:r>
            <a:r>
              <a:rPr sz="1400" b="0" i="0" dirty="0">
                <a:solidFill>
                  <a:srgbClr val="222222"/>
                </a:solidFill>
              </a:rPr>
              <a:t>", "prix </a:t>
            </a:r>
            <a:r>
              <a:rPr sz="1400" b="0" i="0" dirty="0" err="1">
                <a:solidFill>
                  <a:srgbClr val="222222"/>
                </a:solidFill>
              </a:rPr>
              <a:t>alimentaires</a:t>
            </a:r>
            <a:r>
              <a:rPr sz="1400" b="0" i="0" dirty="0">
                <a:solidFill>
                  <a:srgbClr val="222222"/>
                </a:solidFill>
              </a:rPr>
              <a:t>", "</a:t>
            </a:r>
            <a:r>
              <a:rPr sz="1400" b="0" i="0" dirty="0" err="1">
                <a:solidFill>
                  <a:srgbClr val="222222"/>
                </a:solidFill>
              </a:rPr>
              <a:t>pouvoir</a:t>
            </a:r>
            <a:r>
              <a:rPr sz="1400" b="0" i="0" dirty="0">
                <a:solidFill>
                  <a:srgbClr val="222222"/>
                </a:solidFill>
              </a:rPr>
              <a:t> </a:t>
            </a:r>
            <a:r>
              <a:rPr sz="1400" b="0" i="0" dirty="0" err="1">
                <a:solidFill>
                  <a:srgbClr val="222222"/>
                </a:solidFill>
              </a:rPr>
              <a:t>achat</a:t>
            </a:r>
            <a:r>
              <a:rPr sz="1400" b="0" i="0" dirty="0">
                <a:solidFill>
                  <a:srgbClr val="222222"/>
                </a:solidFill>
              </a:rPr>
              <a:t>"
  • Reddit r/Morocco (</a:t>
            </a:r>
            <a:r>
              <a:rPr sz="1400" b="0" i="0" dirty="0" err="1">
                <a:solidFill>
                  <a:srgbClr val="222222"/>
                </a:solidFill>
              </a:rPr>
              <a:t>praw</a:t>
            </a:r>
            <a:r>
              <a:rPr sz="1400" b="0" i="0" dirty="0">
                <a:solidFill>
                  <a:srgbClr val="222222"/>
                </a:solidFill>
              </a:rPr>
              <a:t>)     : keywords inflation / prix / </a:t>
            </a:r>
            <a:r>
              <a:rPr sz="1400" b="0" i="0" dirty="0" err="1">
                <a:solidFill>
                  <a:srgbClr val="222222"/>
                </a:solidFill>
              </a:rPr>
              <a:t>cherte</a:t>
            </a:r>
            <a:r>
              <a:rPr sz="1400" b="0" i="0" dirty="0">
                <a:solidFill>
                  <a:srgbClr val="222222"/>
                </a:solidFill>
              </a:rPr>
              <a:t> / </a:t>
            </a:r>
            <a:r>
              <a:rPr sz="1400" b="0" i="0" dirty="0" err="1">
                <a:solidFill>
                  <a:srgbClr val="222222"/>
                </a:solidFill>
              </a:rPr>
              <a:t>economie</a:t>
            </a:r>
            <a:r>
              <a:rPr sz="1400" b="0" i="0" dirty="0">
                <a:solidFill>
                  <a:srgbClr val="222222"/>
                </a:solidFill>
              </a:rPr>
              <a:t>
  • YouTube Data API v3         : 4 </a:t>
            </a:r>
            <a:r>
              <a:rPr sz="1400" b="0" i="0" dirty="0" err="1">
                <a:solidFill>
                  <a:srgbClr val="222222"/>
                </a:solidFill>
              </a:rPr>
              <a:t>chaines</a:t>
            </a:r>
            <a:r>
              <a:rPr sz="1400" b="0" i="0" dirty="0">
                <a:solidFill>
                  <a:srgbClr val="222222"/>
                </a:solidFill>
              </a:rPr>
              <a:t> </a:t>
            </a:r>
            <a:r>
              <a:rPr sz="1400" b="0" i="0" dirty="0" err="1">
                <a:solidFill>
                  <a:srgbClr val="222222"/>
                </a:solidFill>
              </a:rPr>
              <a:t>marocaines</a:t>
            </a:r>
            <a:r>
              <a:rPr sz="1400" b="0" i="0" dirty="0">
                <a:solidFill>
                  <a:srgbClr val="222222"/>
                </a:solidFill>
              </a:rPr>
              <a:t> (2M, Medi1TV, </a:t>
            </a:r>
            <a:r>
              <a:rPr sz="1400" b="0" i="0" dirty="0" err="1">
                <a:solidFill>
                  <a:srgbClr val="222222"/>
                </a:solidFill>
              </a:rPr>
              <a:t>Hespress</a:t>
            </a:r>
            <a:r>
              <a:rPr sz="1400" b="0" i="0" dirty="0">
                <a:solidFill>
                  <a:srgbClr val="222222"/>
                </a:solidFill>
              </a:rPr>
              <a:t> TV, Medias24)
  • Presse </a:t>
            </a:r>
            <a:r>
              <a:rPr sz="1400" b="0" i="0" dirty="0" err="1">
                <a:solidFill>
                  <a:srgbClr val="222222"/>
                </a:solidFill>
              </a:rPr>
              <a:t>marocaine</a:t>
            </a:r>
            <a:r>
              <a:rPr sz="1400" b="0" i="0" dirty="0">
                <a:solidFill>
                  <a:srgbClr val="222222"/>
                </a:solidFill>
              </a:rPr>
              <a:t> (NLP)      : </a:t>
            </a:r>
            <a:r>
              <a:rPr sz="1400" b="0" i="0" dirty="0" err="1">
                <a:solidFill>
                  <a:srgbClr val="222222"/>
                </a:solidFill>
              </a:rPr>
              <a:t>Hespress</a:t>
            </a:r>
            <a:r>
              <a:rPr sz="1400" b="0" i="0" dirty="0">
                <a:solidFill>
                  <a:srgbClr val="222222"/>
                </a:solidFill>
              </a:rPr>
              <a:t>, Le360, Medias24, </a:t>
            </a:r>
            <a:r>
              <a:rPr sz="1400" b="0" i="0" dirty="0" err="1">
                <a:solidFill>
                  <a:srgbClr val="222222"/>
                </a:solidFill>
              </a:rPr>
              <a:t>L'Economiste</a:t>
            </a:r>
            <a:r>
              <a:rPr sz="1400" b="0" i="0" dirty="0">
                <a:solidFill>
                  <a:srgbClr val="222222"/>
                </a:solidFill>
              </a:rPr>
              <a:t>
</a:t>
            </a:r>
            <a:r>
              <a:rPr b="1" i="0" dirty="0">
                <a:solidFill>
                  <a:srgbClr val="222222"/>
                </a:solidFill>
              </a:rPr>
              <a:t>TROIS VERSIONS DE BESI (</a:t>
            </a:r>
            <a:r>
              <a:rPr b="1" i="0" dirty="0" err="1">
                <a:solidFill>
                  <a:srgbClr val="222222"/>
                </a:solidFill>
              </a:rPr>
              <a:t>tous</a:t>
            </a:r>
            <a:r>
              <a:rPr b="1" i="0" dirty="0">
                <a:solidFill>
                  <a:srgbClr val="222222"/>
                </a:solidFill>
              </a:rPr>
              <a:t> </a:t>
            </a:r>
            <a:r>
              <a:rPr b="1" i="0" dirty="0" err="1">
                <a:solidFill>
                  <a:srgbClr val="222222"/>
                </a:solidFill>
              </a:rPr>
              <a:t>signaux</a:t>
            </a:r>
            <a:r>
              <a:rPr b="1" i="0" dirty="0">
                <a:solidFill>
                  <a:srgbClr val="222222"/>
                </a:solidFill>
              </a:rPr>
              <a:t> </a:t>
            </a:r>
            <a:r>
              <a:rPr b="1" i="0" dirty="0" err="1">
                <a:solidFill>
                  <a:srgbClr val="222222"/>
                </a:solidFill>
              </a:rPr>
              <a:t>normalises</a:t>
            </a:r>
            <a:r>
              <a:rPr b="1" i="0" dirty="0">
                <a:solidFill>
                  <a:srgbClr val="222222"/>
                </a:solidFill>
              </a:rPr>
              <a:t> 0-1) :</a:t>
            </a:r>
            <a:r>
              <a:rPr sz="1400" b="0" i="0" dirty="0">
                <a:solidFill>
                  <a:srgbClr val="222222"/>
                </a:solidFill>
              </a:rPr>
              <a:t>
  BESI composite  = 0.40 × Trends + 0.30 × Reddit + 0.20 × YouTube + 0.10 × |</a:t>
            </a:r>
            <a:r>
              <a:rPr sz="1400" b="0" i="0" dirty="0" err="1">
                <a:solidFill>
                  <a:srgbClr val="222222"/>
                </a:solidFill>
              </a:rPr>
              <a:t>dIPC</a:t>
            </a:r>
            <a:r>
              <a:rPr sz="1400" b="0" i="0" dirty="0">
                <a:solidFill>
                  <a:srgbClr val="222222"/>
                </a:solidFill>
              </a:rPr>
              <a:t>|
  </a:t>
            </a:r>
            <a:r>
              <a:rPr sz="1400" b="0" i="0" dirty="0" err="1">
                <a:solidFill>
                  <a:srgbClr val="222222"/>
                </a:solidFill>
              </a:rPr>
              <a:t>BESI_trends</a:t>
            </a:r>
            <a:r>
              <a:rPr sz="1400" b="0" i="0" dirty="0">
                <a:solidFill>
                  <a:srgbClr val="222222"/>
                </a:solidFill>
              </a:rPr>
              <a:t>     = 0.70 × Trends + 0.30 × |</a:t>
            </a:r>
            <a:r>
              <a:rPr sz="1400" b="0" i="0" dirty="0" err="1">
                <a:solidFill>
                  <a:srgbClr val="222222"/>
                </a:solidFill>
              </a:rPr>
              <a:t>dIPC</a:t>
            </a:r>
            <a:r>
              <a:rPr sz="1400" b="0" i="0" dirty="0">
                <a:solidFill>
                  <a:srgbClr val="222222"/>
                </a:solidFill>
              </a:rPr>
              <a:t>|            &lt;- VERSION ROBUSTE (</a:t>
            </a:r>
            <a:r>
              <a:rPr sz="1400" b="0" i="0" dirty="0" err="1">
                <a:solidFill>
                  <a:srgbClr val="222222"/>
                </a:solidFill>
              </a:rPr>
              <a:t>donnees</a:t>
            </a:r>
            <a:r>
              <a:rPr sz="1400" b="0" i="0" dirty="0">
                <a:solidFill>
                  <a:srgbClr val="222222"/>
                </a:solidFill>
              </a:rPr>
              <a:t> </a:t>
            </a:r>
            <a:r>
              <a:rPr sz="1400" b="0" i="0" dirty="0" err="1">
                <a:solidFill>
                  <a:srgbClr val="222222"/>
                </a:solidFill>
              </a:rPr>
              <a:t>reelles</a:t>
            </a:r>
            <a:r>
              <a:rPr sz="1400" b="0" i="0" dirty="0">
                <a:solidFill>
                  <a:srgbClr val="222222"/>
                </a:solidFill>
              </a:rPr>
              <a:t> </a:t>
            </a:r>
            <a:r>
              <a:rPr sz="1400" b="0" i="0" dirty="0" err="1">
                <a:solidFill>
                  <a:srgbClr val="222222"/>
                </a:solidFill>
              </a:rPr>
              <a:t>uniquement</a:t>
            </a:r>
            <a:r>
              <a:rPr sz="1400" b="0" i="0" dirty="0">
                <a:solidFill>
                  <a:srgbClr val="222222"/>
                </a:solidFill>
              </a:rPr>
              <a:t>)
  </a:t>
            </a:r>
            <a:r>
              <a:rPr sz="1400" b="0" i="0" dirty="0" err="1">
                <a:solidFill>
                  <a:srgbClr val="222222"/>
                </a:solidFill>
              </a:rPr>
              <a:t>BESI_enrichi</a:t>
            </a:r>
            <a:r>
              <a:rPr sz="1400" b="0" i="0" dirty="0">
                <a:solidFill>
                  <a:srgbClr val="222222"/>
                </a:solidFill>
              </a:rPr>
              <a:t>    = 0.35 × Trends + 0.25 × </a:t>
            </a:r>
            <a:r>
              <a:rPr sz="1400" b="0" i="0" dirty="0" err="1">
                <a:solidFill>
                  <a:srgbClr val="222222"/>
                </a:solidFill>
              </a:rPr>
              <a:t>NLP_Maroc</a:t>
            </a:r>
            <a:r>
              <a:rPr sz="1400" b="0" i="0" dirty="0">
                <a:solidFill>
                  <a:srgbClr val="222222"/>
                </a:solidFill>
              </a:rPr>
              <a:t> + 0.20 × YouTube + 0.10 × Reddit + 0.10 × |</a:t>
            </a:r>
            <a:r>
              <a:rPr sz="1400" b="0" i="0" dirty="0" err="1">
                <a:solidFill>
                  <a:srgbClr val="222222"/>
                </a:solidFill>
              </a:rPr>
              <a:t>dIPC</a:t>
            </a:r>
            <a:r>
              <a:rPr sz="1400" b="0" i="0" dirty="0">
                <a:solidFill>
                  <a:srgbClr val="222222"/>
                </a:solidFill>
              </a:rPr>
              <a:t>|
</a:t>
            </a:r>
            <a:r>
              <a:rPr sz="1400" b="0" i="0" dirty="0" err="1">
                <a:solidFill>
                  <a:srgbClr val="222222"/>
                </a:solidFill>
              </a:rPr>
              <a:t>BESI_trends</a:t>
            </a:r>
            <a:r>
              <a:rPr sz="1400" b="0" i="0" dirty="0">
                <a:solidFill>
                  <a:srgbClr val="222222"/>
                </a:solidFill>
              </a:rPr>
              <a:t> : </a:t>
            </a:r>
            <a:r>
              <a:rPr sz="1400" b="0" i="0" dirty="0" err="1">
                <a:solidFill>
                  <a:srgbClr val="222222"/>
                </a:solidFill>
              </a:rPr>
              <a:t>moyenne</a:t>
            </a:r>
            <a:r>
              <a:rPr sz="1400" b="0" i="0" dirty="0">
                <a:solidFill>
                  <a:srgbClr val="222222"/>
                </a:solidFill>
              </a:rPr>
              <a:t> = 0.376  |  </a:t>
            </a:r>
            <a:r>
              <a:rPr sz="1400" b="0" i="0" dirty="0" err="1">
                <a:solidFill>
                  <a:srgbClr val="222222"/>
                </a:solidFill>
              </a:rPr>
              <a:t>ecart</a:t>
            </a:r>
            <a:r>
              <a:rPr sz="1400" b="0" i="0" dirty="0">
                <a:solidFill>
                  <a:srgbClr val="222222"/>
                </a:solidFill>
              </a:rPr>
              <a:t>-type = 0.228  |  Pic : choc </a:t>
            </a:r>
            <a:r>
              <a:rPr sz="1400" b="0" i="0" dirty="0" err="1">
                <a:solidFill>
                  <a:srgbClr val="222222"/>
                </a:solidFill>
              </a:rPr>
              <a:t>inflationniste</a:t>
            </a:r>
            <a:r>
              <a:rPr sz="1400" b="0" i="0" dirty="0">
                <a:solidFill>
                  <a:srgbClr val="222222"/>
                </a:solidFill>
              </a:rPr>
              <a:t> 2022 (</a:t>
            </a:r>
            <a:r>
              <a:rPr sz="1400" b="0" i="0" dirty="0" err="1">
                <a:solidFill>
                  <a:srgbClr val="222222"/>
                </a:solidFill>
              </a:rPr>
              <a:t>confirme</a:t>
            </a:r>
            <a:r>
              <a:rPr sz="1400" b="0" i="0" dirty="0">
                <a:solidFill>
                  <a:srgbClr val="222222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0E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Stationnarite &amp; Identification SARIMA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36576" cy="55778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5778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TESTS ADF + KPSS
IPC niveau    =&gt;  Non stationnaire
  ADF p &gt; 0.05 | KPSS p &lt; 0.05
IPC diff(1)   =&gt;  Stationnaire
  ADF p &lt; 0.05 | KPSS p &gt; 0.05
IPC diff(1).diff(12)  =&gt;  Stationnaire
  =&gt; SARIMA avec d=1, D=1, s=12
DECOMPOSITION STL
  Tendance : +39% sur 14 ans
  Saisonnalite : stable (±0.01)
  Residu : choc visible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IDENTIFICATION SARIMA
ACF  : decroissance lente, pics 12/24
  =&gt; saisonnalite s=12, D=1
PACF : coupure nette au lag 2
  =&gt; AR(2), p=2
ACF residuelle : pic lag 1 seul
  =&gt; MA(1), q=1
MODELE OPTIMAL (grille 6 modeles) :
  SARIMA(2,1,1) x (0,1,1)[12]
  AIC = -502.56  |  BIC = -492.34
  Residus : bruit blanc
  Ljung-Box p &gt; 0.05  =&gt; 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0E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Comparaison des Modeles — Walk-Forward h=1 (Test 2022-2024, n=36 mois)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859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85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70760" y="1143000"/>
            <a:ext cx="1859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70760" y="1143000"/>
            <a:ext cx="185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5760" y="1143000"/>
            <a:ext cx="1859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75760" y="1143000"/>
            <a:ext cx="185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143000"/>
            <a:ext cx="1859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1143000"/>
            <a:ext cx="185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760" y="1143000"/>
            <a:ext cx="1859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85760" y="1143000"/>
            <a:ext cx="185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90760" y="1143000"/>
            <a:ext cx="1859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90760" y="1143000"/>
            <a:ext cx="185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Gain vs SARIMA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600200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1636776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Naif (Random Walk)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70760" y="1600200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9048" y="1636776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0.00409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5760" y="1600200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94048" y="1636776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0.00339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600200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99048" y="1636776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0.28%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5760" y="1600200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04048" y="1636776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90760" y="1600200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09048" y="1636776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-50.3%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075688"/>
            <a:ext cx="1859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2112264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★ SARIMA(2,1,1)x(0,1,1)[12]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70760" y="2075688"/>
            <a:ext cx="1859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89048" y="2112264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0.00272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75760" y="2075688"/>
            <a:ext cx="1859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94048" y="2112264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0.00232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075688"/>
            <a:ext cx="1859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99048" y="2112264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0.19%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5760" y="2075688"/>
            <a:ext cx="1859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04048" y="2112264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-502.56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90760" y="2075688"/>
            <a:ext cx="1859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09048" y="2112264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551176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4048" y="2587752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SARIMAX + Trends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70760" y="2551176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289048" y="2587752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0.00327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75760" y="2551176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94048" y="2587752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0.00253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2551176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99048" y="2587752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0.21%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85760" y="2551176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04048" y="2587752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-515.48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90760" y="2551176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909048" y="2587752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-20.3%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026664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4048" y="3063240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SARIMAX + BESI_trends ★★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70760" y="3026664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89048" y="3063240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0.00304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75760" y="3026664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94048" y="3063240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0.00241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3026664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99048" y="3063240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0.20%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85760" y="3026664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04048" y="3063240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-545.88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90760" y="3026664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909048" y="3063240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-11.9%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502152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84048" y="3538728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LSTM (window=12)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70760" y="3502152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289048" y="3538728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0.01885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75760" y="3502152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194048" y="3538728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0.01647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0760" y="3502152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099048" y="3538728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1.37%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85760" y="3502152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004048" y="3538728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90760" y="3502152"/>
            <a:ext cx="1859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909048" y="3538728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-593%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3977639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84048" y="4014215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Prophet (multiplicatif)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70760" y="3977639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289048" y="4014215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0.06082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75760" y="3977639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194048" y="4014215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0.05950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80760" y="3977639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099048" y="4014215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4.88%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985760" y="3977639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004048" y="4014215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90760" y="3977639"/>
            <a:ext cx="1859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909048" y="4014215"/>
            <a:ext cx="1813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-2136%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63093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77B4"/>
                </a:solidFill>
              </a:rPr>
              <a:t>★ Meilleur RMSE   |   ★★ Meilleur AIC : BESI_trends apporte une information statistique reelle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0E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Performances par Sous-Periode (RMSE Walk-Forward)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8117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28117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3260" y="1143000"/>
            <a:ext cx="28117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23260" y="1143000"/>
            <a:ext cx="28117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Choc 2022 (n=12)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28117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143000"/>
            <a:ext cx="28117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Post-Choc 2023-24 (n=24)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38260" y="1143000"/>
            <a:ext cx="28117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38260" y="1143000"/>
            <a:ext cx="28117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Test Complet (n=36)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00200"/>
            <a:ext cx="28117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1636776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Naif (Random Walk)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3260" y="1600200"/>
            <a:ext cx="28117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41548" y="1636776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0.00597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00200"/>
            <a:ext cx="28117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9048" y="1636776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0.00269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8260" y="1600200"/>
            <a:ext cx="28117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56548" y="1636776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0.00409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075688"/>
            <a:ext cx="28117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2112264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SARIMA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23260" y="2075688"/>
            <a:ext cx="28117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41548" y="2112264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0.00197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75688"/>
            <a:ext cx="28117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99048" y="2112264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0.00303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8260" y="2075688"/>
            <a:ext cx="28117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56548" y="2112264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0.00272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551176"/>
            <a:ext cx="28117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2587752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SARIMAX_T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23260" y="2551176"/>
            <a:ext cx="28117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41548" y="2587752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0.00380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551176"/>
            <a:ext cx="28117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99048" y="2587752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0.00297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38260" y="2551176"/>
            <a:ext cx="28117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56548" y="2587752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0.00327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026664"/>
            <a:ext cx="28117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4048" y="3063240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SARIMAX_BT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23260" y="3026664"/>
            <a:ext cx="28117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41548" y="3063240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0.00362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026664"/>
            <a:ext cx="28117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99048" y="3063240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0.00271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38260" y="3026664"/>
            <a:ext cx="28117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56548" y="3063240"/>
            <a:ext cx="27660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0.00304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5212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E4A"/>
                </a:solidFill>
              </a:rPr>
              <a:t>Cle : SARIMA domine pendant le choc 2022  |  SARIMAX_BT legerement meilleur post-2022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6235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Interpretation : La variable exogene BESI perturbe la prevision en periode de rupture (choc imprévisible).
Une fois le regime stabilise post-2022, BESI apporte une information marginale utile (+0.2% gain RMSE).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0E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Rupture Structurelle 2022 &amp; Dynamique Markov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36576" cy="55778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5778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TEST DE CHOW
Breakpoint : 2022-01-01
Resultat   : RUPTURE CONFIRMEE
             p &lt; 0.05
Coefficients pre/post 2022 :
  Constante : +10%
  Tendance  : +60%
  Coeff BESI: +67%
=&gt; BESI joue un role plus fort
   en periode de crise
TEST CUSUM
  Depassement bandes mi-2022
  =&gt; Changement de regime permanent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MATRICE DE TRANSITION MARKOV
               Normal  Warning  H.Stress
Normal    =&gt;   82.2%   17.8%     0.0%
Warning   =&gt;   19.3%   74.2%     6.5%
H.Stress  =&gt;    2.3%    6.8%    90.9%
CLE : P(High Stress | High Stress)
                        = 90.9%
=&gt; Une fois en crise, le stress
   est PERSISTANT (non transitoire)
=&gt; Le choc 2022 = changement de
   regime durable, non episode
   temporaire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0E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Causalite de Granger &amp; Early Warning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36576" cy="55778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5778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CAUSALITE DE GRANGER
7 / 7 features significatives (p&lt;0.05) :
  trends_composite   =&gt; p &lt; 0.05
  reddit_composite   =&gt; p &lt; 0.05
  youtube_composite  =&gt; p &lt; 0.05
  besi               =&gt; p &lt; 0.05
  ipc_change         =&gt; p &lt; 0.05
  ipc_mom            =&gt; p &lt; 0.05
  ipc_yoy            =&gt; p &lt; 0.05
=&gt; BESI Granger-cause l'IPC :
   information predictive reelle,
   non spurieuse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EARLY WARNING — RESULTAT
Evenement detecte :
  Onset   : 2021-05-01
  Lead time : 12 mois
  avant pic inflation mars 2022
  Detection : CONFIRMEE (TRUE)
Performance systeme d'alerte :
  Rappel    = 100%
  (0 faux negatif, 0 crise ratee)
  F1-Score  = ~0.82
=&gt; BESI a sonne l'alerte 12 mois
   avant le pic d'inflation record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0E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Deep Learning — LSTM : Comparaison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240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143000"/>
            <a:ext cx="2240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11430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143000"/>
            <a:ext cx="2240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1430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143000"/>
            <a:ext cx="2240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11430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1143000"/>
            <a:ext cx="224028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11430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Epochs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00200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16367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LSTM IPC seul (window=12) —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1600200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70048" y="16367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0.01885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600200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56048" y="16367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0.01647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600200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42048" y="16367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1.37%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00200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28048" y="16367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075688"/>
            <a:ext cx="2240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21122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LSTM + BESI (window=12)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2075688"/>
            <a:ext cx="2240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70048" y="21122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0.06334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075688"/>
            <a:ext cx="2240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56048" y="21122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0.06219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2075688"/>
            <a:ext cx="2240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42048" y="21122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5.10%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2075688"/>
            <a:ext cx="2240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28048" y="21122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551176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25877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LSTM window=6  (sans exog)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2551176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70048" y="25877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0.08842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2551176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56048" y="25877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0.08751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2551176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42048" y="25877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7.18%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760" y="2551176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28048" y="25877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026664"/>
            <a:ext cx="2240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4048" y="3063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LSTM window=12 (sans exog)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3026664"/>
            <a:ext cx="2240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70048" y="3063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0.05467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3026664"/>
            <a:ext cx="2240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56048" y="3063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0.05438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3026664"/>
            <a:ext cx="2240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42048" y="3063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4.47%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3026664"/>
            <a:ext cx="2240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28048" y="306324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502152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84048" y="35387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LSTM window=18 (sans exog)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0" y="3502152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70048" y="35387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0.05743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3502152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56048" y="35387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0.05710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760" y="3502152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42048" y="35387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4.70%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9760" y="3502152"/>
            <a:ext cx="2240280" cy="438912"/>
          </a:xfrm>
          <a:prstGeom prst="rect">
            <a:avLst/>
          </a:prstGeom>
          <a:solidFill>
            <a:srgbClr val="E8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8048" y="35387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11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977639"/>
            <a:ext cx="2240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84048" y="401421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LSTM window=24 (sans exog) — best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51760" y="3977639"/>
            <a:ext cx="2240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670048" y="401421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0.04627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3977639"/>
            <a:ext cx="2240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56048" y="401421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0.04566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23760" y="3977639"/>
            <a:ext cx="2240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242048" y="401421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3.76%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09760" y="3977639"/>
            <a:ext cx="224028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528048" y="401421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</a:rPr>
              <a:t>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5897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2728"/>
                </a:solidFill>
              </a:rPr>
              <a:t>Conclusion : LSTM (window=24) = meilleure config LSTM mais RESTE 17x pire que SARIMA (0.04627 vs 0.00272)
Ajouter BESI au LSTM DEGRADE les performances =&gt; BESI est un signal 12 mois, incompatible avec LSTM court terme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0E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Prophet — Modele Bayesien de Prevision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35040" y="1097280"/>
            <a:ext cx="36576" cy="557784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5778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CONFIGURATION
yearly_seasonality = True
weekly_seasonality = False
daily_seasonality  = False
seasonality_mode   = multiplicative
Train : 2010-01 -&gt; 2021-12
        (144 observations)
Test  : 2022-01 -&gt; 2024-12
        (36 observations)
Installation automatique lors
de l'execution de run_v2.py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5778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RESULTATS PROPHET
  RMSE  =  0.06082
  MAE   =  0.05950
  MAPE  =  4.88%
=&gt; 22x pire que SARIMA
POURQUOI PROPHET ECHOUE ?
Prophet est concu pour :
  - Longues series (annees de jours)
  - Saisonnalite forte et reguliere
  - Sans rupture structurelle majeure
IPC mensuel + rupture 2022
= contre-indication Prophet
=&gt; Resultat scientifiquement valide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0E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NLP Presse Marocaine — Pipeline Multilingue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</a:rPr>
              <a:t>MODULE 1 — Scraping presse : Hespress, Le360, Medias24, L'Economiste (selecteurs CSS multi-fallback)
MODULE 2 — Commentaires YouTube : 4 chaines (2M Maroc, Medi1TV, Hespress TV, Medias24)
MODULE 3 — Scoring NLP :
  score = (0.6 × keyword_score + 0.4 × intensite) × engagement_weight  →  normalise 0-1
DICTIONNAIRE 80+ MOTS-CLES (Darija / Arabe / Francais) :
  Prix eleves  : ghali, ghla, cher | غالي, غلاء, ارتفاع الأسعار
  Manque argent: ma b9ach, flouss, mskine | فلوس, فقر, محتاج
  Frustration  : hshuma, crise | عيب, أزمة
  Produits base: zit, sokkar, carburant | زيت, سكر, وقود
MODULE 4 — Aggregation mensuelle (pondere par nb commentaires + likes + vues)
MODULE 5 — BESI_enrichi mis a jour dans master_dataset.csv
MODULE 6 — Figure dual-axis NLP vs IPC (300 DPI) sauvegardee
BESI_enrichi = 0.35×Trends + 0.25×NLP_Maroc + 0.20×YouTube + 0.10×Reddit + 0.10×|dIPC|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Verdict H1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897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H1 : PARTIELLEMENT REJETEE — Lead time reel = 12 mois (non 1-2 mois)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394960" cy="219456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CE QUI EST REJETE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✗  Lead time 1-2 mois
   =&gt; Lead time reel : 12 mois
✗  SARIMAX+BESI ameliore le RMSE
   =&gt; SARIMA reste meilleur
✗  Relation lineaire stable
   =&gt; Rupture 2022 confirmee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394960" cy="21945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CE QUI EST CONFIRME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BESI precede l'IPC de 12 mois
   (correlation croisee significative)
✓  Granger : 7/7 features p &lt; 0.05
✓  BESI_trends : meilleur AIC -545
   (information statistique reelle)
✓  Early Warning : Rappel=100%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11430000" cy="10058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0233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IMPLICATION PRATIQUE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434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L'horizon de BESI est MACROECONOMIQUE (12 mois), non tactique (1-2 mois).
Utile pour les politiques contracycliques (credit, subventions alimentaires) avec un horizon de 12 mois,
completant les analyses statistiques traditionnelles du HCP.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1206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</a:rPr>
              <a:t>CHIFFRES CLES :   180 obs  |  SARIMA RMSE=0.00272  |  BESI_trends AIC=-545.88  |  Lead=12 mois  |  Rappel=100%  |  F1=0.82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34924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7F0E"/>
                </a:solidFill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577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E4A"/>
                </a:solidFill>
              </a:rPr>
              <a:t>mois d'alerte
precoce avant
le choc 2022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0" y="2011680"/>
            <a:ext cx="6035040" cy="2834640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F0E"/>
                </a:solidFill>
              </a:rPr>
              <a:t>PHRASE DE POSITIONNEMENT — 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"Je reste dans le cadre SARIMA/SARIMAX du cours, mais j'introduis
une dimension comportementale multi-sources pour tester la stabilite
structurelle apres 2022 et quantifier la capacite d'alerte precoce
des signaux digitaux.
Mes resultats montrent que SARIMA(2,1,1)x(0,1,1)[12] reste le meilleur
modele en walk-forward (RMSE=0.00272), mais BESI_trends ameliore
l'AIC de -502 a -546 — confirmant une information statistique reelle.
BESI detecte le stress economique 12 mois d'avance — offrant un signal
macroeconomique robuste pour les politiques contracycliques au Maroc."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031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0E"/>
                </a:solidFill>
              </a:rPr>
              <a:t>RESULTATS EN UN COUP D'OEIL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606040"/>
            <a:ext cx="2606040" cy="74980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0" y="264261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F0E"/>
                </a:solidFill>
              </a:rPr>
              <a:t>0.00272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0175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RMSE SARIMA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2606040"/>
            <a:ext cx="2606040" cy="74980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264261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F0E"/>
                </a:solidFill>
              </a:rPr>
              <a:t>-545.88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0175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AIC SARIMAX_BT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474720"/>
            <a:ext cx="2606040" cy="74980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351129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F0E"/>
                </a:solidFill>
              </a:rPr>
              <a:t>12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8862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Lead time BESI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3474720"/>
            <a:ext cx="2606040" cy="74980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351129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F0E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8862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Rappel Early Warning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343400"/>
            <a:ext cx="2606040" cy="74980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437997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F0E"/>
                </a:solidFill>
              </a:rPr>
              <a:t>0.82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75488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F1-Score alerte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4343400"/>
            <a:ext cx="2606040" cy="74980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0" y="4379976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7F0E"/>
                </a:solidFill>
              </a:rPr>
              <a:t>90.9%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75488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Persistance High Stress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99AA"/>
                </a:solidFill>
              </a:rPr>
              <a:t>Douae Ahadji &amp; Adama Basse  —  ENSAM Meknes  —  Séries Temporelles  —  Mai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2250</Words>
  <Application>Microsoft Office PowerPoint</Application>
  <PresentationFormat>Custom</PresentationFormat>
  <Paragraphs>187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Douae Ahadji</cp:lastModifiedBy>
  <cp:revision>1</cp:revision>
  <dcterms:created xsi:type="dcterms:W3CDTF">2013-01-27T09:14:16Z</dcterms:created>
  <dcterms:modified xsi:type="dcterms:W3CDTF">2026-05-12T08:40:13Z</dcterms:modified>
  <cp:category/>
</cp:coreProperties>
</file>